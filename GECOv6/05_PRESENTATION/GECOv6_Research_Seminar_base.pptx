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3d41d909e3a4554" /><Relationship Type="http://schemas.openxmlformats.org/officeDocument/2006/relationships/extended-properties" Target="/docProps/app.xml" Id="R0d70a97f3f4b4dec" /><Relationship Type="http://schemas.openxmlformats.org/officeDocument/2006/relationships/officeDocument" Target="/ppt/presentation.xml" Id="Re995ebe314794211" /></Relationships>
</file>

<file path=ppt/presentation.xml><?xml version="1.0" encoding="utf-8"?>
<p:presentation xmlns:p="http://schemas.openxmlformats.org/presentationml/2006/main">
  <p:sldMasterIdLst>
    <p:sldMasterId xmlns:r="http://schemas.openxmlformats.org/officeDocument/2006/relationships" id="2147483648" r:id="R45cda44220f74c65"/>
  </p:sldMasterIdLst>
  <p:notesMasterIdLst>
    <p:notesMasterId xmlns:r="http://schemas.openxmlformats.org/officeDocument/2006/relationships" r:id="R28a8c0a7375e4bba"/>
  </p:notesMasterIdLst>
  <p:sldIdLst>
    <p:sldId xmlns:r="http://schemas.openxmlformats.org/officeDocument/2006/relationships" id="256" r:id="Rc7e7c1b5bfe14ea4"/>
    <p:sldId xmlns:r="http://schemas.openxmlformats.org/officeDocument/2006/relationships" id="257" r:id="Rebd44cdece104b8c"/>
    <p:sldId xmlns:r="http://schemas.openxmlformats.org/officeDocument/2006/relationships" id="258" r:id="R1d23299311c843ec"/>
    <p:sldId xmlns:r="http://schemas.openxmlformats.org/officeDocument/2006/relationships" id="259" r:id="Rf8562025247b4c18"/>
    <p:sldId xmlns:r="http://schemas.openxmlformats.org/officeDocument/2006/relationships" id="260" r:id="Ra13ddb24d8fe4a54"/>
    <p:sldId xmlns:r="http://schemas.openxmlformats.org/officeDocument/2006/relationships" id="261" r:id="Ra8885ecccf184c73"/>
    <p:sldId xmlns:r="http://schemas.openxmlformats.org/officeDocument/2006/relationships" id="262" r:id="R93c62d365deb480b"/>
    <p:sldId xmlns:r="http://schemas.openxmlformats.org/officeDocument/2006/relationships" id="263" r:id="Rb3da7914e3784cd3"/>
    <p:sldId xmlns:r="http://schemas.openxmlformats.org/officeDocument/2006/relationships" id="264" r:id="R3e2671e5448c45a4"/>
    <p:sldId xmlns:r="http://schemas.openxmlformats.org/officeDocument/2006/relationships" id="265" r:id="R8bfa8f708920414e"/>
    <p:sldId xmlns:r="http://schemas.openxmlformats.org/officeDocument/2006/relationships" id="266" r:id="Rbf565a3392da4c3a"/>
    <p:sldId xmlns:r="http://schemas.openxmlformats.org/officeDocument/2006/relationships" id="267" r:id="R391bd1b1ab1c4b38"/>
    <p:sldId xmlns:r="http://schemas.openxmlformats.org/officeDocument/2006/relationships" id="268" r:id="R094d2c0930d64662"/>
    <p:sldId xmlns:r="http://schemas.openxmlformats.org/officeDocument/2006/relationships" id="269" r:id="R706c6ee73cc94389"/>
    <p:sldId xmlns:r="http://schemas.openxmlformats.org/officeDocument/2006/relationships" id="270" r:id="Re4f7e92d6da14c7d"/>
    <p:sldId xmlns:r="http://schemas.openxmlformats.org/officeDocument/2006/relationships" id="271" r:id="R2f8fbbd5e0684418"/>
    <p:sldId xmlns:r="http://schemas.openxmlformats.org/officeDocument/2006/relationships" id="272" r:id="R5c7a3ec76e4d4fec"/>
    <p:sldId xmlns:r="http://schemas.openxmlformats.org/officeDocument/2006/relationships" id="273" r:id="Rbb4e5c80e1244947"/>
    <p:sldId xmlns:r="http://schemas.openxmlformats.org/officeDocument/2006/relationships" id="274" r:id="R12d0b6efc902443e"/>
    <p:sldId xmlns:r="http://schemas.openxmlformats.org/officeDocument/2006/relationships" id="275" r:id="R9794975ffe464fb3"/>
    <p:sldId xmlns:r="http://schemas.openxmlformats.org/officeDocument/2006/relationships" id="276" r:id="Rf485191204f94352"/>
    <p:sldId xmlns:r="http://schemas.openxmlformats.org/officeDocument/2006/relationships" id="277" r:id="Rf622325f737e4b38"/>
    <p:sldId xmlns:r="http://schemas.openxmlformats.org/officeDocument/2006/relationships" id="278" r:id="R5194ab6d495e441d"/>
    <p:sldId xmlns:r="http://schemas.openxmlformats.org/officeDocument/2006/relationships" id="279" r:id="Re7d78a15f22245f8"/>
    <p:sldId xmlns:r="http://schemas.openxmlformats.org/officeDocument/2006/relationships" id="280" r:id="R3c98ca0dc4fa4cd1"/>
    <p:sldId xmlns:r="http://schemas.openxmlformats.org/officeDocument/2006/relationships" id="281" r:id="Rc3f1725e701a4ae8"/>
    <p:sldId xmlns:r="http://schemas.openxmlformats.org/officeDocument/2006/relationships" id="282" r:id="Raea29f5e923f4c8d"/>
    <p:sldId xmlns:r="http://schemas.openxmlformats.org/officeDocument/2006/relationships" id="283" r:id="R88acb680612f4a04"/>
    <p:sldId xmlns:r="http://schemas.openxmlformats.org/officeDocument/2006/relationships" id="284" r:id="R0aa6fd40341f49c3"/>
    <p:sldId xmlns:r="http://schemas.openxmlformats.org/officeDocument/2006/relationships" id="285" r:id="R5a1f41587e2b4ab9"/>
    <p:sldId xmlns:r="http://schemas.openxmlformats.org/officeDocument/2006/relationships" id="286" r:id="R2ba2c0a3c6f04860"/>
    <p:sldId xmlns:r="http://schemas.openxmlformats.org/officeDocument/2006/relationships" id="287" r:id="Rc2abff43834b487d"/>
    <p:sldId xmlns:r="http://schemas.openxmlformats.org/officeDocument/2006/relationships" id="288" r:id="Rf6efa75f8e1945e7"/>
    <p:sldId xmlns:r="http://schemas.openxmlformats.org/officeDocument/2006/relationships" id="289" r:id="R7b27662e991546ca"/>
    <p:sldId xmlns:r="http://schemas.openxmlformats.org/officeDocument/2006/relationships" id="290" r:id="R1c5ad4426c72496b"/>
    <p:sldId xmlns:r="http://schemas.openxmlformats.org/officeDocument/2006/relationships" id="291" r:id="R114805f4e48f487b"/>
    <p:sldId xmlns:r="http://schemas.openxmlformats.org/officeDocument/2006/relationships" id="292" r:id="R312a4af88df54df8"/>
    <p:sldId xmlns:r="http://schemas.openxmlformats.org/officeDocument/2006/relationships" id="293" r:id="R26a1dbf816c3464a"/>
    <p:sldId xmlns:r="http://schemas.openxmlformats.org/officeDocument/2006/relationships" id="294" r:id="R67fcd8933bdf48fc"/>
    <p:sldId xmlns:r="http://schemas.openxmlformats.org/officeDocument/2006/relationships" id="295" r:id="R14032b92276741e9"/>
    <p:sldId xmlns:r="http://schemas.openxmlformats.org/officeDocument/2006/relationships" id="296" r:id="R0d3fab30cd4e46cf"/>
    <p:sldId xmlns:r="http://schemas.openxmlformats.org/officeDocument/2006/relationships" id="297" r:id="R3ef28224c3874ddf"/>
    <p:sldId xmlns:r="http://schemas.openxmlformats.org/officeDocument/2006/relationships" id="298" r:id="R11facf304bc44511"/>
    <p:sldId xmlns:r="http://schemas.openxmlformats.org/officeDocument/2006/relationships" id="299" r:id="R79a7147b278c4a79"/>
    <p:sldId xmlns:r="http://schemas.openxmlformats.org/officeDocument/2006/relationships" id="300" r:id="Re830bff617314bbf"/>
    <p:sldId xmlns:r="http://schemas.openxmlformats.org/officeDocument/2006/relationships" id="301" r:id="Rb8fa7699516b4251"/>
    <p:sldId xmlns:r="http://schemas.openxmlformats.org/officeDocument/2006/relationships" id="302" r:id="R62cd76b90461428b"/>
    <p:sldId xmlns:r="http://schemas.openxmlformats.org/officeDocument/2006/relationships" id="303" r:id="R82e018aaf6074d17"/>
    <p:sldId xmlns:r="http://schemas.openxmlformats.org/officeDocument/2006/relationships" id="304" r:id="Rc8c24ec2ef01472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0f176d2fc344f2a" /><Relationship Type="http://schemas.openxmlformats.org/officeDocument/2006/relationships/slideMaster" Target="/ppt/slideMasters/slideMaster1.xml" Id="R45cda44220f74c65" /><Relationship Type="http://schemas.openxmlformats.org/officeDocument/2006/relationships/notesMaster" Target="/ppt/notesMasters/notesMaster1.xml" Id="R28a8c0a7375e4bba" /><Relationship Type="http://schemas.openxmlformats.org/officeDocument/2006/relationships/presProps" Target="/ppt/presProps.xml" Id="R4988d8a46957406e" /><Relationship Type="http://schemas.openxmlformats.org/officeDocument/2006/relationships/tableStyles" Target="/ppt/tableStyles.xml" Id="R414aec7da20a4702" /><Relationship Type="http://schemas.openxmlformats.org/officeDocument/2006/relationships/slide" Target="/ppt/slides/slide1.xml" Id="Rc7e7c1b5bfe14ea4" /><Relationship Type="http://schemas.openxmlformats.org/officeDocument/2006/relationships/slide" Target="/ppt/slides/slide2.xml" Id="Rebd44cdece104b8c" /><Relationship Type="http://schemas.openxmlformats.org/officeDocument/2006/relationships/slide" Target="/ppt/slides/slide3.xml" Id="R1d23299311c843ec" /><Relationship Type="http://schemas.openxmlformats.org/officeDocument/2006/relationships/slide" Target="/ppt/slides/slide4.xml" Id="Rf8562025247b4c18" /><Relationship Type="http://schemas.openxmlformats.org/officeDocument/2006/relationships/slide" Target="/ppt/slides/slide5.xml" Id="Ra13ddb24d8fe4a54" /><Relationship Type="http://schemas.openxmlformats.org/officeDocument/2006/relationships/slide" Target="/ppt/slides/slide6.xml" Id="Ra8885ecccf184c73" /><Relationship Type="http://schemas.openxmlformats.org/officeDocument/2006/relationships/slide" Target="/ppt/slides/slide7.xml" Id="R93c62d365deb480b" /><Relationship Type="http://schemas.openxmlformats.org/officeDocument/2006/relationships/slide" Target="/ppt/slides/slide8.xml" Id="Rb3da7914e3784cd3" /><Relationship Type="http://schemas.openxmlformats.org/officeDocument/2006/relationships/slide" Target="/ppt/slides/slide9.xml" Id="R3e2671e5448c45a4" /><Relationship Type="http://schemas.openxmlformats.org/officeDocument/2006/relationships/slide" Target="/ppt/slides/slide10.xml" Id="R8bfa8f708920414e" /><Relationship Type="http://schemas.openxmlformats.org/officeDocument/2006/relationships/slide" Target="/ppt/slides/slide11.xml" Id="Rbf565a3392da4c3a" /><Relationship Type="http://schemas.openxmlformats.org/officeDocument/2006/relationships/slide" Target="/ppt/slides/slide12.xml" Id="R391bd1b1ab1c4b38" /><Relationship Type="http://schemas.openxmlformats.org/officeDocument/2006/relationships/slide" Target="/ppt/slides/slide13.xml" Id="R094d2c0930d64662" /><Relationship Type="http://schemas.openxmlformats.org/officeDocument/2006/relationships/slide" Target="/ppt/slides/slide14.xml" Id="R706c6ee73cc94389" /><Relationship Type="http://schemas.openxmlformats.org/officeDocument/2006/relationships/slide" Target="/ppt/slides/slide15.xml" Id="Re4f7e92d6da14c7d" /><Relationship Type="http://schemas.openxmlformats.org/officeDocument/2006/relationships/slide" Target="/ppt/slides/slide16.xml" Id="R2f8fbbd5e0684418" /><Relationship Type="http://schemas.openxmlformats.org/officeDocument/2006/relationships/slide" Target="/ppt/slides/slide17.xml" Id="R5c7a3ec76e4d4fec" /><Relationship Type="http://schemas.openxmlformats.org/officeDocument/2006/relationships/slide" Target="/ppt/slides/slide18.xml" Id="Rbb4e5c80e1244947" /><Relationship Type="http://schemas.openxmlformats.org/officeDocument/2006/relationships/slide" Target="/ppt/slides/slide19.xml" Id="R12d0b6efc902443e" /><Relationship Type="http://schemas.openxmlformats.org/officeDocument/2006/relationships/slide" Target="/ppt/slides/slide20.xml" Id="R9794975ffe464fb3" /><Relationship Type="http://schemas.openxmlformats.org/officeDocument/2006/relationships/slide" Target="/ppt/slides/slide21.xml" Id="Rf485191204f94352" /><Relationship Type="http://schemas.openxmlformats.org/officeDocument/2006/relationships/slide" Target="/ppt/slides/slide22.xml" Id="Rf622325f737e4b38" /><Relationship Type="http://schemas.openxmlformats.org/officeDocument/2006/relationships/slide" Target="/ppt/slides/slide23.xml" Id="R5194ab6d495e441d" /><Relationship Type="http://schemas.openxmlformats.org/officeDocument/2006/relationships/slide" Target="/ppt/slides/slide24.xml" Id="Re7d78a15f22245f8" /><Relationship Type="http://schemas.openxmlformats.org/officeDocument/2006/relationships/slide" Target="/ppt/slides/slide25.xml" Id="R3c98ca0dc4fa4cd1" /><Relationship Type="http://schemas.openxmlformats.org/officeDocument/2006/relationships/slide" Target="/ppt/slides/slide26.xml" Id="Rc3f1725e701a4ae8" /><Relationship Type="http://schemas.openxmlformats.org/officeDocument/2006/relationships/slide" Target="/ppt/slides/slide27.xml" Id="Raea29f5e923f4c8d" /><Relationship Type="http://schemas.openxmlformats.org/officeDocument/2006/relationships/slide" Target="/ppt/slides/slide28.xml" Id="R88acb680612f4a04" /><Relationship Type="http://schemas.openxmlformats.org/officeDocument/2006/relationships/slide" Target="/ppt/slides/slide29.xml" Id="R0aa6fd40341f49c3" /><Relationship Type="http://schemas.openxmlformats.org/officeDocument/2006/relationships/slide" Target="/ppt/slides/slide30.xml" Id="R5a1f41587e2b4ab9" /><Relationship Type="http://schemas.openxmlformats.org/officeDocument/2006/relationships/slide" Target="/ppt/slides/slide31.xml" Id="R2ba2c0a3c6f04860" /><Relationship Type="http://schemas.openxmlformats.org/officeDocument/2006/relationships/slide" Target="/ppt/slides/slide32.xml" Id="Rc2abff43834b487d" /><Relationship Type="http://schemas.openxmlformats.org/officeDocument/2006/relationships/slide" Target="/ppt/slides/slide33.xml" Id="Rf6efa75f8e1945e7" /><Relationship Type="http://schemas.openxmlformats.org/officeDocument/2006/relationships/slide" Target="/ppt/slides/slide34.xml" Id="R7b27662e991546ca" /><Relationship Type="http://schemas.openxmlformats.org/officeDocument/2006/relationships/slide" Target="/ppt/slides/slide35.xml" Id="R1c5ad4426c72496b" /><Relationship Type="http://schemas.openxmlformats.org/officeDocument/2006/relationships/slide" Target="/ppt/slides/slide36.xml" Id="R114805f4e48f487b" /><Relationship Type="http://schemas.openxmlformats.org/officeDocument/2006/relationships/slide" Target="/ppt/slides/slide37.xml" Id="R312a4af88df54df8" /><Relationship Type="http://schemas.openxmlformats.org/officeDocument/2006/relationships/slide" Target="/ppt/slides/slide38.xml" Id="R26a1dbf816c3464a" /><Relationship Type="http://schemas.openxmlformats.org/officeDocument/2006/relationships/slide" Target="/ppt/slides/slide39.xml" Id="R67fcd8933bdf48fc" /><Relationship Type="http://schemas.openxmlformats.org/officeDocument/2006/relationships/slide" Target="/ppt/slides/slide40.xml" Id="R14032b92276741e9" /><Relationship Type="http://schemas.openxmlformats.org/officeDocument/2006/relationships/slide" Target="/ppt/slides/slide41.xml" Id="R0d3fab30cd4e46cf" /><Relationship Type="http://schemas.openxmlformats.org/officeDocument/2006/relationships/slide" Target="/ppt/slides/slide42.xml" Id="R3ef28224c3874ddf" /><Relationship Type="http://schemas.openxmlformats.org/officeDocument/2006/relationships/slide" Target="/ppt/slides/slide43.xml" Id="R11facf304bc44511" /><Relationship Type="http://schemas.openxmlformats.org/officeDocument/2006/relationships/slide" Target="/ppt/slides/slide44.xml" Id="R79a7147b278c4a79" /><Relationship Type="http://schemas.openxmlformats.org/officeDocument/2006/relationships/slide" Target="/ppt/slides/slide45.xml" Id="Re830bff617314bbf" /><Relationship Type="http://schemas.openxmlformats.org/officeDocument/2006/relationships/slide" Target="/ppt/slides/slide46.xml" Id="Rb8fa7699516b4251" /><Relationship Type="http://schemas.openxmlformats.org/officeDocument/2006/relationships/slide" Target="/ppt/slides/slide47.xml" Id="R62cd76b90461428b" /><Relationship Type="http://schemas.openxmlformats.org/officeDocument/2006/relationships/slide" Target="/ppt/slides/slide48.xml" Id="R82e018aaf6074d17" /><Relationship Type="http://schemas.openxmlformats.org/officeDocument/2006/relationships/slide" Target="/ppt/slides/slide49.xml" Id="Rc8c24ec2ef01472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98a594e78fe40f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aa37459da134948" /><Relationship Type="http://schemas.openxmlformats.org/officeDocument/2006/relationships/notesMaster" Target="/ppt/notesMasters/notesMaster1.xml" Id="Reaa0c7aa54984e69" /></Relationships>
</file>

<file path=ppt/notesSlides/_rels/notesSlide2.xml.rels>&#65279;<?xml version="1.0" encoding="utf-8"?><Relationships xmlns="http://schemas.openxmlformats.org/package/2006/relationships"><Relationship Type="http://schemas.openxmlformats.org/officeDocument/2006/relationships/slide" Target="/ppt/slides/slide2.xml" Id="Reea8d5a8cef14735" /><Relationship Type="http://schemas.openxmlformats.org/officeDocument/2006/relationships/notesMaster" Target="/ppt/notesMasters/notesMaster1.xml" Id="R4ea6ab2f594c4b77" /></Relationships>
</file>

<file path=ppt/notesSlides/_rels/notesSlide3.xml.rels>&#65279;<?xml version="1.0" encoding="utf-8"?><Relationships xmlns="http://schemas.openxmlformats.org/package/2006/relationships"><Relationship Type="http://schemas.openxmlformats.org/officeDocument/2006/relationships/slide" Target="/ppt/slides/slide3.xml" Id="Ra6ebdeec603040a0" /><Relationship Type="http://schemas.openxmlformats.org/officeDocument/2006/relationships/notesMaster" Target="/ppt/notesMasters/notesMaster1.xml" Id="R627a1d57357c474e" /></Relationships>
</file>

<file path=ppt/notesSlides/_rels/notesSlide4.xml.rels>&#65279;<?xml version="1.0" encoding="utf-8"?><Relationships xmlns="http://schemas.openxmlformats.org/package/2006/relationships"><Relationship Type="http://schemas.openxmlformats.org/officeDocument/2006/relationships/slide" Target="/ppt/slides/slide4.xml" Id="R3522018ade0a4be8" /><Relationship Type="http://schemas.openxmlformats.org/officeDocument/2006/relationships/notesMaster" Target="/ppt/notesMasters/notesMaster1.xml" Id="R134756f040bd4dbd" /></Relationships>
</file>

<file path=ppt/notesSlides/_rels/notesSlide5.xml.rels>&#65279;<?xml version="1.0" encoding="utf-8"?><Relationships xmlns="http://schemas.openxmlformats.org/package/2006/relationships"><Relationship Type="http://schemas.openxmlformats.org/officeDocument/2006/relationships/slide" Target="/ppt/slides/slide5.xml" Id="Rcab806996ffe451d" /><Relationship Type="http://schemas.openxmlformats.org/officeDocument/2006/relationships/notesMaster" Target="/ppt/notesMasters/notesMaster1.xml" Id="R59cbfc2cebac43d6" /></Relationships>
</file>

<file path=ppt/notesSlides/_rels/notesSlide6.xml.rels>&#65279;<?xml version="1.0" encoding="utf-8"?><Relationships xmlns="http://schemas.openxmlformats.org/package/2006/relationships"><Relationship Type="http://schemas.openxmlformats.org/officeDocument/2006/relationships/slide" Target="/ppt/slides/slide6.xml" Id="R48cd8be9e93e4ad2" /><Relationship Type="http://schemas.openxmlformats.org/officeDocument/2006/relationships/notesMaster" Target="/ppt/notesMasters/notesMaster1.xml" Id="R0c1f289e85ad469d" /></Relationships>
</file>

<file path=ppt/notesSlides/_rels/notesSlide7.xml.rels>&#65279;<?xml version="1.0" encoding="utf-8"?><Relationships xmlns="http://schemas.openxmlformats.org/package/2006/relationships"><Relationship Type="http://schemas.openxmlformats.org/officeDocument/2006/relationships/slide" Target="/ppt/slides/slide7.xml" Id="R4410befe21c14ca6" /><Relationship Type="http://schemas.openxmlformats.org/officeDocument/2006/relationships/notesMaster" Target="/ppt/notesMasters/notesMaster1.xml" Id="Rfe1db5dc27464890" /></Relationships>
</file>

<file path=ppt/notesSlides/_rels/notesSlide8.xml.rels>&#65279;<?xml version="1.0" encoding="utf-8"?><Relationships xmlns="http://schemas.openxmlformats.org/package/2006/relationships"><Relationship Type="http://schemas.openxmlformats.org/officeDocument/2006/relationships/slide" Target="/ppt/slides/slide8.xml" Id="R156c43690f3e4760" /><Relationship Type="http://schemas.openxmlformats.org/officeDocument/2006/relationships/notesMaster" Target="/ppt/notesMasters/notesMaster1.xml" Id="R99c3a13156c0492d" /></Relationships>
</file>

<file path=ppt/notesSlides/_rels/notesSlide9.xml.rels>&#65279;<?xml version="1.0" encoding="utf-8"?><Relationships xmlns="http://schemas.openxmlformats.org/package/2006/relationships"><Relationship Type="http://schemas.openxmlformats.org/officeDocument/2006/relationships/slide" Target="/ppt/slides/slide9.xml" Id="R76f9de7213f7480d" /><Relationship Type="http://schemas.openxmlformats.org/officeDocument/2006/relationships/notesMaster" Target="/ppt/notesMasters/notesMaster1.xml" Id="Rf7d379da9ba64b5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2f2cef7ca8e4abf" /><Relationship Type="http://schemas.openxmlformats.org/officeDocument/2006/relationships/notesMaster" Target="/ppt/notesMasters/notesMaster1.xml" Id="Raf9f33247827458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fbed511c7584294" /><Relationship Type="http://schemas.openxmlformats.org/officeDocument/2006/relationships/notesMaster" Target="/ppt/notesMasters/notesMaster1.xml" Id="Rc8dfe2e5b44b4f3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b2a5be735214451" /><Relationship Type="http://schemas.openxmlformats.org/officeDocument/2006/relationships/notesMaster" Target="/ppt/notesMasters/notesMaster1.xml" Id="R5435e9f7b504473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e4f36ff5c5648d5" /><Relationship Type="http://schemas.openxmlformats.org/officeDocument/2006/relationships/notesMaster" Target="/ppt/notesMasters/notesMaster1.xml" Id="R59629766093d4b3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6990d5323a540bb" /><Relationship Type="http://schemas.openxmlformats.org/officeDocument/2006/relationships/notesMaster" Target="/ppt/notesMasters/notesMaster1.xml" Id="R79859ac78663440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96e0930fb874ebc" /><Relationship Type="http://schemas.openxmlformats.org/officeDocument/2006/relationships/notesMaster" Target="/ppt/notesMasters/notesMaster1.xml" Id="R718539c19cf8433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2be9db357544fc2" /><Relationship Type="http://schemas.openxmlformats.org/officeDocument/2006/relationships/notesMaster" Target="/ppt/notesMasters/notesMaster1.xml" Id="R725bd3b0ccba497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ded827e4927468c" /><Relationship Type="http://schemas.openxmlformats.org/officeDocument/2006/relationships/notesMaster" Target="/ppt/notesMasters/notesMaster1.xml" Id="R5e0f6b5ba34a4f7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fccc20ece0c4c7a" /><Relationship Type="http://schemas.openxmlformats.org/officeDocument/2006/relationships/notesMaster" Target="/ppt/notesMasters/notesMaster1.xml" Id="R09e9df15b5524a8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029e6fd1da7418f" /><Relationship Type="http://schemas.openxmlformats.org/officeDocument/2006/relationships/notesMaster" Target="/ppt/notesMasters/notesMaster1.xml" Id="R2d22d5659e1545f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0b1582a329841e1" /><Relationship Type="http://schemas.openxmlformats.org/officeDocument/2006/relationships/notesMaster" Target="/ppt/notesMasters/notesMaster1.xml" Id="Rc2f8faab64374ac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68da95139dd45a9" /><Relationship Type="http://schemas.openxmlformats.org/officeDocument/2006/relationships/notesMaster" Target="/ppt/notesMasters/notesMaster1.xml" Id="R81e04835404c40a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fa6deb999264697" /><Relationship Type="http://schemas.openxmlformats.org/officeDocument/2006/relationships/notesMaster" Target="/ppt/notesMasters/notesMaster1.xml" Id="R719df8317115432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9b81320bf784d44" /><Relationship Type="http://schemas.openxmlformats.org/officeDocument/2006/relationships/notesMaster" Target="/ppt/notesMasters/notesMaster1.xml" Id="Rbceee25bb181483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dcf815abdc64a69" /><Relationship Type="http://schemas.openxmlformats.org/officeDocument/2006/relationships/notesMaster" Target="/ppt/notesMasters/notesMaster1.xml" Id="R86804a2f477e4a0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05cdf35a63c469e" /><Relationship Type="http://schemas.openxmlformats.org/officeDocument/2006/relationships/notesMaster" Target="/ppt/notesMasters/notesMaster1.xml" Id="R85dce84fbd624b8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bc9ea7972a94efc" /><Relationship Type="http://schemas.openxmlformats.org/officeDocument/2006/relationships/notesMaster" Target="/ppt/notesMasters/notesMaster1.xml" Id="Rde72aaeddb55447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6f9a558306c4c22" /><Relationship Type="http://schemas.openxmlformats.org/officeDocument/2006/relationships/notesMaster" Target="/ppt/notesMasters/notesMaster1.xml" Id="R54caa8d33364424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ef3398317c04a8e" /><Relationship Type="http://schemas.openxmlformats.org/officeDocument/2006/relationships/notesMaster" Target="/ppt/notesMasters/notesMaster1.xml" Id="R7ccd9493105c430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dbd7639c47547ad" /><Relationship Type="http://schemas.openxmlformats.org/officeDocument/2006/relationships/notesMaster" Target="/ppt/notesMasters/notesMaster1.xml" Id="Rd69d58d8f1be4cb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357b20ffbd94348" /><Relationship Type="http://schemas.openxmlformats.org/officeDocument/2006/relationships/notesMaster" Target="/ppt/notesMasters/notesMaster1.xml" Id="Rc6423d570b3e447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ccb6ecdf68304b90" /><Relationship Type="http://schemas.openxmlformats.org/officeDocument/2006/relationships/notesMaster" Target="/ppt/notesMasters/notesMaster1.xml" Id="Rd5139c32b1f048f3"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0c248f5202104c87" /><Relationship Type="http://schemas.openxmlformats.org/officeDocument/2006/relationships/notesMaster" Target="/ppt/notesMasters/notesMaster1.xml" Id="R82e06c4b74b442a0"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0181de107d6d4902" /><Relationship Type="http://schemas.openxmlformats.org/officeDocument/2006/relationships/notesMaster" Target="/ppt/notesMasters/notesMaster1.xml" Id="Rb0c0e0bc7a0a4bd2"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cd76d73188ca4bb7" /><Relationship Type="http://schemas.openxmlformats.org/officeDocument/2006/relationships/notesMaster" Target="/ppt/notesMasters/notesMaster1.xml" Id="R03544bbda070485e"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f850fb2362c54550" /><Relationship Type="http://schemas.openxmlformats.org/officeDocument/2006/relationships/notesMaster" Target="/ppt/notesMasters/notesMaster1.xml" Id="R728cc9b323204531"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dd25d02b1e0c40a2" /><Relationship Type="http://schemas.openxmlformats.org/officeDocument/2006/relationships/notesMaster" Target="/ppt/notesMasters/notesMaster1.xml" Id="Rdf87c75ea1464754"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b6b429e9d3ea4bb6" /><Relationship Type="http://schemas.openxmlformats.org/officeDocument/2006/relationships/notesMaster" Target="/ppt/notesMasters/notesMaster1.xml" Id="Rbd840cb433ee4180"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67531c8091d84983" /><Relationship Type="http://schemas.openxmlformats.org/officeDocument/2006/relationships/notesMaster" Target="/ppt/notesMasters/notesMaster1.xml" Id="R0000f6e7b43340ff"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96c1d12c5cef4c4d" /><Relationship Type="http://schemas.openxmlformats.org/officeDocument/2006/relationships/notesMaster" Target="/ppt/notesMasters/notesMaster1.xml" Id="Rbc1c3acf3159416e"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9b64b1a8c56b4244" /><Relationship Type="http://schemas.openxmlformats.org/officeDocument/2006/relationships/notesMaster" Target="/ppt/notesMasters/notesMaster1.xml" Id="R1f3fc8c500bf4848"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b2666c632d774ee8" /><Relationship Type="http://schemas.openxmlformats.org/officeDocument/2006/relationships/notesMaster" Target="/ppt/notesMasters/notesMaster1.xml" Id="R458e3afb47ff402d"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640aaba79f9f4399" /><Relationship Type="http://schemas.openxmlformats.org/officeDocument/2006/relationships/notesMaster" Target="/ppt/notesMasters/notesMaster1.xml" Id="Rbb4c444fee8b46ba"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a956e9f38a924df2" /><Relationship Type="http://schemas.openxmlformats.org/officeDocument/2006/relationships/notesMaster" Target="/ppt/notesMasters/notesMaster1.xml" Id="Rcec00b3bfc3e4f27"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fe6f7d59b5ba4cbb" /><Relationship Type="http://schemas.openxmlformats.org/officeDocument/2006/relationships/notesMaster" Target="/ppt/notesMasters/notesMaster1.xml" Id="R9cf116354a5d45ba"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9a01f95bfadf46ef" /><Relationship Type="http://schemas.openxmlformats.org/officeDocument/2006/relationships/notesMaster" Target="/ppt/notesMasters/notesMaster1.xml" Id="R54cadac9ffdd4806"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6b904812cea44a3f" /><Relationship Type="http://schemas.openxmlformats.org/officeDocument/2006/relationships/notesMaster" Target="/ppt/notesMasters/notesMaster1.xml" Id="R761143fd1d834e50"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b3e8f6dec4bf44e4" /><Relationship Type="http://schemas.openxmlformats.org/officeDocument/2006/relationships/notesMaster" Target="/ppt/notesMasters/notesMaster1.xml" Id="R5f09ff835ce341e1"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a968ec7b9f574028" /><Relationship Type="http://schemas.openxmlformats.org/officeDocument/2006/relationships/notesMaster" Target="/ppt/notesMasters/notesMaster1.xml" Id="R50c31409ba4b4593"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8872a7040aaf4222" /><Relationship Type="http://schemas.openxmlformats.org/officeDocument/2006/relationships/notesMaster" Target="/ppt/notesMasters/notesMaster1.xml" Id="R6197f2323aa54fe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S01 — GECO: evidence, intervention and recovery</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Open with the practical question: when a system reports that it delivered something, what evidence would persuade us? GECOv6 is a research package, not an approved medical device. All numerical units are research model units. The IIT Patna rig is a proposal pending construction and measurement.</a:t>
            </a:r>
          </a:p>
          <a:p xmlns:a="http://schemas.openxmlformats.org/drawingml/2006/main">
            <a:r>
              <a:t>Source locators:</a:t>
            </a:r>
          </a:p>
          <a:p xmlns:a="http://schemas.openxmlformats.org/drawingml/2006/main">
            <a:r>
              <a:t>04_PAPER/GECOv6_MANUSCRIPT.md</a:t>
            </a:r>
          </a:p>
          <a:p xmlns:a="http://schemas.openxmlformats.org/drawingml/2006/main">
            <a:r>
              <a:t>Source SHA-256:</a:t>
            </a:r>
          </a:p>
          <a:p xmlns:a="http://schemas.openxmlformats.org/drawingml/2006/main">
            <a:r>
              <a:t>04_PAPER/GECOv6_MANUSCRIPT.md 787d1d5372ebdf4ec8a88e0d3f7ac37c5cd61f3d8ccf2c786519027e72fb1c7c</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S02 — The motivating question</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Explain the three verbs: request, permit and emit. They name different events. Then explain the tradeoff in ordinary language: stopping a malfunction can help, but a stop that lasts too long also has a cost. Do not suggest the simulations establish patient benefit.</a:t>
            </a:r>
          </a:p>
          <a:p xmlns:a="http://schemas.openxmlformats.org/drawingml/2006/main">
            <a:r>
              <a:t>Source locators:</a:t>
            </a:r>
          </a:p>
          <a:p xmlns:a="http://schemas.openxmlformats.org/drawingml/2006/main">
            <a:r>
              <a:t>04_PAPER/GECOv6_MANUSCRIPT.md</a:t>
            </a:r>
          </a:p>
          <a:p xmlns:a="http://schemas.openxmlformats.org/drawingml/2006/main">
            <a:r>
              <a:t>Source SHA-256:</a:t>
            </a:r>
          </a:p>
          <a:p xmlns:a="http://schemas.openxmlformats.org/drawingml/2006/main">
            <a:r>
              <a:t>04_PAPER/GECOv6_MANUSCRIPT.md 787d1d5372ebdf4ec8a88e0d3f7ac37c5cd61f3d8ccf2c786519027e72fb1c7c</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S03 — The evidence boundary</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Trace the six boxes in order. A digital acknowledgment belongs near authorization; it must not be used as a substitute for emitted fluid. The experiment distinguishes local mass evidence from the network report, which matters when only the report is masked.</a:t>
            </a:r>
          </a:p>
          <a:p xmlns:a="http://schemas.openxmlformats.org/drawingml/2006/main">
            <a:r>
              <a:t>Source locators:</a:t>
            </a:r>
          </a:p>
          <a:p xmlns:a="http://schemas.openxmlformats.org/drawingml/2006/main">
            <a:r>
              <a:t>04_PAPER/GECOv6_MANUSCRIPT.md</a:t>
            </a:r>
          </a:p>
          <a:p xmlns:a="http://schemas.openxmlformats.org/drawingml/2006/main">
            <a:r>
              <a:t>Source SHA-256:</a:t>
            </a:r>
          </a:p>
          <a:p xmlns:a="http://schemas.openxmlformats.org/drawingml/2006/main">
            <a:r>
              <a:t>04_PAPER/GECOv6_MANUSCRIPT.md 787d1d5372ebdf4ec8a88e0d3f7ac37c5cd61f3d8ccf2c786519027e72fb1c7c</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S04 — The contribution to test</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The contribution is the accountable method and evidence separation. Prior work already includes insulin safety monitors, physiological models and gravimetric pump assessment. Do not claim the first digital twin, first safety monitor or first mass-sensing pump.</a:t>
            </a:r>
          </a:p>
          <a:p xmlns:a="http://schemas.openxmlformats.org/drawingml/2006/main">
            <a:r>
              <a:t>Source locators:</a:t>
            </a:r>
          </a:p>
          <a:p xmlns:a="http://schemas.openxmlformats.org/drawingml/2006/main">
            <a:r>
              <a:t>04_PAPER/GECOv6_MANUSCRIPT.md</a:t>
            </a:r>
          </a:p>
          <a:p xmlns:a="http://schemas.openxmlformats.org/drawingml/2006/main">
            <a:r>
              <a:t>Source SHA-256:</a:t>
            </a:r>
          </a:p>
          <a:p xmlns:a="http://schemas.openxmlformats.org/drawingml/2006/main">
            <a:r>
              <a:t>04_PAPER/GECOv6_MANUSCRIPT.md 787d1d5372ebdf4ec8a88e0d3f7ac37c5cd61f3d8ccf2c786519027e72fb1c7c</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S05 — What each evidence source can establish</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Keep these four evidence classes separate throughout the talk. The new simulated parameter vectors were unexamined before execution, but their physiological model structure is not independent clinical evidence.</a:t>
            </a:r>
          </a:p>
          <a:p xmlns:a="http://schemas.openxmlformats.org/drawingml/2006/main">
            <a:r>
              <a:t>Source locators:</a:t>
            </a:r>
          </a:p>
          <a:p xmlns:a="http://schemas.openxmlformats.org/drawingml/2006/main">
            <a:r>
              <a:t>04_PAPER/GECOv6_MANUSCRIPT.md</a:t>
            </a:r>
          </a:p>
          <a:p xmlns:a="http://schemas.openxmlformats.org/drawingml/2006/main">
            <a:r>
              <a:t>Source SHA-256:</a:t>
            </a:r>
          </a:p>
          <a:p xmlns:a="http://schemas.openxmlformats.org/drawingml/2006/main">
            <a:r>
              <a:t>04_PAPER/GECOv6_MANUSCRIPT.md 787d1d5372ebdf4ec8a88e0d3f7ac37c5cd61f3d8ccf2c786519027e72fb1c7c</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S06 — Corrections before new experiments</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Describe what changed without calling the earlier numerical findings reliable. No predicted or authorized dose substitutes for the emitted input to the plant. Calibration infeasibility is a result to report, not a threshold to silently force.</a:t>
            </a:r>
          </a:p>
          <a:p xmlns:a="http://schemas.openxmlformats.org/drawingml/2006/main">
            <a:r>
              <a:t>Source locators:</a:t>
            </a:r>
          </a:p>
          <a:p xmlns:a="http://schemas.openxmlformats.org/drawingml/2006/main">
            <a:r>
              <a:t>04_PAPER/GECOv6_MANUSCRIPT.md</a:t>
            </a:r>
          </a:p>
          <a:p xmlns:a="http://schemas.openxmlformats.org/drawingml/2006/main">
            <a:r>
              <a:t>Source SHA-256:</a:t>
            </a:r>
          </a:p>
          <a:p xmlns:a="http://schemas.openxmlformats.org/drawingml/2006/main">
            <a:r>
              <a:t>04_PAPER/GECOv6_MANUSCRIPT.md 787d1d5372ebdf4ec8a88e0d3f7ac37c5cd61f3d8ccf2c786519027e72fb1c7c</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S07 — Calibration and causal prediction</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Parameter fitting uses the first chronological half; tuning uses the next quarter. The last quarter is an internal held-out segment of already supplied records. Forecasts are compared on identical due pairs. Offline interpolation upstream in supplied preprocessing limits strict claims about raw-data causality.</a:t>
            </a:r>
          </a:p>
          <a:p xmlns:a="http://schemas.openxmlformats.org/drawingml/2006/main">
            <a:r>
              <a:t>Source locators:</a:t>
            </a:r>
          </a:p>
          <a:p xmlns:a="http://schemas.openxmlformats.org/drawingml/2006/main">
            <a:r>
              <a:t>03_EXPERIMENTS/filter_calibration/AGGREGATE_RESULTS.json</a:t>
            </a:r>
          </a:p>
          <a:p xmlns:a="http://schemas.openxmlformats.org/drawingml/2006/main">
            <a:r>
              <a:t>04_PAPER/GECOv6_MANUSCRIPT.md</a:t>
            </a:r>
          </a:p>
          <a:p xmlns:a="http://schemas.openxmlformats.org/drawingml/2006/main">
            <a:r>
              <a:t>Source SHA-256:</a:t>
            </a:r>
          </a:p>
          <a:p xmlns:a="http://schemas.openxmlformats.org/drawingml/2006/main">
            <a:r>
              <a:t>03_EXPERIMENTS/filter_calibration/AGGREGATE_RESULTS.json 1b6a4899b849bdc64f3341a80d66f3e09c6fc63ab78122353818544f43deb1ec</a:t>
            </a:r>
          </a:p>
          <a:p xmlns:a="http://schemas.openxmlformats.org/drawingml/2006/main">
            <a:r>
              <a:t>04_PAPER/GECOv6_MANUSCRIPT.md 787d1d5372ebdf4ec8a88e0d3f7ac37c5cd61f3d8ccf2c786519027e72fb1c7c</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S08 — Thirty-minute prediction error</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Embedded chart values are rounded to 6 decimalplaces from the linked exact source; labels display 1 decimal. The selected model was trend for 30 participants and persistence for 1; none selected the mechanistic predictor. A median of selected participant errors is not the same as selecting the best method on the final test set.</a:t>
            </a:r>
          </a:p>
          <a:p xmlns:a="http://schemas.openxmlformats.org/drawingml/2006/main">
            <a:r>
              <a:t>Source locators:</a:t>
            </a:r>
          </a:p>
          <a:p xmlns:a="http://schemas.openxmlformats.org/drawingml/2006/main">
            <a:r>
              <a:t>03_EXPERIMENTS/filter_calibration/AGGREGATE_RESULTS.json</a:t>
            </a:r>
          </a:p>
          <a:p xmlns:a="http://schemas.openxmlformats.org/drawingml/2006/main">
            <a:r>
              <a:t>Source SHA-256:</a:t>
            </a:r>
          </a:p>
          <a:p xmlns:a="http://schemas.openxmlformats.org/drawingml/2006/main">
            <a:r>
              <a:t>03_EXPERIMENTS/filter_calibration/AGGREGATE_RESULTS.json 1b6a4899b849bdc64f3341a80d66f3e09c6fc63ab78122353818544f43deb1ec</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S09 — Prediction findings and limits</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Bootstrap intervals describe variation across these participants, not an external population guarantee. The median empirical 95% forecast coverage was 95.82%, ranging 87.50–98.92%. Good median coverage conceals poor coverage for individual participants.24/31 fits approached parameter bounds; do not infer physiological identifiability.</a:t>
            </a:r>
          </a:p>
          <a:p xmlns:a="http://schemas.openxmlformats.org/drawingml/2006/main">
            <a:r>
              <a:t>Source locators:</a:t>
            </a:r>
          </a:p>
          <a:p xmlns:a="http://schemas.openxmlformats.org/drawingml/2006/main">
            <a:r>
              <a:t>03_EXPERIMENTS/filter_calibration/AGGREGATE_RESULTS.json</a:t>
            </a:r>
          </a:p>
          <a:p xmlns:a="http://schemas.openxmlformats.org/drawingml/2006/main">
            <a:r>
              <a:t>04_PAPER/GECOv6_MANUSCRIPT.md</a:t>
            </a:r>
          </a:p>
          <a:p xmlns:a="http://schemas.openxmlformats.org/drawingml/2006/main">
            <a:r>
              <a:t>Source SHA-256:</a:t>
            </a:r>
          </a:p>
          <a:p xmlns:a="http://schemas.openxmlformats.org/drawingml/2006/main">
            <a:r>
              <a:t>03_EXPERIMENTS/filter_calibration/AGGREGATE_RESULTS.json 1b6a4899b849bdc64f3341a80d66f3e09c6fc63ab78122353818544f43deb1ec</a:t>
            </a:r>
          </a:p>
          <a:p xmlns:a="http://schemas.openxmlformats.org/drawingml/2006/main">
            <a:r>
              <a:t>04_PAPER/GECOv6_MANUSCRIPT.md 787d1d5372ebdf4ec8a88e0d3f7ac37c5cd61f3d8ccf2c786519027e72fb1c7c</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S10 — What this says about the model</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This is the plain-language answer to whether the model is “good.” A scientifically defensible model earns its role through comparison. Here the forecast evidence favors a trend or persistence fallback. Avoid referring to a vague “Jacob model”; distinguish the supplied mechanistic predictor from its numerical Jacobian.</a:t>
            </a:r>
          </a:p>
          <a:p xmlns:a="http://schemas.openxmlformats.org/drawingml/2006/main">
            <a:r>
              <a:t>Source locators:</a:t>
            </a:r>
          </a:p>
          <a:p xmlns:a="http://schemas.openxmlformats.org/drawingml/2006/main">
            <a:r>
              <a:t>03_EXPERIMENTS/filter_calibration/AGGREGATE_RESULTS.json</a:t>
            </a:r>
          </a:p>
          <a:p xmlns:a="http://schemas.openxmlformats.org/drawingml/2006/main">
            <a:r>
              <a:t>04_PAPER/GECOv6_MANUSCRIPT.md</a:t>
            </a:r>
          </a:p>
          <a:p xmlns:a="http://schemas.openxmlformats.org/drawingml/2006/main">
            <a:r>
              <a:t>Source SHA-256:</a:t>
            </a:r>
          </a:p>
          <a:p xmlns:a="http://schemas.openxmlformats.org/drawingml/2006/main">
            <a:r>
              <a:t>03_EXPERIMENTS/filter_calibration/AGGREGATE_RESULTS.json 1b6a4899b849bdc64f3341a80d66f3e09c6fc63ab78122353818544f43deb1ec</a:t>
            </a:r>
          </a:p>
          <a:p xmlns:a="http://schemas.openxmlformats.org/drawingml/2006/main">
            <a:r>
              <a:t>04_PAPER/GECOv6_MANUSCRIPT.md 787d1d5372ebdf4ec8a88e0d3f7ac37c5cd61f3d8ccf2c786519027e72fb1c7c</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S11 — Matched intervention experiments</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The primary request tape is generated in a clean reference run and replayed into each arm. This isolates intervention under a common demand. Feedback-stopping sensitivity is separately reported. Practical methods share observation channels and local cutoffs; the oracle is deliberately privileged and cannot be treated as an implementable competitor.</a:t>
            </a:r>
          </a:p>
          <a:p xmlns:a="http://schemas.openxmlformats.org/drawingml/2006/main">
            <a:r>
              <a:t>Source locators:</a:t>
            </a:r>
          </a:p>
          <a:p xmlns:a="http://schemas.openxmlformats.org/drawingml/2006/main">
            <a:r>
              <a:t>04_PAPER/GECOv6_MANUSCRIPT.md</a:t>
            </a:r>
          </a:p>
          <a:p xmlns:a="http://schemas.openxmlformats.org/drawingml/2006/main">
            <a:r>
              <a:t>Source SHA-256:</a:t>
            </a:r>
          </a:p>
          <a:p xmlns:a="http://schemas.openxmlformats.org/drawingml/2006/main">
            <a:r>
              <a:t>04_PAPER/GECOv6_MANUSCRIPT.md 787d1d5372ebdf4ec8a88e0d3f7ac37c5cd61f3d8ccf2c786519027e72fb1c7c</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S12 — The primary experiment</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The Hovorka implementation retains the published unclipped endogenous glucose production expression and logs domain failures. The48 runs per condition/arm are 24 parameter vectors each paired over 2 seeds. Confidence intervals resample parameter vectors after averaging paired seeds.</a:t>
            </a:r>
          </a:p>
          <a:p xmlns:a="http://schemas.openxmlformats.org/drawingml/2006/main">
            <a:r>
              <a:t>Source locators:</a:t>
            </a:r>
          </a:p>
          <a:p xmlns:a="http://schemas.openxmlformats.org/drawingml/2006/main">
            <a:r>
              <a:t>04_PAPER/GECOv6_MANUSCRIPT.md</a:t>
            </a:r>
          </a:p>
          <a:p xmlns:a="http://schemas.openxmlformats.org/drawingml/2006/main">
            <a:r>
              <a:t>Source SHA-256:</a:t>
            </a:r>
          </a:p>
          <a:p xmlns:a="http://schemas.openxmlformats.org/drawingml/2006/main">
            <a:r>
              <a:t>04_PAPER/GECOv6_MANUSCRIPT.md 787d1d5372ebdf4ec8a88e0d3f7ac37c5cd61f3d8ccf2c786519027e72fb1c7c</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S13 — Faults and observation assumptions</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The factor 2 is applied before quantization, gain, noise and dribble, so do not say exactly twice the emitted dose. Masked network reports do not compromise the independent local mass cutoff. This makes the model of remaining trusted evidence narrower than total sensor compromise.</a:t>
            </a:r>
          </a:p>
          <a:p xmlns:a="http://schemas.openxmlformats.org/drawingml/2006/main">
            <a:r>
              <a:t>Source locators:</a:t>
            </a:r>
          </a:p>
          <a:p xmlns:a="http://schemas.openxmlformats.org/drawingml/2006/main">
            <a:r>
              <a:t>04_PAPER/GECOv6_MANUSCRIPT.md</a:t>
            </a:r>
          </a:p>
          <a:p xmlns:a="http://schemas.openxmlformats.org/drawingml/2006/main">
            <a:r>
              <a:t>Source SHA-256:</a:t>
            </a:r>
          </a:p>
          <a:p xmlns:a="http://schemas.openxmlformats.org/drawingml/2006/main">
            <a:r>
              <a:t>04_PAPER/GECOv6_MANUSCRIPT.md 787d1d5372ebdf4ec8a88e0d3f7ac37c5cd61f3d8ccf2c786519027e72fb1c7c</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S14 — The six primary response arms</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Full and simple differ in temporal aggregation as well as physiological input. Their difference alone cannot identify the incremental value of physiology. The separate exploratory fasting supplement adds a mass-CUSUM-only arm to address this component question.</a:t>
            </a:r>
          </a:p>
          <a:p xmlns:a="http://schemas.openxmlformats.org/drawingml/2006/main">
            <a:r>
              <a:t>Source locators:</a:t>
            </a:r>
          </a:p>
          <a:p xmlns:a="http://schemas.openxmlformats.org/drawingml/2006/main">
            <a:r>
              <a:t>04_PAPER/GECOv6_MANUSCRIPT.md</a:t>
            </a:r>
          </a:p>
          <a:p xmlns:a="http://schemas.openxmlformats.org/drawingml/2006/main">
            <a:r>
              <a:t>Source SHA-256:</a:t>
            </a:r>
          </a:p>
          <a:p xmlns:a="http://schemas.openxmlformats.org/drawingml/2006/main">
            <a:r>
              <a:t>04_PAPER/GECOv6_MANUSCRIPT.md 787d1d5372ebdf4ec8a88e0d3f7ac37c5cd61f3d8ccf2c786519027e72fb1c7c</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S15 — Response and recovery states</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Trip timing is measured at the end of the triggering interval; stop effect is at the next interval in the primary model. Cooldown starts at that interval boundary. Supervised checks require current CGM and six quiet local readings; probe aggregate mass must meet the specified tolerance. The state before emission determines latch exposure. Guards remain active throughout probation.</a:t>
            </a:r>
          </a:p>
          <a:p xmlns:a="http://schemas.openxmlformats.org/drawingml/2006/main">
            <a:r>
              <a:t>Source locators:</a:t>
            </a:r>
          </a:p>
          <a:p xmlns:a="http://schemas.openxmlformats.org/drawingml/2006/main">
            <a:r>
              <a:t>04_PAPER/GECOv6_MANUSCRIPT.md</a:t>
            </a:r>
          </a:p>
          <a:p xmlns:a="http://schemas.openxmlformats.org/drawingml/2006/main">
            <a:r>
              <a:t>Source SHA-256:</a:t>
            </a:r>
          </a:p>
          <a:p xmlns:a="http://schemas.openxmlformats.org/drawingml/2006/main">
            <a:r>
              <a:t>04_PAPER/GECOv6_MANUSCRIPT.md 787d1d5372ebdf4ec8a88e0d3f7ac37c5cd61f3d8ccf2c786519027e72fb1c7c</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S16 — Outcomes that a stop can hide</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All research-U quantities are simulated model amounts, not clinical dosing recommendations. The simulated reference is a clean model trajectory; in the physical work it must be replaced or qualified by a measured reference with an uncertainty budget.</a:t>
            </a:r>
          </a:p>
          <a:p xmlns:a="http://schemas.openxmlformats.org/drawingml/2006/main">
            <a:r>
              <a:t>Source locators:</a:t>
            </a:r>
          </a:p>
          <a:p xmlns:a="http://schemas.openxmlformats.org/drawingml/2006/main">
            <a:r>
              <a:t>04_PAPER/GECOv6_MANUSCRIPT.md</a:t>
            </a:r>
          </a:p>
          <a:p xmlns:a="http://schemas.openxmlformats.org/drawingml/2006/main">
            <a:r>
              <a:t>Source SHA-256:</a:t>
            </a:r>
          </a:p>
          <a:p xmlns:a="http://schemas.openxmlformats.org/drawingml/2006/main">
            <a:r>
              <a:t>04_PAPER/GECOv6_MANUSCRIPT.md 787d1d5372ebdf4ec8a88e0d3f7ac37c5cd61f3d8ccf2c786519027e72fb1c7c</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S17 — Primary experiment outcome</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Execution success means the specified software ran; it does not mean the model was physiologically valid.2,108 of 4,608 main runs had domain violations, all in the Hovorka branch. This is a central limitation, not a footnote.</a:t>
            </a:r>
          </a:p>
          <a:p xmlns:a="http://schemas.openxmlformats.org/drawingml/2006/main">
            <a:r>
              <a:t>Source locators:</a:t>
            </a:r>
          </a:p>
          <a:p xmlns:a="http://schemas.openxmlformats.org/drawingml/2006/main">
            <a:r>
              <a:t>03_EXPERIMENTS/comparative_study/ARM_SUMMARIES.json</a:t>
            </a:r>
          </a:p>
          <a:p xmlns:a="http://schemas.openxmlformats.org/drawingml/2006/main">
            <a:r>
              <a:t>03_EXPERIMENTS/comparative_study/PAIRED_PARAMETER_UNIT_CI.json</a:t>
            </a:r>
          </a:p>
          <a:p xmlns:a="http://schemas.openxmlformats.org/drawingml/2006/main">
            <a:r>
              <a:t>04_PAPER/GECOv6_MANUSCRIPT.md</a:t>
            </a:r>
          </a:p>
          <a:p xmlns:a="http://schemas.openxmlformats.org/drawingml/2006/main">
            <a:r>
              <a:t>Source SHA-256:</a:t>
            </a:r>
          </a:p>
          <a:p xmlns:a="http://schemas.openxmlformats.org/drawingml/2006/main">
            <a:r>
              <a:t>03_EXPERIMENTS/comparative_study/ARM_SUMMARIES.json 38f6b259f02d10e76d015815b47b3b710d713451649d4904d818e17c939beb7f</a:t>
            </a:r>
          </a:p>
          <a:p xmlns:a="http://schemas.openxmlformats.org/drawingml/2006/main">
            <a:r>
              <a:t>03_EXPERIMENTS/comparative_study/PAIRED_PARAMETER_UNIT_CI.json a3b601d26949969c2675e0e5461db7a1bb3f4351252533ec44e124b01f269dd2</a:t>
            </a:r>
          </a:p>
          <a:p xmlns:a="http://schemas.openxmlformats.org/drawingml/2006/main">
            <a:r>
              <a:t>04_PAPER/GECOv6_MANUSCRIPT.md 787d1d5372ebdf4ec8a88e0d3f7ac37c5cd61f3d8ccf2c786519027e72fb1c7c</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S18 — Selected paired contrasts</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These are parameter-vector paired bootstrap contrasts, averaged across the 2 seeds before resampling. They illustrate the central non-superiority finding; the full paper and machine-readable table contain every prespecified contrast. Hovorka comparisons cannot support credible clinical benefit because domain checks failed.</a:t>
            </a:r>
          </a:p>
          <a:p xmlns:a="http://schemas.openxmlformats.org/drawingml/2006/main">
            <a:r>
              <a:t>Source locators:</a:t>
            </a:r>
          </a:p>
          <a:p xmlns:a="http://schemas.openxmlformats.org/drawingml/2006/main">
            <a:r>
              <a:t>03_EXPERIMENTS/comparative_study/PAIRED_PARAMETER_UNIT_CI.json</a:t>
            </a:r>
          </a:p>
          <a:p xmlns:a="http://schemas.openxmlformats.org/drawingml/2006/main">
            <a:r>
              <a:t>Source SHA-256:</a:t>
            </a:r>
          </a:p>
          <a:p xmlns:a="http://schemas.openxmlformats.org/drawingml/2006/main">
            <a:r>
              <a:t>03_EXPERIMENTS/comparative_study/PAIRED_PARAMETER_UNIT_CI.json a3b601d26949969c2675e0e5461db7a1bb3f4351252533ec44e124b01f269dd2</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S19 — Physiological validity audit</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EGP is endogenous glucose production. Negative EGP in the retained equations is a physiological-domain violation. The original branch also reaches remote-action clamps, which must be disclosed. We preserve all traces and do not delete problematic units to produce a favorable claim.</a:t>
            </a:r>
          </a:p>
          <a:p xmlns:a="http://schemas.openxmlformats.org/drawingml/2006/main">
            <a:r>
              <a:t>Source locators:</a:t>
            </a:r>
          </a:p>
          <a:p xmlns:a="http://schemas.openxmlformats.org/drawingml/2006/main">
            <a:r>
              <a:t>03_EXPERIMENTS/comparative_study/ARM_SUMMARIES.json</a:t>
            </a:r>
          </a:p>
          <a:p xmlns:a="http://schemas.openxmlformats.org/drawingml/2006/main">
            <a:r>
              <a:t>04_PAPER/GECOv6_MANUSCRIPT.md</a:t>
            </a:r>
          </a:p>
          <a:p xmlns:a="http://schemas.openxmlformats.org/drawingml/2006/main">
            <a:r>
              <a:t>Source SHA-256:</a:t>
            </a:r>
          </a:p>
          <a:p xmlns:a="http://schemas.openxmlformats.org/drawingml/2006/main">
            <a:r>
              <a:t>03_EXPERIMENTS/comparative_study/ARM_SUMMARIES.json 38f6b259f02d10e76d015815b47b3b710d713451649d4904d818e17c939beb7f</a:t>
            </a:r>
          </a:p>
          <a:p xmlns:a="http://schemas.openxmlformats.org/drawingml/2006/main">
            <a:r>
              <a:t>04_PAPER/GECOv6_MANUSCRIPT.md 787d1d5372ebdf4ec8a88e0d3f7ac37c5cd61f3d8ccf2c786519027e72fb1c7c</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S20 — A separate validity and component check</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Clearly distinguish this post-primary protocol from the originally frozen experiment. It removes meals and compensates the nominal actuator mapping analytically. It is not an external cohort, therapy validation or a retrospective repair of primary results. The final results slide is generated only from reviewed supplemental output.</a:t>
            </a:r>
          </a:p>
          <a:p xmlns:a="http://schemas.openxmlformats.org/drawingml/2006/main">
            <a:r>
              <a:t>Source locators:</a:t>
            </a:r>
          </a:p>
          <a:p xmlns:a="http://schemas.openxmlformats.org/drawingml/2006/main">
            <a:r>
              <a:t>04_PAPER/GECOv6_MANUSCRIPT.md</a:t>
            </a:r>
          </a:p>
          <a:p xmlns:a="http://schemas.openxmlformats.org/drawingml/2006/main">
            <a:r>
              <a:t>Source SHA-256:</a:t>
            </a:r>
          </a:p>
          <a:p xmlns:a="http://schemas.openxmlformats.org/drawingml/2006/main">
            <a:r>
              <a:t>04_PAPER/GECOv6_MANUSCRIPT.md 787d1d5372ebdf4ec8a88e0d3f7ac37c5cd61f3d8ccf2c786519027e72fb1c7c</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S21 — Fasting supplement: validity and false stops</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Post-primary exploratory design; 16 new test parameter vectors per plant,2 new noise seeds,8 conditions and 4 supervised arms. Analytically selected actuator-aware fasting commands avoid the primary meal-driven domain failures. This does not validate meal responses or actual physiology. No unit or unsuccessful result was excluded. The original family still recorded 18,648 remote-action clamp slots, including 51 in clean runs; passing the screen is not physiological validation.</a:t>
            </a:r>
          </a:p>
          <a:p xmlns:a="http://schemas.openxmlformats.org/drawingml/2006/main">
            <a:r>
              <a:t>Source locators:</a:t>
            </a:r>
          </a:p>
          <a:p xmlns:a="http://schemas.openxmlformats.org/drawingml/2006/main">
            <a:r>
              <a:t>03_EXPERIMENTS/supplement_fasting/RESULT_SUMMARY.json</a:t>
            </a:r>
          </a:p>
          <a:p xmlns:a="http://schemas.openxmlformats.org/drawingml/2006/main">
            <a:r>
              <a:t>03_EXPERIMENTS/supplement_fasting/ARM_SUMMARIES.json</a:t>
            </a:r>
          </a:p>
          <a:p xmlns:a="http://schemas.openxmlformats.org/drawingml/2006/main">
            <a:r>
              <a:t>Source SHA-256:</a:t>
            </a:r>
          </a:p>
          <a:p xmlns:a="http://schemas.openxmlformats.org/drawingml/2006/main">
            <a:r>
              <a:t>03_EXPERIMENTS/supplement_fasting/RESULT_SUMMARY.json c6038a02f3ebb96a71cfb0149bd52fce91de5346a849852272ce28872bdc41a5</a:t>
            </a:r>
          </a:p>
          <a:p xmlns:a="http://schemas.openxmlformats.org/drawingml/2006/main">
            <a:r>
              <a:t>03_EXPERIMENTS/supplement_fasting/ARM_SUMMARIES.json 57c3ad8f02c60542cb08b677aa0176615847f88f6dd05887494130946009d8da</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S22 — Full versus mass CUSUM: benefits and costs</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These contrasts compare the added physiological rule together with its separately clean-calibrated threshold: full 2.8330 versus mass-only 2.5291. They do not isolate physiology at an identical numerical threshold. The full detector can gain sensitivity when observations support it and incur costs when CGM is biased. These four examples do not replace the complete six-contrast table and all 8 condition results.</a:t>
            </a:r>
          </a:p>
          <a:p xmlns:a="http://schemas.openxmlformats.org/drawingml/2006/main">
            <a:r>
              <a:t>Source locators:</a:t>
            </a:r>
          </a:p>
          <a:p xmlns:a="http://schemas.openxmlformats.org/drawingml/2006/main">
            <a:r>
              <a:t>03_EXPERIMENTS/supplement_fasting/PAIRED_PARAMETER_UNIT_CI.json</a:t>
            </a:r>
          </a:p>
          <a:p xmlns:a="http://schemas.openxmlformats.org/drawingml/2006/main">
            <a:r>
              <a:t>Source SHA-256:</a:t>
            </a:r>
          </a:p>
          <a:p xmlns:a="http://schemas.openxmlformats.org/drawingml/2006/main">
            <a:r>
              <a:t>03_EXPERIMENTS/supplement_fasting/PAIRED_PARAMETER_UNIT_CI.json a64855864224d4aab0d918a740a11d21e9d7f6fef477db51714ed4dafc8fa52f</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S23 — Reading the simulation movies</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The ten cases were selected before outcome inspection: first test vector 08, seed 1103, five conditions, two plants. They are demonstrations of trace interpretation rather than a representative statistical sample. The primary estimates use all paired runs.</a:t>
            </a:r>
          </a:p>
          <a:p xmlns:a="http://schemas.openxmlformats.org/drawingml/2006/main">
            <a:r>
              <a:t>Source locators:</a:t>
            </a:r>
          </a:p>
          <a:p xmlns:a="http://schemas.openxmlformats.org/drawingml/2006/main">
            <a:r>
              <a:t>04_PAPER/GECOv6_MANUSCRIPT.md</a:t>
            </a:r>
          </a:p>
          <a:p xmlns:a="http://schemas.openxmlformats.org/drawingml/2006/main">
            <a:r>
              <a:t>Source SHA-256:</a:t>
            </a:r>
          </a:p>
          <a:p xmlns:a="http://schemas.openxmlformats.org/drawingml/2006/main">
            <a:r>
              <a:t>04_PAPER/GECOv6_MANUSCRIPT.md 787d1d5372ebdf4ec8a88e0d3f7ac37c5cd61f3d8ccf2c786519027e72fb1c7c</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S24 — Doubled actuator input: original model</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Play the 55 second trace once. Point out the fault interval, then compare the two response states. Extra stopping is not automatically better. For Hovorka, explicitly name the domain flag counter before discussing glucose. The movie has no narration; presenter notes supply the explanation.</a:t>
            </a:r>
          </a:p>
          <a:p xmlns:a="http://schemas.openxmlformats.org/drawingml/2006/main">
            <a:r>
              <a:t>Source locators:</a:t>
            </a:r>
          </a:p>
          <a:p xmlns:a="http://schemas.openxmlformats.org/drawingml/2006/main">
            <a:r>
              <a:t>06_RIG_AND_MEDIA/Result_Player/SOURCE_RECEIPT.json</a:t>
            </a:r>
          </a:p>
          <a:p xmlns:a="http://schemas.openxmlformats.org/drawingml/2006/main">
            <a:r>
              <a:t>Source SHA-256:</a:t>
            </a:r>
          </a:p>
          <a:p xmlns:a="http://schemas.openxmlformats.org/drawingml/2006/main">
            <a:r>
              <a:t>06_RIG_AND_MEDIA/Result_Player/SOURCE_RECEIPT.json 87fd8d455579d0a068e5e68ebf01e55f934123f0019814d5fa605482cb7757df</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S25 — Stuck-on delivery and recovery</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Play the 55 second trace once. Point out the fault interval, then compare the two response states. Extra stopping is not automatically better. For Hovorka, explicitly name the domain flag counter before discussing glucose. The movie has no narration; presenter notes supply the explanation.</a:t>
            </a:r>
          </a:p>
          <a:p xmlns:a="http://schemas.openxmlformats.org/drawingml/2006/main">
            <a:r>
              <a:t>Source locators:</a:t>
            </a:r>
          </a:p>
          <a:p xmlns:a="http://schemas.openxmlformats.org/drawingml/2006/main">
            <a:r>
              <a:t>06_RIG_AND_MEDIA/Result_Player/SOURCE_RECEIPT.json</a:t>
            </a:r>
          </a:p>
          <a:p xmlns:a="http://schemas.openxmlformats.org/drawingml/2006/main">
            <a:r>
              <a:t>Source SHA-256:</a:t>
            </a:r>
          </a:p>
          <a:p xmlns:a="http://schemas.openxmlformats.org/drawingml/2006/main">
            <a:r>
              <a:t>06_RIG_AND_MEDIA/Result_Player/SOURCE_RECEIPT.json 87fd8d455579d0a068e5e68ebf01e55f934123f0019814d5fa605482cb7757df</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S26 — Missing observation and interruption</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Play the 55 second trace once. Point out the fault interval, then compare the two response states. Extra stopping is not automatically better. For Hovorka, explicitly name the domain flag counter before discussing glucose. The movie has no narration; presenter notes supply the explanation.</a:t>
            </a:r>
          </a:p>
          <a:p xmlns:a="http://schemas.openxmlformats.org/drawingml/2006/main">
            <a:r>
              <a:t>Source locators:</a:t>
            </a:r>
          </a:p>
          <a:p xmlns:a="http://schemas.openxmlformats.org/drawingml/2006/main">
            <a:r>
              <a:t>06_RIG_AND_MEDIA/Result_Player/SOURCE_RECEIPT.json</a:t>
            </a:r>
          </a:p>
          <a:p xmlns:a="http://schemas.openxmlformats.org/drawingml/2006/main">
            <a:r>
              <a:t>Source SHA-256:</a:t>
            </a:r>
          </a:p>
          <a:p xmlns:a="http://schemas.openxmlformats.org/drawingml/2006/main">
            <a:r>
              <a:t>06_RIG_AND_MEDIA/Result_Player/SOURCE_RECEIPT.json 87fd8d455579d0a068e5e68ebf01e55f934123f0019814d5fa605482cb7757df</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S27 — Combined fault: Hovorka domain flags</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Play the 55 second trace once. Point out the fault interval, then compare the two response states. Extra stopping is not automatically better. For Hovorka, explicitly name the domain flag counter before discussing glucose. The movie has no narration; presenter notes supply the explanation.</a:t>
            </a:r>
          </a:p>
          <a:p xmlns:a="http://schemas.openxmlformats.org/drawingml/2006/main">
            <a:r>
              <a:t>Source locators:</a:t>
            </a:r>
          </a:p>
          <a:p xmlns:a="http://schemas.openxmlformats.org/drawingml/2006/main">
            <a:r>
              <a:t>06_RIG_AND_MEDIA/Result_Player/SOURCE_RECEIPT.json</a:t>
            </a:r>
          </a:p>
          <a:p xmlns:a="http://schemas.openxmlformats.org/drawingml/2006/main">
            <a:r>
              <a:t>Source SHA-256:</a:t>
            </a:r>
          </a:p>
          <a:p xmlns:a="http://schemas.openxmlformats.org/drawingml/2006/main">
            <a:r>
              <a:t>06_RIG_AND_MEDIA/Result_Player/SOURCE_RECEIPT.json 87fd8d455579d0a068e5e68ebf01e55f934123f0019814d5fa605482cb7757df</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S28 — The proposed saline twin</a:t>
            </a:r>
          </a:p>
          <a:p xmlns:a="http://schemas.openxmlformats.org/drawingml/2006/main">
            <a:r>
              <a:t>Evidence class: CONCEPTUAL RIG</a:t>
            </a:r>
          </a:p>
          <a:p xmlns:a="http://schemas.openxmlformats.org/drawingml/2006/main">
            <a:r>
              <a:t>Supported claim IDs: Source-derived explanation</a:t>
            </a:r>
          </a:p>
          <a:p xmlns:a="http://schemas.openxmlformats.org/drawingml/2006/main">
            <a:r>
              <a:t>Walk left to right from motor and syringe to outlet receiver, balance and acquisition computer. No instrument shown has been purchased, certified or physically validated by this release. Dimensions illustrate assembly relationships and must be finalized by the team.</a:t>
            </a:r>
          </a:p>
          <a:p xmlns:a="http://schemas.openxmlformats.org/drawingml/2006/main">
            <a:r>
              <a:t>Source locators:</a:t>
            </a:r>
          </a:p>
          <a:p xmlns:a="http://schemas.openxmlformats.org/drawingml/2006/main">
            <a:r>
              <a:t>07_IIT_PATNA_HANDOFF/ACQUISITION_AND_MEASUREMENT_PROTOCOL.md</a:t>
            </a:r>
          </a:p>
          <a:p xmlns:a="http://schemas.openxmlformats.org/drawingml/2006/main">
            <a:r>
              <a:t>04_PAPER/IIT_PATNA_PENDING_MEASUREMENTS.md</a:t>
            </a:r>
          </a:p>
          <a:p xmlns:a="http://schemas.openxmlformats.org/drawingml/2006/main">
            <a:r>
              <a:t>Source SHA-256:</a:t>
            </a:r>
          </a:p>
          <a:p xmlns:a="http://schemas.openxmlformats.org/drawingml/2006/main">
            <a:r>
              <a:t>07_IIT_PATNA_HANDOFF/ACQUISITION_AND_MEASUREMENT_PROTOCOL.md ed0d692517f893e244caf50f81ce0665f1efdc7887c7500da6a142d7f96296bb</a:t>
            </a:r>
          </a:p>
          <a:p xmlns:a="http://schemas.openxmlformats.org/drawingml/2006/main">
            <a:r>
              <a:t>04_PAPER/IIT_PATNA_PENDING_MEASUREMENTS.md dab38ac32713cd02fab2aca3cfa32022292323f3a82940df2f9ec44bd2072fc9</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S29 — The complete rig explanation</a:t>
            </a:r>
          </a:p>
          <a:p xmlns:a="http://schemas.openxmlformats.org/drawingml/2006/main">
            <a:r>
              <a:t>Evidence class: CONCEPTUAL RIG</a:t>
            </a:r>
          </a:p>
          <a:p xmlns:a="http://schemas.openxmlformats.org/drawingml/2006/main">
            <a:r>
              <a:t>Supported claim IDs: Source-derived explanation</a:t>
            </a:r>
          </a:p>
          <a:p xmlns:a="http://schemas.openxmlformats.org/drawingml/2006/main">
            <a:r>
              <a:t>In Slide Show, press Tab then Enter to play the embedded movie full screen. Narration is disclosed macOS synthetic speech. The model is a conceptual render; arrows indicate paths rather than measured flow rates. Use the complete tour for a general audience, or skip it and use the following chapter clips for an engineering seminar.</a:t>
            </a:r>
          </a:p>
          <a:p xmlns:a="http://schemas.openxmlformats.org/drawingml/2006/main">
            <a:r>
              <a:t>Source locators:</a:t>
            </a:r>
          </a:p>
          <a:p xmlns:a="http://schemas.openxmlformats.org/drawingml/2006/main">
            <a:r>
              <a:t>06_RIG_AND_MEDIA/narration/FINAL_TRANSCRIPT.md</a:t>
            </a:r>
          </a:p>
          <a:p xmlns:a="http://schemas.openxmlformats.org/drawingml/2006/main">
            <a:r>
              <a:t>07_IIT_PATNA_HANDOFF/ACQUISITION_AND_MEASUREMENT_PROTOCOL.md</a:t>
            </a:r>
          </a:p>
          <a:p xmlns:a="http://schemas.openxmlformats.org/drawingml/2006/main">
            <a:r>
              <a:t>Source SHA-256:</a:t>
            </a:r>
          </a:p>
          <a:p xmlns:a="http://schemas.openxmlformats.org/drawingml/2006/main">
            <a:r>
              <a:t>06_RIG_AND_MEDIA/narration/FINAL_TRANSCRIPT.md 52202a152b2aed2e971333942550f2da91d0cc5533fddacf00575d0e87b2dc80</a:t>
            </a:r>
          </a:p>
          <a:p xmlns:a="http://schemas.openxmlformats.org/drawingml/2006/main">
            <a:r>
              <a:t>07_IIT_PATNA_HANDOFF/ACQUISITION_AND_MEASUREMENT_PROTOCOL.md ed0d692517f893e244caf50f81ce0665f1efdc7887c7500da6a142d7f96296bb</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S30 — Drive mechanism</a:t>
            </a:r>
          </a:p>
          <a:p xmlns:a="http://schemas.openxmlformats.org/drawingml/2006/main">
            <a:r>
              <a:t>Evidence class: CONCEPTUAL RIG</a:t>
            </a:r>
          </a:p>
          <a:p xmlns:a="http://schemas.openxmlformats.org/drawingml/2006/main">
            <a:r>
              <a:t>Supported claim IDs: Source-derived explanation</a:t>
            </a:r>
          </a:p>
          <a:p xmlns:a="http://schemas.openxmlformats.org/drawingml/2006/main">
            <a:r>
              <a:t>Use the chapter clip and pause at its final component view. All performance quantities remain pending. Ask the audience to identify the reference instrument, the recorded event and the uncertainty contribution. These clips are exact excerpts from the full narrated tour.</a:t>
            </a:r>
          </a:p>
          <a:p xmlns:a="http://schemas.openxmlformats.org/drawingml/2006/main">
            <a:r>
              <a:t>Source locators:</a:t>
            </a:r>
          </a:p>
          <a:p xmlns:a="http://schemas.openxmlformats.org/drawingml/2006/main">
            <a:r>
              <a:t>07_IIT_PATNA_HANDOFF/ACQUISITION_AND_MEASUREMENT_PROTOCOL.md</a:t>
            </a:r>
          </a:p>
          <a:p xmlns:a="http://schemas.openxmlformats.org/drawingml/2006/main">
            <a:r>
              <a:t>04_PAPER/IIT_PATNA_PENDING_MEASUREMENTS.md</a:t>
            </a:r>
          </a:p>
          <a:p xmlns:a="http://schemas.openxmlformats.org/drawingml/2006/main">
            <a:r>
              <a:t>Source SHA-256:</a:t>
            </a:r>
          </a:p>
          <a:p xmlns:a="http://schemas.openxmlformats.org/drawingml/2006/main">
            <a:r>
              <a:t>07_IIT_PATNA_HANDOFF/ACQUISITION_AND_MEASUREMENT_PROTOCOL.md ed0d692517f893e244caf50f81ce0665f1efdc7887c7500da6a142d7f96296bb</a:t>
            </a:r>
          </a:p>
          <a:p xmlns:a="http://schemas.openxmlformats.org/drawingml/2006/main">
            <a:r>
              <a:t>04_PAPER/IIT_PATNA_PENDING_MEASUREMENTS.md dab38ac32713cd02fab2aca3cfa32022292323f3a82940df2f9ec44bd2072fc9</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S31 — Mass measurement</a:t>
            </a:r>
          </a:p>
          <a:p xmlns:a="http://schemas.openxmlformats.org/drawingml/2006/main">
            <a:r>
              <a:t>Evidence class: CONCEPTUAL RIG</a:t>
            </a:r>
          </a:p>
          <a:p xmlns:a="http://schemas.openxmlformats.org/drawingml/2006/main">
            <a:r>
              <a:t>Supported claim IDs: Source-derived explanation</a:t>
            </a:r>
          </a:p>
          <a:p xmlns:a="http://schemas.openxmlformats.org/drawingml/2006/main">
            <a:r>
              <a:t>Use the chapter clip and pause at its final component view. All performance quantities remain pending. Ask the audience to identify the reference instrument, the recorded event and the uncertainty contribution. These clips are exact excerpts from the full narrated tour.</a:t>
            </a:r>
          </a:p>
          <a:p xmlns:a="http://schemas.openxmlformats.org/drawingml/2006/main">
            <a:r>
              <a:t>Source locators:</a:t>
            </a:r>
          </a:p>
          <a:p xmlns:a="http://schemas.openxmlformats.org/drawingml/2006/main">
            <a:r>
              <a:t>07_IIT_PATNA_HANDOFF/ACQUISITION_AND_MEASUREMENT_PROTOCOL.md</a:t>
            </a:r>
          </a:p>
          <a:p xmlns:a="http://schemas.openxmlformats.org/drawingml/2006/main">
            <a:r>
              <a:t>04_PAPER/IIT_PATNA_PENDING_MEASUREMENTS.md</a:t>
            </a:r>
          </a:p>
          <a:p xmlns:a="http://schemas.openxmlformats.org/drawingml/2006/main">
            <a:r>
              <a:t>Source SHA-256:</a:t>
            </a:r>
          </a:p>
          <a:p xmlns:a="http://schemas.openxmlformats.org/drawingml/2006/main">
            <a:r>
              <a:t>07_IIT_PATNA_HANDOFF/ACQUISITION_AND_MEASUREMENT_PROTOCOL.md ed0d692517f893e244caf50f81ce0665f1efdc7887c7500da6a142d7f96296bb</a:t>
            </a:r>
          </a:p>
          <a:p xmlns:a="http://schemas.openxmlformats.org/drawingml/2006/main">
            <a:r>
              <a:t>04_PAPER/IIT_PATNA_PENDING_MEASUREMENTS.md dab38ac32713cd02fab2aca3cfa32022292323f3a82940df2f9ec44bd2072fc9</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S32 — Independent recording and clocks</a:t>
            </a:r>
          </a:p>
          <a:p xmlns:a="http://schemas.openxmlformats.org/drawingml/2006/main">
            <a:r>
              <a:t>Evidence class: CONCEPTUAL RIG</a:t>
            </a:r>
          </a:p>
          <a:p xmlns:a="http://schemas.openxmlformats.org/drawingml/2006/main">
            <a:r>
              <a:t>Supported claim IDs: Source-derived explanation</a:t>
            </a:r>
          </a:p>
          <a:p xmlns:a="http://schemas.openxmlformats.org/drawingml/2006/main">
            <a:r>
              <a:t>Use the chapter clip and pause at its final component view. All performance quantities remain pending. Ask the audience to identify the reference instrument, the recorded event and the uncertainty contribution. These clips are exact excerpts from the full narrated tour.</a:t>
            </a:r>
          </a:p>
          <a:p xmlns:a="http://schemas.openxmlformats.org/drawingml/2006/main">
            <a:r>
              <a:t>Source locators:</a:t>
            </a:r>
          </a:p>
          <a:p xmlns:a="http://schemas.openxmlformats.org/drawingml/2006/main">
            <a:r>
              <a:t>07_IIT_PATNA_HANDOFF/ACQUISITION_AND_MEASUREMENT_PROTOCOL.md</a:t>
            </a:r>
          </a:p>
          <a:p xmlns:a="http://schemas.openxmlformats.org/drawingml/2006/main">
            <a:r>
              <a:t>04_PAPER/IIT_PATNA_PENDING_MEASUREMENTS.md</a:t>
            </a:r>
          </a:p>
          <a:p xmlns:a="http://schemas.openxmlformats.org/drawingml/2006/main">
            <a:r>
              <a:t>Source SHA-256:</a:t>
            </a:r>
          </a:p>
          <a:p xmlns:a="http://schemas.openxmlformats.org/drawingml/2006/main">
            <a:r>
              <a:t>07_IIT_PATNA_HANDOFF/ACQUISITION_AND_MEASUREMENT_PROTOCOL.md ed0d692517f893e244caf50f81ce0665f1efdc7887c7500da6a142d7f96296bb</a:t>
            </a:r>
          </a:p>
          <a:p xmlns:a="http://schemas.openxmlformats.org/drawingml/2006/main">
            <a:r>
              <a:t>04_PAPER/IIT_PATNA_PENDING_MEASUREMENTS.md dab38ac32713cd02fab2aca3cfa32022292323f3a82940df2f9ec44bd2072fc9</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S33 — Local interruption</a:t>
            </a:r>
          </a:p>
          <a:p xmlns:a="http://schemas.openxmlformats.org/drawingml/2006/main">
            <a:r>
              <a:t>Evidence class: CONCEPTUAL RIG</a:t>
            </a:r>
          </a:p>
          <a:p xmlns:a="http://schemas.openxmlformats.org/drawingml/2006/main">
            <a:r>
              <a:t>Supported claim IDs: Source-derived explanation</a:t>
            </a:r>
          </a:p>
          <a:p xmlns:a="http://schemas.openxmlformats.org/drawingml/2006/main">
            <a:r>
              <a:t>Use the chapter clip and pause at its final component view. All performance quantities remain pending. Ask the audience to identify the reference instrument, the recorded event and the uncertainty contribution. These clips are exact excerpts from the full narrated tour.</a:t>
            </a:r>
          </a:p>
          <a:p xmlns:a="http://schemas.openxmlformats.org/drawingml/2006/main">
            <a:r>
              <a:t>Source locators:</a:t>
            </a:r>
          </a:p>
          <a:p xmlns:a="http://schemas.openxmlformats.org/drawingml/2006/main">
            <a:r>
              <a:t>07_IIT_PATNA_HANDOFF/ACQUISITION_AND_MEASUREMENT_PROTOCOL.md</a:t>
            </a:r>
          </a:p>
          <a:p xmlns:a="http://schemas.openxmlformats.org/drawingml/2006/main">
            <a:r>
              <a:t>04_PAPER/IIT_PATNA_PENDING_MEASUREMENTS.md</a:t>
            </a:r>
          </a:p>
          <a:p xmlns:a="http://schemas.openxmlformats.org/drawingml/2006/main">
            <a:r>
              <a:t>Source SHA-256:</a:t>
            </a:r>
          </a:p>
          <a:p xmlns:a="http://schemas.openxmlformats.org/drawingml/2006/main">
            <a:r>
              <a:t>07_IIT_PATNA_HANDOFF/ACQUISITION_AND_MEASUREMENT_PROTOCOL.md ed0d692517f893e244caf50f81ce0665f1efdc7887c7500da6a142d7f96296bb</a:t>
            </a:r>
          </a:p>
          <a:p xmlns:a="http://schemas.openxmlformats.org/drawingml/2006/main">
            <a:r>
              <a:t>04_PAPER/IIT_PATNA_PENDING_MEASUREMENTS.md dab38ac32713cd02fab2aca3cfa32022292323f3a82940df2f9ec44bd2072fc9</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S34 — From indication to a measurement</a:t>
            </a:r>
          </a:p>
          <a:p xmlns:a="http://schemas.openxmlformats.org/drawingml/2006/main">
            <a:r>
              <a:t>Evidence class: PHYSICAL PROTOCOL</a:t>
            </a:r>
          </a:p>
          <a:p xmlns:a="http://schemas.openxmlformats.org/drawingml/2006/main">
            <a:r>
              <a:t>Supported claim IDs: Source-derived explanation</a:t>
            </a:r>
          </a:p>
          <a:p xmlns:a="http://schemas.openxmlformats.org/drawingml/2006/main">
            <a:r>
              <a:t>Mass indication is not automatically true outlet delivery. The definition must identify the outlet, transport delay and capture efficiency. The balance may settle after flow changes. Density and temperature are measured or supported by a valid model. An uncertainty budget must match the actual apparatus and interval.</a:t>
            </a:r>
          </a:p>
          <a:p xmlns:a="http://schemas.openxmlformats.org/drawingml/2006/main">
            <a:r>
              <a:t>Source locators:</a:t>
            </a:r>
          </a:p>
          <a:p xmlns:a="http://schemas.openxmlformats.org/drawingml/2006/main">
            <a:r>
              <a:t>07_IIT_PATNA_HANDOFF/ACQUISITION_AND_MEASUREMENT_PROTOCOL.md</a:t>
            </a:r>
          </a:p>
          <a:p xmlns:a="http://schemas.openxmlformats.org/drawingml/2006/main">
            <a:r>
              <a:t>Source SHA-256:</a:t>
            </a:r>
          </a:p>
          <a:p xmlns:a="http://schemas.openxmlformats.org/drawingml/2006/main">
            <a:r>
              <a:t>07_IIT_PATNA_HANDOFF/ACQUISITION_AND_MEASUREMENT_PROTOCOL.md ed0d692517f893e244caf50f81ce0665f1efdc7887c7500da6a142d7f96296bb</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S35 — Objective measurements at IIT Patna</a:t>
            </a:r>
          </a:p>
          <a:p xmlns:a="http://schemas.openxmlformats.org/drawingml/2006/main">
            <a:r>
              <a:t>Evidence class: PHYSICAL PROTOCOL</a:t>
            </a:r>
          </a:p>
          <a:p xmlns:a="http://schemas.openxmlformats.org/drawingml/2006/main">
            <a:r>
              <a:t>Supported claim IDs: Source-derived explanation</a:t>
            </a:r>
          </a:p>
          <a:p xmlns:a="http://schemas.openxmlformats.org/drawingml/2006/main">
            <a:r>
              <a:t>A camera can support an event record, but it is not automatically a calibrated flowmeter. The local load-cell signal and an independent reference must not be the same unexamined evidence. Never label the interlock “physically stopping flow” using only a software acknowledgment.</a:t>
            </a:r>
          </a:p>
          <a:p xmlns:a="http://schemas.openxmlformats.org/drawingml/2006/main">
            <a:r>
              <a:t>Source locators:</a:t>
            </a:r>
          </a:p>
          <a:p xmlns:a="http://schemas.openxmlformats.org/drawingml/2006/main">
            <a:r>
              <a:t>07_IIT_PATNA_HANDOFF/ACQUISITION_AND_MEASUREMENT_PROTOCOL.md</a:t>
            </a:r>
          </a:p>
          <a:p xmlns:a="http://schemas.openxmlformats.org/drawingml/2006/main">
            <a:r>
              <a:t>04_PAPER/IIT_PATNA_PENDING_MEASUREMENTS.md</a:t>
            </a:r>
          </a:p>
          <a:p xmlns:a="http://schemas.openxmlformats.org/drawingml/2006/main">
            <a:r>
              <a:t>Source SHA-256:</a:t>
            </a:r>
          </a:p>
          <a:p xmlns:a="http://schemas.openxmlformats.org/drawingml/2006/main">
            <a:r>
              <a:t>07_IIT_PATNA_HANDOFF/ACQUISITION_AND_MEASUREMENT_PROTOCOL.md ed0d692517f893e244caf50f81ce0665f1efdc7887c7500da6a142d7f96296bb</a:t>
            </a:r>
          </a:p>
          <a:p xmlns:a="http://schemas.openxmlformats.org/drawingml/2006/main">
            <a:r>
              <a:t>04_PAPER/IIT_PATNA_PENDING_MEASUREMENTS.md dab38ac32713cd02fab2aca3cfa32022292323f3a82940df2f9ec44bd2072fc9</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S36 — Calibration and temperature</a:t>
            </a:r>
          </a:p>
          <a:p xmlns:a="http://schemas.openxmlformats.org/drawingml/2006/main">
            <a:r>
              <a:t>Evidence class: CONCEPTUAL RIG</a:t>
            </a:r>
          </a:p>
          <a:p xmlns:a="http://schemas.openxmlformats.org/drawingml/2006/main">
            <a:r>
              <a:t>Supported claim IDs: Source-derived explanation</a:t>
            </a:r>
          </a:p>
          <a:p xmlns:a="http://schemas.openxmlformats.org/drawingml/2006/main">
            <a:r>
              <a:t>No mass class, certificate, sensor accuracy or vendor part is asserted. The separate probe vial avoids mechanically loading the receiver. Characterize whether that sample represents fluid temperature at the measurement boundary.</a:t>
            </a:r>
          </a:p>
          <a:p xmlns:a="http://schemas.openxmlformats.org/drawingml/2006/main">
            <a:r>
              <a:t>Source locators:</a:t>
            </a:r>
          </a:p>
          <a:p xmlns:a="http://schemas.openxmlformats.org/drawingml/2006/main">
            <a:r>
              <a:t>07_IIT_PATNA_HANDOFF/ACQUISITION_AND_MEASUREMENT_PROTOCOL.md</a:t>
            </a:r>
          </a:p>
          <a:p xmlns:a="http://schemas.openxmlformats.org/drawingml/2006/main">
            <a:r>
              <a:t>Source SHA-256:</a:t>
            </a:r>
          </a:p>
          <a:p xmlns:a="http://schemas.openxmlformats.org/drawingml/2006/main">
            <a:r>
              <a:t>07_IIT_PATNA_HANDOFF/ACQUISITION_AND_MEASUREMENT_PROTOCOL.md ed0d692517f893e244caf50f81ce0665f1efdc7887c7500da6a142d7f96296bb</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S37 — An immutable acquisition record</a:t>
            </a:r>
          </a:p>
          <a:p xmlns:a="http://schemas.openxmlformats.org/drawingml/2006/main">
            <a:r>
              <a:t>Evidence class: PHYSICAL PROTOCOL</a:t>
            </a:r>
          </a:p>
          <a:p xmlns:a="http://schemas.openxmlformats.org/drawingml/2006/main">
            <a:r>
              <a:t>Supported claim IDs: Source-derived explanation</a:t>
            </a:r>
          </a:p>
          <a:p xmlns:a="http://schemas.openxmlformats.org/drawingml/2006/main">
            <a:r>
              <a:t>The delivered validator checks data-contract consistency, not instrument accuracy. It never controls hardware. A successful validation only means the fields and rules passed. Calibration validity, physical uncertainty and experimental interpretation still require review.</a:t>
            </a:r>
          </a:p>
          <a:p xmlns:a="http://schemas.openxmlformats.org/drawingml/2006/main">
            <a:r>
              <a:t>Source locators:</a:t>
            </a:r>
          </a:p>
          <a:p xmlns:a="http://schemas.openxmlformats.org/drawingml/2006/main">
            <a:r>
              <a:t>07_IIT_PATNA_HANDOFF/ACQUISITION_AND_MEASUREMENT_PROTOCOL.md</a:t>
            </a:r>
          </a:p>
          <a:p xmlns:a="http://schemas.openxmlformats.org/drawingml/2006/main">
            <a:r>
              <a:t>07_IIT_PATNA_HANDOFF/tools/validate_acquisition.py</a:t>
            </a:r>
          </a:p>
          <a:p xmlns:a="http://schemas.openxmlformats.org/drawingml/2006/main">
            <a:r>
              <a:t>Source SHA-256:</a:t>
            </a:r>
          </a:p>
          <a:p xmlns:a="http://schemas.openxmlformats.org/drawingml/2006/main">
            <a:r>
              <a:t>07_IIT_PATNA_HANDOFF/ACQUISITION_AND_MEASUREMENT_PROTOCOL.md ed0d692517f893e244caf50f81ce0665f1efdc7887c7500da6a142d7f96296bb</a:t>
            </a:r>
          </a:p>
          <a:p xmlns:a="http://schemas.openxmlformats.org/drawingml/2006/main">
            <a:r>
              <a:t>07_IIT_PATNA_HANDOFF/tools/validate_acquisition.py 0c3f0eb692cf0a6e3d427624d81b0dff06913e2f73cbd69010919d871a95c3df</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S38 — Paper fields to fill after the build</a:t>
            </a:r>
          </a:p>
          <a:p xmlns:a="http://schemas.openxmlformats.org/drawingml/2006/main">
            <a:r>
              <a:t>Evidence class: PHYSICAL PROTOCOL</a:t>
            </a:r>
          </a:p>
          <a:p xmlns:a="http://schemas.openxmlformats.org/drawingml/2006/main">
            <a:r>
              <a:t>Supported claim IDs: Source-derived explanation</a:t>
            </a:r>
          </a:p>
          <a:p xmlns:a="http://schemas.openxmlformats.org/drawingml/2006/main">
            <a:r>
              <a:t>These are measurement tasks, not numbers to be estimated by the writing team. Do not remove pending markers merely because the rig is assembled; remove a marker only when its evidence, analysis and review are complete.</a:t>
            </a:r>
          </a:p>
          <a:p xmlns:a="http://schemas.openxmlformats.org/drawingml/2006/main">
            <a:r>
              <a:t>Source locators:</a:t>
            </a:r>
          </a:p>
          <a:p xmlns:a="http://schemas.openxmlformats.org/drawingml/2006/main">
            <a:r>
              <a:t>04_PAPER/IIT_PATNA_PENDING_MEASUREMENTS.md</a:t>
            </a:r>
          </a:p>
          <a:p xmlns:a="http://schemas.openxmlformats.org/drawingml/2006/main">
            <a:r>
              <a:t>07_IIT_PATNA_HANDOFF/ACQUISITION_AND_MEASUREMENT_PROTOCOL.md</a:t>
            </a:r>
          </a:p>
          <a:p xmlns:a="http://schemas.openxmlformats.org/drawingml/2006/main">
            <a:r>
              <a:t>Source SHA-256:</a:t>
            </a:r>
          </a:p>
          <a:p xmlns:a="http://schemas.openxmlformats.org/drawingml/2006/main">
            <a:r>
              <a:t>04_PAPER/IIT_PATNA_PENDING_MEASUREMENTS.md dab38ac32713cd02fab2aca3cfa32022292323f3a82940df2f9ec44bd2072fc9</a:t>
            </a:r>
          </a:p>
          <a:p xmlns:a="http://schemas.openxmlformats.org/drawingml/2006/main">
            <a:r>
              <a:t>07_IIT_PATNA_HANDOFF/ACQUISITION_AND_MEASUREMENT_PROTOCOL.md ed0d692517f893e244caf50f81ce0665f1efdc7887c7500da6a142d7f96296bb</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S39 — M01–M08: apparatus and metrology</a:t>
            </a:r>
          </a:p>
          <a:p xmlns:a="http://schemas.openxmlformats.org/drawingml/2006/main">
            <a:r>
              <a:t>Evidence class: PHYSICAL PROTOCOL</a:t>
            </a:r>
          </a:p>
          <a:p xmlns:a="http://schemas.openxmlformats.org/drawingml/2006/main">
            <a:r>
              <a:t>Supported claim IDs: Source-derived explanation</a:t>
            </a:r>
          </a:p>
          <a:p xmlns:a="http://schemas.openxmlformats.org/drawingml/2006/main">
            <a:r>
              <a:t>Use the exact M01–M16 checklist in the manuscript companion; this slide groups work for planning. Confirm each identifier against the authoritative table before assigning tasks. The presentation does not authorize an unsupervised medical experiment.</a:t>
            </a:r>
          </a:p>
          <a:p xmlns:a="http://schemas.openxmlformats.org/drawingml/2006/main">
            <a:r>
              <a:t>Source locators:</a:t>
            </a:r>
          </a:p>
          <a:p xmlns:a="http://schemas.openxmlformats.org/drawingml/2006/main">
            <a:r>
              <a:t>04_PAPER/IIT_PATNA_PENDING_MEASUREMENTS.md</a:t>
            </a:r>
          </a:p>
          <a:p xmlns:a="http://schemas.openxmlformats.org/drawingml/2006/main">
            <a:r>
              <a:t>Source SHA-256:</a:t>
            </a:r>
          </a:p>
          <a:p xmlns:a="http://schemas.openxmlformats.org/drawingml/2006/main">
            <a:r>
              <a:t>04_PAPER/IIT_PATNA_PENDING_MEASUREMENTS.md dab38ac32713cd02fab2aca3cfa32022292323f3a82940df2f9ec44bd2072fc9</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S40 — M09–M16: interruption and transfer</a:t>
            </a:r>
          </a:p>
          <a:p xmlns:a="http://schemas.openxmlformats.org/drawingml/2006/main">
            <a:r>
              <a:t>Evidence class: PHYSICAL PROTOCOL</a:t>
            </a:r>
          </a:p>
          <a:p xmlns:a="http://schemas.openxmlformats.org/drawingml/2006/main">
            <a:r>
              <a:t>Supported claim IDs: Source-derived explanation</a:t>
            </a:r>
          </a:p>
          <a:p xmlns:a="http://schemas.openxmlformats.org/drawingml/2006/main">
            <a:r>
              <a:t>These are grouped labels; the exact evidence requirements and manuscript insertion locations are in the M matrix. A safe-looking animation supplies none of these measurements.</a:t>
            </a:r>
          </a:p>
          <a:p xmlns:a="http://schemas.openxmlformats.org/drawingml/2006/main">
            <a:r>
              <a:t>Source locators:</a:t>
            </a:r>
          </a:p>
          <a:p xmlns:a="http://schemas.openxmlformats.org/drawingml/2006/main">
            <a:r>
              <a:t>04_PAPER/IIT_PATNA_PENDING_MEASUREMENTS.md</a:t>
            </a:r>
          </a:p>
          <a:p xmlns:a="http://schemas.openxmlformats.org/drawingml/2006/main">
            <a:r>
              <a:t>Source SHA-256:</a:t>
            </a:r>
          </a:p>
          <a:p xmlns:a="http://schemas.openxmlformats.org/drawingml/2006/main">
            <a:r>
              <a:t>04_PAPER/IIT_PATNA_PENDING_MEASUREMENTS.md dab38ac32713cd02fab2aca3cfa32022292323f3a82940df2f9ec44bd2072fc9</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S41 — What can be claimed now</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The paper is ready for team review as a simulation/methods manuscript. Publication acceptance is a reviewer decision. The scientific value includes the negative result: added monitor complexity did not earn an unconditional superiority claim.</a:t>
            </a:r>
          </a:p>
          <a:p xmlns:a="http://schemas.openxmlformats.org/drawingml/2006/main">
            <a:r>
              <a:t>Source locators:</a:t>
            </a:r>
          </a:p>
          <a:p xmlns:a="http://schemas.openxmlformats.org/drawingml/2006/main">
            <a:r>
              <a:t>04_PAPER/GECOv6_MANUSCRIPT.md</a:t>
            </a:r>
          </a:p>
          <a:p xmlns:a="http://schemas.openxmlformats.org/drawingml/2006/main">
            <a:r>
              <a:t>Source SHA-256:</a:t>
            </a:r>
          </a:p>
          <a:p xmlns:a="http://schemas.openxmlformats.org/drawingml/2006/main">
            <a:r>
              <a:t>04_PAPER/GECOv6_MANUSCRIPT.md 787d1d5372ebdf4ec8a88e0d3f7ac37c5cd61f3d8ccf2c786519027e72fb1c7c</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S42 — What remains before submission</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Hardware is not automatically required for every simulation paper. A submission can proceed on a carefully scoped simulation contribution if the venue accepts that scope. Hardware accuracy, physical cessation and clinical safety claims need the corresponding evidence; the manuscript does not make them.</a:t>
            </a:r>
          </a:p>
          <a:p xmlns:a="http://schemas.openxmlformats.org/drawingml/2006/main">
            <a:r>
              <a:t>Source locators:</a:t>
            </a:r>
          </a:p>
          <a:p xmlns:a="http://schemas.openxmlformats.org/drawingml/2006/main">
            <a:r>
              <a:t>04_PAPER/GECOv6_MANUSCRIPT.md</a:t>
            </a:r>
          </a:p>
          <a:p xmlns:a="http://schemas.openxmlformats.org/drawingml/2006/main">
            <a:r>
              <a:t>Source SHA-256:</a:t>
            </a:r>
          </a:p>
          <a:p xmlns:a="http://schemas.openxmlformats.org/drawingml/2006/main">
            <a:r>
              <a:t>04_PAPER/GECOv6_MANUSCRIPT.md 787d1d5372ebdf4ec8a88e0d3f7ac37c5cd61f3d8ccf2c786519027e72fb1c7c</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S43 — The research story</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Close by returning to the opening question. The contribution is more persuasive when the audience can see what would falsify it. Explain that future saline measurements can either support or challenge the assumed sensor and actuator behavior.</a:t>
            </a:r>
          </a:p>
          <a:p xmlns:a="http://schemas.openxmlformats.org/drawingml/2006/main">
            <a:r>
              <a:t>Source locators:</a:t>
            </a:r>
          </a:p>
          <a:p xmlns:a="http://schemas.openxmlformats.org/drawingml/2006/main">
            <a:r>
              <a:t>04_PAPER/GECOv6_MANUSCRIPT.md</a:t>
            </a:r>
          </a:p>
          <a:p xmlns:a="http://schemas.openxmlformats.org/drawingml/2006/main">
            <a:r>
              <a:t>Source SHA-256:</a:t>
            </a:r>
          </a:p>
          <a:p xmlns:a="http://schemas.openxmlformats.org/drawingml/2006/main">
            <a:r>
              <a:t>04_PAPER/GECOv6_MANUSCRIPT.md 787d1d5372ebdf4ec8a88e0d3f7ac37c5cd61f3d8ccf2c786519027e72fb1c7c</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S44 — Technical: prediction and calibration</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Refer to the paper equations and exact frozen configuration for numerical details. The filter uses a Joseph covariance update and records reset behavior. Separate one-step innovation coverage from 30-minute forecast coverage.</a:t>
            </a:r>
          </a:p>
          <a:p xmlns:a="http://schemas.openxmlformats.org/drawingml/2006/main">
            <a:r>
              <a:t>Source locators:</a:t>
            </a:r>
          </a:p>
          <a:p xmlns:a="http://schemas.openxmlformats.org/drawingml/2006/main">
            <a:r>
              <a:t>03_EXPERIMENTS/filter_calibration/AGGREGATE_RESULTS.json</a:t>
            </a:r>
          </a:p>
          <a:p xmlns:a="http://schemas.openxmlformats.org/drawingml/2006/main">
            <a:r>
              <a:t>04_PAPER/GECOv6_MANUSCRIPT.md</a:t>
            </a:r>
          </a:p>
          <a:p xmlns:a="http://schemas.openxmlformats.org/drawingml/2006/main">
            <a:r>
              <a:t>Source SHA-256:</a:t>
            </a:r>
          </a:p>
          <a:p xmlns:a="http://schemas.openxmlformats.org/drawingml/2006/main">
            <a:r>
              <a:t>03_EXPERIMENTS/filter_calibration/AGGREGATE_RESULTS.json 1b6a4899b849bdc64f3341a80d66f3e09c6fc63ab78122353818544f43deb1ec</a:t>
            </a:r>
          </a:p>
          <a:p xmlns:a="http://schemas.openxmlformats.org/drawingml/2006/main">
            <a:r>
              <a:t>04_PAPER/GECOv6_MANUSCRIPT.md 787d1d5372ebdf4ec8a88e0d3f7ac37c5cd61f3d8ccf2c786519027e72fb1c7c</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S45 — Technical: model assumptions</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These are simulation assumptions, not measured specifications of the proposed saline rig. The calibrated synthetic balance scale is not a traceable physical uncertainty. The actuator also adds configured positive-command noise and the study records all delivered values.</a:t>
            </a:r>
          </a:p>
          <a:p xmlns:a="http://schemas.openxmlformats.org/drawingml/2006/main">
            <a:r>
              <a:t>Source locators:</a:t>
            </a:r>
          </a:p>
          <a:p xmlns:a="http://schemas.openxmlformats.org/drawingml/2006/main">
            <a:r>
              <a:t>04_PAPER/GECOv6_MANUSCRIPT.md</a:t>
            </a:r>
          </a:p>
          <a:p xmlns:a="http://schemas.openxmlformats.org/drawingml/2006/main">
            <a:r>
              <a:t>Source SHA-256:</a:t>
            </a:r>
          </a:p>
          <a:p xmlns:a="http://schemas.openxmlformats.org/drawingml/2006/main">
            <a:r>
              <a:t>04_PAPER/GECOv6_MANUSCRIPT.md 787d1d5372ebdf4ec8a88e0d3f7ac37c5cd61f3d8ccf2c786519027e72fb1c7c</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S46 — Technical: uncertainty and pairing</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A large number of five-minute samples does not create the same number of independent subjects. HUPA0027P contributes 41,285 of 77,110 forecast pairs, which is why equal participant weighting and participant bootstrap matter.</a:t>
            </a:r>
          </a:p>
          <a:p xmlns:a="http://schemas.openxmlformats.org/drawingml/2006/main">
            <a:r>
              <a:t>Source locators:</a:t>
            </a:r>
          </a:p>
          <a:p xmlns:a="http://schemas.openxmlformats.org/drawingml/2006/main">
            <a:r>
              <a:t>03_EXPERIMENTS/filter_calibration/AGGREGATE_RESULTS.json</a:t>
            </a:r>
          </a:p>
          <a:p xmlns:a="http://schemas.openxmlformats.org/drawingml/2006/main">
            <a:r>
              <a:t>03_EXPERIMENTS/comparative_study/PAIRED_PARAMETER_UNIT_CI.json</a:t>
            </a:r>
          </a:p>
          <a:p xmlns:a="http://schemas.openxmlformats.org/drawingml/2006/main">
            <a:r>
              <a:t>04_PAPER/GECOv6_MANUSCRIPT.md</a:t>
            </a:r>
          </a:p>
          <a:p xmlns:a="http://schemas.openxmlformats.org/drawingml/2006/main">
            <a:r>
              <a:t>Source SHA-256:</a:t>
            </a:r>
          </a:p>
          <a:p xmlns:a="http://schemas.openxmlformats.org/drawingml/2006/main">
            <a:r>
              <a:t>03_EXPERIMENTS/filter_calibration/AGGREGATE_RESULTS.json 1b6a4899b849bdc64f3341a80d66f3e09c6fc63ab78122353818544f43deb1ec</a:t>
            </a:r>
          </a:p>
          <a:p xmlns:a="http://schemas.openxmlformats.org/drawingml/2006/main">
            <a:r>
              <a:t>03_EXPERIMENTS/comparative_study/PAIRED_PARAMETER_UNIT_CI.json a3b601d26949969c2675e0e5461db7a1bb3f4351252533ec44e124b01f269dd2</a:t>
            </a:r>
          </a:p>
          <a:p xmlns:a="http://schemas.openxmlformats.org/drawingml/2006/main">
            <a:r>
              <a:t>04_PAPER/GECOv6_MANUSCRIPT.md 787d1d5372ebdf4ec8a88e0d3f7ac37c5cd61f3d8ccf2c786519027e72fb1c7c</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S47 — Technical: prior work and distinction</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Consult the numbered manuscript references and source ledger for exact DOI, year, title and access limits. Use primary sources for factual attribution; preserve metadata-only limitations where full text was inaccessible.</a:t>
            </a:r>
          </a:p>
          <a:p xmlns:a="http://schemas.openxmlformats.org/drawingml/2006/main">
            <a:r>
              <a:t>Source locators:</a:t>
            </a:r>
          </a:p>
          <a:p xmlns:a="http://schemas.openxmlformats.org/drawingml/2006/main">
            <a:r>
              <a:t>01_RESEARCH_PROTOCOL/literature_editorial/SOURCE_LEDGER.json</a:t>
            </a:r>
          </a:p>
          <a:p xmlns:a="http://schemas.openxmlformats.org/drawingml/2006/main">
            <a:r>
              <a:t>04_PAPER/GECOv6_MANUSCRIPT.md</a:t>
            </a:r>
          </a:p>
          <a:p xmlns:a="http://schemas.openxmlformats.org/drawingml/2006/main">
            <a:r>
              <a:t>Source SHA-256:</a:t>
            </a:r>
          </a:p>
          <a:p xmlns:a="http://schemas.openxmlformats.org/drawingml/2006/main">
            <a:r>
              <a:t>01_RESEARCH_PROTOCOL/literature_editorial/SOURCE_LEDGER.json ac71d77af712c2b4fad3a00f04e47a7eec4a0fc2e5d0398f54120f79a01af663</a:t>
            </a:r>
          </a:p>
          <a:p xmlns:a="http://schemas.openxmlformats.org/drawingml/2006/main">
            <a:r>
              <a:t>04_PAPER/GECOv6_MANUSCRIPT.md 787d1d5372ebdf4ec8a88e0d3f7ac37c5cd61f3d8ccf2c786519027e72fb1c7c</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S48 — Technical: originality and provenance</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The work includes AI-assisted code, analysis, text and visuals. Style changes must not alter numerical results or erase assistance provenance. A zero exact 12 word overlap finding is not a comprehensive plagiarism check and does not cover a proprietary publication database.</a:t>
            </a:r>
          </a:p>
          <a:p xmlns:a="http://schemas.openxmlformats.org/drawingml/2006/main">
            <a:r>
              <a:t>Source locators:</a:t>
            </a:r>
          </a:p>
          <a:p xmlns:a="http://schemas.openxmlformats.org/drawingml/2006/main">
            <a:r>
              <a:t>08_REVIEW_AND_QA/editorial/FINAL_MANUSCRIPT_LOCAL_OVERLAP.json</a:t>
            </a:r>
          </a:p>
          <a:p xmlns:a="http://schemas.openxmlformats.org/drawingml/2006/main">
            <a:r>
              <a:t>04_PAPER/GECOv6_MANUSCRIPT.md</a:t>
            </a:r>
          </a:p>
          <a:p xmlns:a="http://schemas.openxmlformats.org/drawingml/2006/main">
            <a:r>
              <a:t>Source SHA-256:</a:t>
            </a:r>
          </a:p>
          <a:p xmlns:a="http://schemas.openxmlformats.org/drawingml/2006/main">
            <a:r>
              <a:t>08_REVIEW_AND_QA/editorial/FINAL_MANUSCRIPT_LOCAL_OVERLAP.json b45eed552398bbf582c1aa16fd3595a9bd9773e85f34f9cdf40b468d92e0723d</a:t>
            </a:r>
          </a:p>
          <a:p xmlns:a="http://schemas.openxmlformats.org/drawingml/2006/main">
            <a:r>
              <a:t>04_PAPER/GECOv6_MANUSCRIPT.md 787d1d5372ebdf4ec8a88e0d3f7ac37c5cd61f3d8ccf2c786519027e72fb1c7c</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S49 — Technical: reproduce and inspect</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The all-in-one package contains the source and native media projects. External build tools and environments are documented. Never present a simulator replay as a physical measurement. Any sharing of the private prior archive requires a separate rights and privacy review.</a:t>
            </a:r>
          </a:p>
          <a:p xmlns:a="http://schemas.openxmlformats.org/drawingml/2006/main">
            <a:r>
              <a:t>Source locators:</a:t>
            </a:r>
          </a:p>
          <a:p xmlns:a="http://schemas.openxmlformats.org/drawingml/2006/main">
            <a:r>
              <a:t>04_PAPER/GECOv6_MANUSCRIPT.md</a:t>
            </a:r>
          </a:p>
          <a:p xmlns:a="http://schemas.openxmlformats.org/drawingml/2006/main">
            <a:r>
              <a:t>Source SHA-256:</a:t>
            </a:r>
          </a:p>
          <a:p xmlns:a="http://schemas.openxmlformats.org/drawingml/2006/main">
            <a:r>
              <a:t>04_PAPER/GECOv6_MANUSCRIPT.md 787d1d5372ebdf4ec8a88e0d3f7ac37c5cd61f3d8ccf2c786519027e72fb1c7c</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b1edbc9ce64420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1242be32c4a4952" /><Relationship Type="http://schemas.openxmlformats.org/officeDocument/2006/relationships/slideLayout" Target="/ppt/slideLayouts/slideLayout1.xml" Id="R2b51ed312e6f42b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b51ed312e6f42b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3e6ba9902f54bc1" /><Relationship Type="http://schemas.openxmlformats.org/officeDocument/2006/relationships/notesSlide" Target="/ppt/notesSlides/notesSlide1.xml" Id="Rc36f6687834c476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7c79fab6af841dd" /><Relationship Type="http://schemas.openxmlformats.org/officeDocument/2006/relationships/notesSlide" Target="/ppt/notesSlides/notesSlide2.xml" Id="R9fbd6986c63b40a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ad2cb9edf654e39" /><Relationship Type="http://schemas.openxmlformats.org/officeDocument/2006/relationships/notesSlide" Target="/ppt/notesSlides/notesSlide3.xml" Id="R6f3f3cb70ec448c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13ab865ce484781" /><Relationship Type="http://schemas.openxmlformats.org/officeDocument/2006/relationships/notesSlide" Target="/ppt/notesSlides/notesSlide4.xml" Id="R45fabdeef9ff467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0aa1da493144fb0" /><Relationship Type="http://schemas.openxmlformats.org/officeDocument/2006/relationships/notesSlide" Target="/ppt/notesSlides/notesSlide5.xml" Id="R2e4a04cc29b744c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7c17f4b752b4e64" /><Relationship Type="http://schemas.openxmlformats.org/officeDocument/2006/relationships/notesSlide" Target="/ppt/notesSlides/notesSlide6.xml" Id="Rae6821df0334436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1fe6a2e80f14de8" /><Relationship Type="http://schemas.openxmlformats.org/officeDocument/2006/relationships/notesSlide" Target="/ppt/notesSlides/notesSlide7.xml" Id="R0ab23845aad6400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eaa6179ed124711" /><Relationship Type="http://schemas.openxmlformats.org/officeDocument/2006/relationships/chart" Target="/ppt/slides/charts/chart1.xml" Id="R0a9be2d675304197" /><Relationship Type="http://schemas.openxmlformats.org/officeDocument/2006/relationships/notesSlide" Target="/ppt/notesSlides/notesSlide8.xml" Id="R2ba2096c7dfe47b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78ee6e11a684e43" /><Relationship Type="http://schemas.openxmlformats.org/officeDocument/2006/relationships/notesSlide" Target="/ppt/notesSlides/notesSlide9.xml" Id="Rd29f8a0f1ecc43f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21c788880fe487e" /><Relationship Type="http://schemas.openxmlformats.org/officeDocument/2006/relationships/notesSlide" Target="/ppt/notesSlides/notesSlide10.xml" Id="Racc7b789a37f476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e5b059124994f5a" /><Relationship Type="http://schemas.openxmlformats.org/officeDocument/2006/relationships/notesSlide" Target="/ppt/notesSlides/notesSlide11.xml" Id="R384f725dd29047e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83eda0aec5c479c" /><Relationship Type="http://schemas.openxmlformats.org/officeDocument/2006/relationships/notesSlide" Target="/ppt/notesSlides/notesSlide12.xml" Id="R8a1b487a8837455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57ba5f3e2b14d31" /><Relationship Type="http://schemas.openxmlformats.org/officeDocument/2006/relationships/notesSlide" Target="/ppt/notesSlides/notesSlide13.xml" Id="R787594feeb2f43b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8dda30caf724bbc" /><Relationship Type="http://schemas.openxmlformats.org/officeDocument/2006/relationships/notesSlide" Target="/ppt/notesSlides/notesSlide14.xml" Id="R4fa1ec12ee2e46f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55748c1619545d2" /><Relationship Type="http://schemas.openxmlformats.org/officeDocument/2006/relationships/notesSlide" Target="/ppt/notesSlides/notesSlide15.xml" Id="Rb1238e4786044db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a6e73adc221472d" /><Relationship Type="http://schemas.openxmlformats.org/officeDocument/2006/relationships/notesSlide" Target="/ppt/notesSlides/notesSlide16.xml" Id="Rbbf409ce6c3147d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03588f0040a4273" /><Relationship Type="http://schemas.openxmlformats.org/officeDocument/2006/relationships/notesSlide" Target="/ppt/notesSlides/notesSlide17.xml" Id="R91640eec555b425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68b64aba74241cf" /><Relationship Type="http://schemas.openxmlformats.org/officeDocument/2006/relationships/notesSlide" Target="/ppt/notesSlides/notesSlide18.xml" Id="R9f61c495b6a1437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65d602b215b4f24" /><Relationship Type="http://schemas.openxmlformats.org/officeDocument/2006/relationships/notesSlide" Target="/ppt/notesSlides/notesSlide19.xml" Id="R1b444164f49b4b2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35dc2fb83e94d9e" /><Relationship Type="http://schemas.openxmlformats.org/officeDocument/2006/relationships/notesSlide" Target="/ppt/notesSlides/notesSlide20.xml" Id="R8b4fa1a8092e43a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b807f8b4c888418b" /><Relationship Type="http://schemas.openxmlformats.org/officeDocument/2006/relationships/notesSlide" Target="/ppt/notesSlides/notesSlide21.xml" Id="Rd3a4c621c8bd44e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19ca30e9c5ab4d9e" /><Relationship Type="http://schemas.openxmlformats.org/officeDocument/2006/relationships/notesSlide" Target="/ppt/notesSlides/notesSlide22.xml" Id="Rdb7a291d275447b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59acc88d989849cd" /><Relationship Type="http://schemas.openxmlformats.org/officeDocument/2006/relationships/notesSlide" Target="/ppt/notesSlides/notesSlide23.xml" Id="R8de106305a86421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943d13b369c240c7" /><Relationship Type="http://schemas.openxmlformats.org/officeDocument/2006/relationships/image" Target="/ppt/media/image.png" Id="Rbd18c6177cc74dc4" /><Relationship Type="http://schemas.openxmlformats.org/officeDocument/2006/relationships/notesSlide" Target="/ppt/notesSlides/notesSlide24.xml" Id="R50a007f4301a4ba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d4975420942b44a8" /><Relationship Type="http://schemas.openxmlformats.org/officeDocument/2006/relationships/image" Target="/ppt/media/image2.png" Id="R337d18157b404f61" /><Relationship Type="http://schemas.openxmlformats.org/officeDocument/2006/relationships/notesSlide" Target="/ppt/notesSlides/notesSlide25.xml" Id="R3cacc8ed7b584e5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412350ceda264922" /><Relationship Type="http://schemas.openxmlformats.org/officeDocument/2006/relationships/image" Target="/ppt/media/image3.png" Id="R199b7b2eab124ba8" /><Relationship Type="http://schemas.openxmlformats.org/officeDocument/2006/relationships/notesSlide" Target="/ppt/notesSlides/notesSlide26.xml" Id="Rb546bb442aaf45b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5960ce452d6143af" /><Relationship Type="http://schemas.openxmlformats.org/officeDocument/2006/relationships/image" Target="/ppt/media/image4.png" Id="Re093d29b7a5242e3" /><Relationship Type="http://schemas.openxmlformats.org/officeDocument/2006/relationships/notesSlide" Target="/ppt/notesSlides/notesSlide27.xml" Id="R4b67c17ee7a646f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ee1ea8c448dc49ba" /><Relationship Type="http://schemas.openxmlformats.org/officeDocument/2006/relationships/image" Target="/ppt/media/image5.png" Id="R42fd2db3a4994efa" /><Relationship Type="http://schemas.openxmlformats.org/officeDocument/2006/relationships/notesSlide" Target="/ppt/notesSlides/notesSlide28.xml" Id="R897089439cd749f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12d6b3752e6d4fa3" /><Relationship Type="http://schemas.openxmlformats.org/officeDocument/2006/relationships/image" Target="/ppt/media/image6.png" Id="R71c70d4dbd6a4583" /><Relationship Type="http://schemas.openxmlformats.org/officeDocument/2006/relationships/notesSlide" Target="/ppt/notesSlides/notesSlide29.xml" Id="Rfce1f3a5e5e844c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c996ada0155042dd" /><Relationship Type="http://schemas.openxmlformats.org/officeDocument/2006/relationships/image" Target="/ppt/media/image7.png" Id="R0bcc8cb8e0d14627" /><Relationship Type="http://schemas.openxmlformats.org/officeDocument/2006/relationships/notesSlide" Target="/ppt/notesSlides/notesSlide30.xml" Id="R71df09c63a464e1f"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6eb883c0eb0e47fc" /><Relationship Type="http://schemas.openxmlformats.org/officeDocument/2006/relationships/image" Target="/ppt/media/image8.png" Id="Ra0c06cf31108442b" /><Relationship Type="http://schemas.openxmlformats.org/officeDocument/2006/relationships/notesSlide" Target="/ppt/notesSlides/notesSlide31.xml" Id="Re3d45cb4690b4ca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55840a2b6dde432a" /><Relationship Type="http://schemas.openxmlformats.org/officeDocument/2006/relationships/image" Target="/ppt/media/image9.png" Id="R17ca61751eed4d38" /><Relationship Type="http://schemas.openxmlformats.org/officeDocument/2006/relationships/notesSlide" Target="/ppt/notesSlides/notesSlide32.xml" Id="Re50aa7632fba46cd"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ff48f7ea16b2418f" /><Relationship Type="http://schemas.openxmlformats.org/officeDocument/2006/relationships/image" Target="/ppt/media/image10.png" Id="R15ab940dab184815" /><Relationship Type="http://schemas.openxmlformats.org/officeDocument/2006/relationships/notesSlide" Target="/ppt/notesSlides/notesSlide33.xml" Id="Raf36669728e34f75"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16de36cdfb5a478e" /><Relationship Type="http://schemas.openxmlformats.org/officeDocument/2006/relationships/notesSlide" Target="/ppt/notesSlides/notesSlide34.xml" Id="Ra1b7bac4e0274bca"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840d8655badf4d99" /><Relationship Type="http://schemas.openxmlformats.org/officeDocument/2006/relationships/notesSlide" Target="/ppt/notesSlides/notesSlide35.xml" Id="R6ea1145ace3b4929"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f2e55f0f7bc94602" /><Relationship Type="http://schemas.openxmlformats.org/officeDocument/2006/relationships/image" Target="/ppt/media/image11.png" Id="R805782ab101a4b0d" /><Relationship Type="http://schemas.openxmlformats.org/officeDocument/2006/relationships/notesSlide" Target="/ppt/notesSlides/notesSlide36.xml" Id="R305df1d56b3e4896"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9dd260b6888a4d14" /><Relationship Type="http://schemas.openxmlformats.org/officeDocument/2006/relationships/notesSlide" Target="/ppt/notesSlides/notesSlide37.xml" Id="R41175a7bbfdf4727"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84e2e619ae024fa2" /><Relationship Type="http://schemas.openxmlformats.org/officeDocument/2006/relationships/notesSlide" Target="/ppt/notesSlides/notesSlide38.xml" Id="Ra69bc854e86049c8"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cbd0bd229a184a7e" /><Relationship Type="http://schemas.openxmlformats.org/officeDocument/2006/relationships/notesSlide" Target="/ppt/notesSlides/notesSlide39.xml" Id="R6801ef58e06347ae"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3ff1c13a42df4b84" /><Relationship Type="http://schemas.openxmlformats.org/officeDocument/2006/relationships/notesSlide" Target="/ppt/notesSlides/notesSlide40.xml" Id="R692dd181b0c84aa8"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d42698e0399a4ec1" /><Relationship Type="http://schemas.openxmlformats.org/officeDocument/2006/relationships/notesSlide" Target="/ppt/notesSlides/notesSlide41.xml" Id="Rc95b615a58bc4e39"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d440245b5e9f4155" /><Relationship Type="http://schemas.openxmlformats.org/officeDocument/2006/relationships/notesSlide" Target="/ppt/notesSlides/notesSlide42.xml" Id="R9278c82c506347cf"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648950e6ebba4610" /><Relationship Type="http://schemas.openxmlformats.org/officeDocument/2006/relationships/notesSlide" Target="/ppt/notesSlides/notesSlide43.xml" Id="R6e3cc941c34447c7"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f0a26171bbb74d29" /><Relationship Type="http://schemas.openxmlformats.org/officeDocument/2006/relationships/notesSlide" Target="/ppt/notesSlides/notesSlide44.xml" Id="R1b9c1c235b204c18"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89c22c262d89487c" /><Relationship Type="http://schemas.openxmlformats.org/officeDocument/2006/relationships/notesSlide" Target="/ppt/notesSlides/notesSlide45.xml" Id="Rb061b2589fd641bd"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a4ac69b2e1834452" /><Relationship Type="http://schemas.openxmlformats.org/officeDocument/2006/relationships/notesSlide" Target="/ppt/notesSlides/notesSlide46.xml" Id="R1a425269a4ac425b"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0b3bc035d0014641" /><Relationship Type="http://schemas.openxmlformats.org/officeDocument/2006/relationships/notesSlide" Target="/ppt/notesSlides/notesSlide47.xml" Id="R1ed1279fb69a4837"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beb1cc34eb7248df" /><Relationship Type="http://schemas.openxmlformats.org/officeDocument/2006/relationships/notesSlide" Target="/ppt/notesSlides/notesSlide48.xml" Id="Rc6037b60f6814b73"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0919b435d23142c6" /><Relationship Type="http://schemas.openxmlformats.org/officeDocument/2006/relationships/notesSlide" Target="/ppt/notesSlides/notesSlide49.xml" Id="R08e42d57fce14d7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Median participant RMSE (mg/dL)</c:v>
          </c:tx>
          <c:cat>
            <c:strRef>
              <c:f>'Chart Data'!$A$2:$A$5</c:f>
              <c:strCache>
                <c:ptCount val="4"/>
                <c:pt idx="0">
                  <c:v>Mechanistic</c:v>
                </c:pt>
                <c:pt idx="1">
                  <c:v>Persistence</c:v>
                </c:pt>
                <c:pt idx="2">
                  <c:v>Trend</c:v>
                </c:pt>
                <c:pt idx="3">
                  <c:v>Selected on tune</c:v>
                </c:pt>
              </c:strCache>
            </c:strRef>
          </c:cat>
          <c:val>
            <c:numRef>
              <c:f>'Chart Data'!$B$2:$B$5</c:f>
              <c:numCache>
                <c:formatCode>0.0</c:formatCode>
                <c:ptCount val="4"/>
                <c:pt idx="0">
                  <c:v>25.773272</c:v>
                </c:pt>
                <c:pt idx="1">
                  <c:v>22.562943</c:v>
                </c:pt>
                <c:pt idx="2">
                  <c:v>17.831132</c:v>
                </c:pt>
                <c:pt idx="3">
                  <c:v>17.593207</c:v>
                </c:pt>
              </c:numCache>
            </c:numRef>
          </c:val>
        </c:ser>
        <c:dLbls>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catAx>
      <c:valAx>
        <c:axId val="48672768"/>
        <c:scaling>
          <c:orientation val="minMax"/>
          <c:min val="0"/>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05DD6608-8517-4CEA-BD3C-2FEEDC9B6E4F}"/>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132E40"/>
                </a:solidFill>
                <a:latin typeface="Arial"/>
                <a:ea typeface="Arial"/>
                <a:cs typeface="Arial"/>
              </a:defRPr>
            </a:pPr>
            <a:r>
              <a:rPr sz="4050" b="1">
                <a:solidFill>
                  <a:srgbClr val="132E40"/>
                </a:solidFill>
                <a:latin typeface="Arial"/>
                <a:ea typeface="Arial"/>
                <a:cs typeface="Arial"/>
              </a:rPr>
              <a:t>GECO: evidence, intervention and recovery</a:t>
            </a:r>
          </a:p>
        </p:txBody>
      </p:sp>
      <p:sp>
        <p:nvSpPr>
          <p:cNvPr id="2" name="section">
            <a:extLst xmlns:a="http://schemas.openxmlformats.org/drawingml/2006/main">
              <a:ext uri="{FF2B5EF4-FFF2-40B4-BE49-F238E27FC236}">
                <a16:creationId xmlns:a16="http://schemas.microsoft.com/office/drawing/2014/main" id="{C2C2B319-15FF-4B97-ACE1-1FCCEB804E8E}"/>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RESEARCH QUESTION</a:t>
            </a:r>
          </a:p>
        </p:txBody>
      </p:sp>
      <p:sp>
        <p:nvSpPr>
          <p:cNvPr id="3" name="footer">
            <a:extLst xmlns:a="http://schemas.openxmlformats.org/drawingml/2006/main">
              <a:ext uri="{FF2B5EF4-FFF2-40B4-BE49-F238E27FC236}">
                <a16:creationId xmlns:a16="http://schemas.microsoft.com/office/drawing/2014/main" id="{51D47F7A-8D95-4540-8A4F-5D99DB84280A}"/>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1 / 49</a:t>
            </a:r>
          </a:p>
        </p:txBody>
      </p:sp>
      <p:sp>
        <p:nvSpPr>
          <p:cNvPr id="4" name="body0">
            <a:extLst xmlns:a="http://schemas.openxmlformats.org/drawingml/2006/main">
              <a:ext uri="{FF2B5EF4-FFF2-40B4-BE49-F238E27FC236}">
                <a16:creationId xmlns:a16="http://schemas.microsoft.com/office/drawing/2014/main" id="{C681E115-240B-4861-A449-AF3C9E852A23}"/>
              </a:ext>
            </a:extLst>
          </p:cNvPr>
          <p:cNvSpPr>
            <a:spLocks xmlns:a="http://schemas.openxmlformats.org/drawingml/2006/main" noGrp="1"/>
          </p:cNvSpPr>
          <p:nvPr/>
        </p:nvSpPr>
        <p:spPr>
          <a:xfrm xmlns:a="http://schemas.openxmlformats.org/drawingml/2006/main">
            <a:off x="685800" y="2095500"/>
            <a:ext cx="107156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132E40"/>
                </a:solidFill>
                <a:latin typeface="Arial"/>
                <a:ea typeface="Arial"/>
                <a:cs typeface="Arial"/>
              </a:defRPr>
            </a:pPr>
            <a:r>
              <a:rPr sz="2775" b="1">
                <a:solidFill>
                  <a:srgbClr val="132E40"/>
                </a:solidFill>
                <a:latin typeface="Arial"/>
                <a:ea typeface="Arial"/>
                <a:cs typeface="Arial"/>
              </a:rPr>
              <a:t>A reproducible simulation and methods study</a:t>
            </a:r>
          </a:p>
        </p:txBody>
      </p:sp>
      <p:sp>
        <p:nvSpPr>
          <p:cNvPr id="5" name="body1">
            <a:extLst xmlns:a="http://schemas.openxmlformats.org/drawingml/2006/main">
              <a:ext uri="{FF2B5EF4-FFF2-40B4-BE49-F238E27FC236}">
                <a16:creationId xmlns:a16="http://schemas.microsoft.com/office/drawing/2014/main" id="{6678332E-57A2-4548-906E-64234C277A2A}"/>
              </a:ext>
            </a:extLst>
          </p:cNvPr>
          <p:cNvSpPr>
            <a:spLocks xmlns:a="http://schemas.openxmlformats.org/drawingml/2006/main" noGrp="1"/>
          </p:cNvSpPr>
          <p:nvPr/>
        </p:nvSpPr>
        <p:spPr>
          <a:xfrm xmlns:a="http://schemas.openxmlformats.org/drawingml/2006/main">
            <a:off x="685800" y="3095625"/>
            <a:ext cx="107156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06579"/>
                </a:solidFill>
                <a:latin typeface="Arial"/>
                <a:ea typeface="Arial"/>
                <a:cs typeface="Arial"/>
              </a:defRPr>
            </a:pPr>
            <a:r>
              <a:rPr sz="2100" b="0">
                <a:solidFill>
                  <a:srgbClr val="506579"/>
                </a:solidFill>
                <a:latin typeface="Arial"/>
                <a:ea typeface="Arial"/>
                <a:cs typeface="Arial"/>
              </a:rPr>
              <a:t>Corrected prediction · matched comparisons · a measurable saline rig</a:t>
            </a:r>
          </a:p>
        </p:txBody>
      </p:sp>
      <p:sp>
        <p:nvSpPr>
          <p:cNvPr id="6" name="body2">
            <a:extLst xmlns:a="http://schemas.openxmlformats.org/drawingml/2006/main">
              <a:ext uri="{FF2B5EF4-FFF2-40B4-BE49-F238E27FC236}">
                <a16:creationId xmlns:a16="http://schemas.microsoft.com/office/drawing/2014/main" id="{127471CC-E6F3-4BA7-93F9-0F954F967F35}"/>
              </a:ext>
            </a:extLst>
          </p:cNvPr>
          <p:cNvSpPr>
            <a:spLocks xmlns:a="http://schemas.openxmlformats.org/drawingml/2006/main" noGrp="1"/>
          </p:cNvSpPr>
          <p:nvPr/>
        </p:nvSpPr>
        <p:spPr>
          <a:xfrm xmlns:a="http://schemas.openxmlformats.org/drawingml/2006/main">
            <a:off x="685800" y="4095750"/>
            <a:ext cx="107156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06579"/>
                </a:solidFill>
                <a:latin typeface="Arial"/>
                <a:ea typeface="Arial"/>
                <a:cs typeface="Arial"/>
              </a:defRPr>
            </a:pPr>
            <a:r>
              <a:rPr sz="2100" b="0">
                <a:solidFill>
                  <a:srgbClr val="506579"/>
                </a:solidFill>
                <a:latin typeface="Arial"/>
                <a:ea typeface="Arial"/>
                <a:cs typeface="Arial"/>
              </a:rPr>
              <a:t>IEEE-style research seminar | team and author details to be completed</a:t>
            </a:r>
          </a:p>
        </p:txBody>
      </p:sp>
    </p:spTree>
    <p:extLst>
      <p:ext uri="{BB962C8B-B14F-4D97-AF65-F5344CB8AC3E}">
        <p14:creationId xmlns:p14="http://schemas.microsoft.com/office/powerpoint/2010/main" val="125596996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6E0137F3-869E-4131-8804-2D42E43BBFE5}"/>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The motivating question</a:t>
            </a:r>
          </a:p>
        </p:txBody>
      </p:sp>
      <p:sp>
        <p:nvSpPr>
          <p:cNvPr id="2" name="section">
            <a:extLst xmlns:a="http://schemas.openxmlformats.org/drawingml/2006/main">
              <a:ext uri="{FF2B5EF4-FFF2-40B4-BE49-F238E27FC236}">
                <a16:creationId xmlns:a16="http://schemas.microsoft.com/office/drawing/2014/main" id="{37746DF8-C802-43C5-A27D-15C52AF0625B}"/>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WHY THIS TOPIC</a:t>
            </a:r>
          </a:p>
        </p:txBody>
      </p:sp>
      <p:sp>
        <p:nvSpPr>
          <p:cNvPr id="3" name="footer">
            <a:extLst xmlns:a="http://schemas.openxmlformats.org/drawingml/2006/main">
              <a:ext uri="{FF2B5EF4-FFF2-40B4-BE49-F238E27FC236}">
                <a16:creationId xmlns:a16="http://schemas.microsoft.com/office/drawing/2014/main" id="{525C6B93-5A32-4C8F-96C6-2AA55673E72B}"/>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2 / 49</a:t>
            </a:r>
          </a:p>
        </p:txBody>
      </p:sp>
      <p:sp>
        <p:nvSpPr>
          <p:cNvPr id="4" name="body0">
            <a:extLst xmlns:a="http://schemas.openxmlformats.org/drawingml/2006/main">
              <a:ext uri="{FF2B5EF4-FFF2-40B4-BE49-F238E27FC236}">
                <a16:creationId xmlns:a16="http://schemas.microsoft.com/office/drawing/2014/main" id="{248EDED2-E387-4FF8-B62F-7DE8E9B2BB23}"/>
              </a:ext>
            </a:extLst>
          </p:cNvPr>
          <p:cNvSpPr>
            <a:spLocks xmlns:a="http://schemas.openxmlformats.org/drawingml/2006/main" noGrp="1"/>
          </p:cNvSpPr>
          <p:nvPr/>
        </p:nvSpPr>
        <p:spPr>
          <a:xfrm xmlns:a="http://schemas.openxmlformats.org/drawingml/2006/main">
            <a:off x="685800" y="1866900"/>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32E40"/>
                </a:solidFill>
                <a:latin typeface="Arial"/>
                <a:ea typeface="Arial"/>
                <a:cs typeface="Arial"/>
              </a:defRPr>
            </a:pPr>
            <a:r>
              <a:rPr sz="2175" b="1">
                <a:solidFill>
                  <a:srgbClr val="132E40"/>
                </a:solidFill>
                <a:latin typeface="Arial"/>
                <a:ea typeface="Arial"/>
                <a:cs typeface="Arial"/>
              </a:rPr>
              <a:t>A permitted command and an accepted command do not prove fluid reached the outlet.</a:t>
            </a:r>
          </a:p>
        </p:txBody>
      </p:sp>
      <p:sp>
        <p:nvSpPr>
          <p:cNvPr id="5" name="body1">
            <a:extLst xmlns:a="http://schemas.openxmlformats.org/drawingml/2006/main">
              <a:ext uri="{FF2B5EF4-FFF2-40B4-BE49-F238E27FC236}">
                <a16:creationId xmlns:a16="http://schemas.microsoft.com/office/drawing/2014/main" id="{186A2EA6-D4B8-4A90-AFFB-F21ABCE857D5}"/>
              </a:ext>
            </a:extLst>
          </p:cNvPr>
          <p:cNvSpPr>
            <a:spLocks xmlns:a="http://schemas.openxmlformats.org/drawingml/2006/main" noGrp="1"/>
          </p:cNvSpPr>
          <p:nvPr/>
        </p:nvSpPr>
        <p:spPr>
          <a:xfrm xmlns:a="http://schemas.openxmlformats.org/drawingml/2006/main">
            <a:off x="685800" y="3019425"/>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06579"/>
                </a:solidFill>
                <a:latin typeface="Arial"/>
                <a:ea typeface="Arial"/>
                <a:cs typeface="Arial"/>
              </a:defRPr>
            </a:pPr>
            <a:r>
              <a:rPr sz="2175" b="0">
                <a:solidFill>
                  <a:srgbClr val="506579"/>
                </a:solidFill>
                <a:latin typeface="Arial"/>
                <a:ea typeface="Arial"/>
                <a:cs typeface="Arial"/>
              </a:rPr>
              <a:t>A monitor can reduce unwanted delivery while also interrupting wanted delivery.</a:t>
            </a:r>
          </a:p>
        </p:txBody>
      </p:sp>
      <p:sp>
        <p:nvSpPr>
          <p:cNvPr id="6" name="body2">
            <a:extLst xmlns:a="http://schemas.openxmlformats.org/drawingml/2006/main">
              <a:ext uri="{FF2B5EF4-FFF2-40B4-BE49-F238E27FC236}">
                <a16:creationId xmlns:a16="http://schemas.microsoft.com/office/drawing/2014/main" id="{F693C832-8B99-4424-BC83-BDD1F0639096}"/>
              </a:ext>
            </a:extLst>
          </p:cNvPr>
          <p:cNvSpPr>
            <a:spLocks xmlns:a="http://schemas.openxmlformats.org/drawingml/2006/main" noGrp="1"/>
          </p:cNvSpPr>
          <p:nvPr/>
        </p:nvSpPr>
        <p:spPr>
          <a:xfrm xmlns:a="http://schemas.openxmlformats.org/drawingml/2006/main">
            <a:off x="685800" y="4171950"/>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06579"/>
                </a:solidFill>
                <a:latin typeface="Arial"/>
                <a:ea typeface="Arial"/>
                <a:cs typeface="Arial"/>
              </a:defRPr>
            </a:pPr>
            <a:r>
              <a:rPr sz="2175" b="0">
                <a:solidFill>
                  <a:srgbClr val="506579"/>
                </a:solidFill>
                <a:latin typeface="Arial"/>
                <a:ea typeface="Arial"/>
                <a:cs typeface="Arial"/>
              </a:rPr>
              <a:t>The study measures both sides of intervention, including return to service.</a:t>
            </a:r>
          </a:p>
        </p:txBody>
      </p:sp>
    </p:spTree>
    <p:extLst>
      <p:ext uri="{BB962C8B-B14F-4D97-AF65-F5344CB8AC3E}">
        <p14:creationId xmlns:p14="http://schemas.microsoft.com/office/powerpoint/2010/main" val="79975360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0EA9475F-119A-4E69-AF9D-21303B98F810}"/>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The evidence boundary</a:t>
            </a:r>
          </a:p>
        </p:txBody>
      </p:sp>
      <p:sp>
        <p:nvSpPr>
          <p:cNvPr id="2" name="section">
            <a:extLst xmlns:a="http://schemas.openxmlformats.org/drawingml/2006/main">
              <a:ext uri="{FF2B5EF4-FFF2-40B4-BE49-F238E27FC236}">
                <a16:creationId xmlns:a16="http://schemas.microsoft.com/office/drawing/2014/main" id="{25817F6F-8D3F-4A1D-8B01-7454A1F432BC}"/>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WHY THIS TOPIC</a:t>
            </a:r>
          </a:p>
        </p:txBody>
      </p:sp>
      <p:sp>
        <p:nvSpPr>
          <p:cNvPr id="3" name="footer">
            <a:extLst xmlns:a="http://schemas.openxmlformats.org/drawingml/2006/main">
              <a:ext uri="{FF2B5EF4-FFF2-40B4-BE49-F238E27FC236}">
                <a16:creationId xmlns:a16="http://schemas.microsoft.com/office/drawing/2014/main" id="{D51521F6-96B2-400F-914C-DD783AFA84B1}"/>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3 / 49</a:t>
            </a:r>
          </a:p>
        </p:txBody>
      </p:sp>
      <p:sp>
        <p:nvSpPr>
          <p:cNvPr id="4" name="">
            <a:extLst xmlns:a="http://schemas.openxmlformats.org/drawingml/2006/main">
              <a:ext uri="{FF2B5EF4-FFF2-40B4-BE49-F238E27FC236}">
                <a16:creationId xmlns:a16="http://schemas.microsoft.com/office/drawing/2014/main" id="{798844C6-508D-49A7-AB1A-1AA9C8386229}"/>
              </a:ext>
            </a:extLst>
          </p:cNvPr>
          <p:cNvSpPr>
            <a:spLocks xmlns:a="http://schemas.openxmlformats.org/drawingml/2006/main" noGrp="1"/>
          </p:cNvSpPr>
          <p:nvPr/>
        </p:nvSpPr>
        <p:spPr>
          <a:xfrm xmlns:a="http://schemas.openxmlformats.org/drawingml/2006/main">
            <a:off x="685800" y="2095500"/>
            <a:ext cx="3190875" cy="1143000"/>
          </a:xfrm>
          <a:prstGeom xmlns:a="http://schemas.openxmlformats.org/drawingml/2006/main" prst="rect">
            <a:avLst/>
          </a:prstGeom>
          <a:solidFill xmlns:a="http://schemas.openxmlformats.org/drawingml/2006/main">
            <a:srgbClr val="FFFFFF"/>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Observation</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CGM or replay</a:t>
            </a:r>
          </a:p>
        </p:txBody>
      </p:sp>
      <p:sp>
        <p:nvSpPr>
          <p:cNvPr id="5" name="">
            <a:extLst xmlns:a="http://schemas.openxmlformats.org/drawingml/2006/main">
              <a:ext uri="{FF2B5EF4-FFF2-40B4-BE49-F238E27FC236}">
                <a16:creationId xmlns:a16="http://schemas.microsoft.com/office/drawing/2014/main" id="{E769EF1A-2175-45E7-8D3E-93ADA85E2920}"/>
              </a:ext>
            </a:extLst>
          </p:cNvPr>
          <p:cNvSpPr>
            <a:spLocks xmlns:a="http://schemas.openxmlformats.org/drawingml/2006/main" noGrp="1"/>
          </p:cNvSpPr>
          <p:nvPr/>
        </p:nvSpPr>
        <p:spPr>
          <a:xfrm xmlns:a="http://schemas.openxmlformats.org/drawingml/2006/main">
            <a:off x="4495800" y="2095500"/>
            <a:ext cx="3190875" cy="1143000"/>
          </a:xfrm>
          <a:prstGeom xmlns:a="http://schemas.openxmlformats.org/drawingml/2006/main" prst="rect">
            <a:avLst/>
          </a:prstGeom>
          <a:solidFill xmlns:a="http://schemas.openxmlformats.org/drawingml/2006/main">
            <a:srgbClr val="FFFFFF"/>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Requested amount</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control policy</a:t>
            </a:r>
          </a:p>
        </p:txBody>
      </p:sp>
      <p:sp>
        <p:nvSpPr>
          <p:cNvPr id="6" name="">
            <a:extLst xmlns:a="http://schemas.openxmlformats.org/drawingml/2006/main">
              <a:ext uri="{FF2B5EF4-FFF2-40B4-BE49-F238E27FC236}">
                <a16:creationId xmlns:a16="http://schemas.microsoft.com/office/drawing/2014/main" id="{0408D9F9-4C49-4703-ABB3-F0B0B96D32B8}"/>
              </a:ext>
            </a:extLst>
          </p:cNvPr>
          <p:cNvSpPr>
            <a:spLocks xmlns:a="http://schemas.openxmlformats.org/drawingml/2006/main" noGrp="1"/>
          </p:cNvSpPr>
          <p:nvPr/>
        </p:nvSpPr>
        <p:spPr>
          <a:xfrm xmlns:a="http://schemas.openxmlformats.org/drawingml/2006/main">
            <a:off x="8305800" y="2095500"/>
            <a:ext cx="3190875" cy="1143000"/>
          </a:xfrm>
          <a:prstGeom xmlns:a="http://schemas.openxmlformats.org/drawingml/2006/main" prst="rect">
            <a:avLst/>
          </a:prstGeom>
          <a:solidFill xmlns:a="http://schemas.openxmlformats.org/drawingml/2006/main">
            <a:srgbClr val="FFFFFF"/>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Authorized amount</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local decision</a:t>
            </a:r>
          </a:p>
        </p:txBody>
      </p:sp>
      <p:sp>
        <p:nvSpPr>
          <p:cNvPr id="7" name="">
            <a:extLst xmlns:a="http://schemas.openxmlformats.org/drawingml/2006/main">
              <a:ext uri="{FF2B5EF4-FFF2-40B4-BE49-F238E27FC236}">
                <a16:creationId xmlns:a16="http://schemas.microsoft.com/office/drawing/2014/main" id="{73F23003-5C31-4682-9149-061EFD02F405}"/>
              </a:ext>
            </a:extLst>
          </p:cNvPr>
          <p:cNvSpPr>
            <a:spLocks xmlns:a="http://schemas.openxmlformats.org/drawingml/2006/main" noGrp="1"/>
          </p:cNvSpPr>
          <p:nvPr/>
        </p:nvSpPr>
        <p:spPr>
          <a:xfrm xmlns:a="http://schemas.openxmlformats.org/drawingml/2006/main">
            <a:off x="8305800" y="3762375"/>
            <a:ext cx="3190875" cy="1143000"/>
          </a:xfrm>
          <a:prstGeom xmlns:a="http://schemas.openxmlformats.org/drawingml/2006/main" prst="rect">
            <a:avLst/>
          </a:prstGeom>
          <a:solidFill xmlns:a="http://schemas.openxmlformats.org/drawingml/2006/main">
            <a:srgbClr val="FFFFFF"/>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Emitted amount</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actuator output</a:t>
            </a:r>
          </a:p>
        </p:txBody>
      </p:sp>
      <p:sp>
        <p:nvSpPr>
          <p:cNvPr id="8" name="">
            <a:extLst xmlns:a="http://schemas.openxmlformats.org/drawingml/2006/main">
              <a:ext uri="{FF2B5EF4-FFF2-40B4-BE49-F238E27FC236}">
                <a16:creationId xmlns:a16="http://schemas.microsoft.com/office/drawing/2014/main" id="{0D4935A5-92CE-467D-AC6E-A9DFD1545514}"/>
              </a:ext>
            </a:extLst>
          </p:cNvPr>
          <p:cNvSpPr>
            <a:spLocks xmlns:a="http://schemas.openxmlformats.org/drawingml/2006/main" noGrp="1"/>
          </p:cNvSpPr>
          <p:nvPr/>
        </p:nvSpPr>
        <p:spPr>
          <a:xfrm xmlns:a="http://schemas.openxmlformats.org/drawingml/2006/main">
            <a:off x="4495800" y="3762375"/>
            <a:ext cx="3190875" cy="1143000"/>
          </a:xfrm>
          <a:prstGeom xmlns:a="http://schemas.openxmlformats.org/drawingml/2006/main" prst="rect">
            <a:avLst/>
          </a:prstGeom>
          <a:solidFill xmlns:a="http://schemas.openxmlformats.org/drawingml/2006/main">
            <a:srgbClr val="EEF4F6"/>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Measured evidence</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balance indication</a:t>
            </a:r>
          </a:p>
        </p:txBody>
      </p:sp>
      <p:sp>
        <p:nvSpPr>
          <p:cNvPr id="9" name="">
            <a:extLst xmlns:a="http://schemas.openxmlformats.org/drawingml/2006/main">
              <a:ext uri="{FF2B5EF4-FFF2-40B4-BE49-F238E27FC236}">
                <a16:creationId xmlns:a16="http://schemas.microsoft.com/office/drawing/2014/main" id="{880E0DEF-C590-4BA2-9E87-D42B3299DBCE}"/>
              </a:ext>
            </a:extLst>
          </p:cNvPr>
          <p:cNvSpPr>
            <a:spLocks xmlns:a="http://schemas.openxmlformats.org/drawingml/2006/main" noGrp="1"/>
          </p:cNvSpPr>
          <p:nvPr/>
        </p:nvSpPr>
        <p:spPr>
          <a:xfrm xmlns:a="http://schemas.openxmlformats.org/drawingml/2006/main">
            <a:off x="685800" y="3762375"/>
            <a:ext cx="3190875" cy="1143000"/>
          </a:xfrm>
          <a:prstGeom xmlns:a="http://schemas.openxmlformats.org/drawingml/2006/main" prst="rect">
            <a:avLst/>
          </a:prstGeom>
          <a:solidFill xmlns:a="http://schemas.openxmlformats.org/drawingml/2006/main">
            <a:srgbClr val="EEF4F6"/>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Received report</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monitor input</a:t>
            </a:r>
          </a:p>
        </p:txBody>
      </p:sp>
      <p:cxnSp>
        <p:nvCxnSpPr>
          <p:cNvPr id="25" name=""/>
          <p:cNvCxnSpPr>
            <a:stCxn xmlns:a="http://schemas.openxmlformats.org/drawingml/2006/main" id="4" idx="3"/>
            <a:endCxn xmlns:a="http://schemas.openxmlformats.org/drawingml/2006/main" id="5" idx="1"/>
          </p:cNvCxnSpPr>
          <p:nvPr/>
        </p:nvCxnSpPr>
        <p:spPr>
          <a:xfrm xmlns:a="http://schemas.openxmlformats.org/drawingml/2006/main">
            <a:off x="3876675" y="2667000"/>
            <a:ext cx="619125" cy="0"/>
          </a:xfrm>
          <a:prstGeom xmlns:a="http://schemas.openxmlformats.org/drawingml/2006/main" prst="straightConnector1">
            <a:avLst/>
          </a:prstGeom>
          <a:ln xmlns:a="http://schemas.openxmlformats.org/drawingml/2006/main" w="19050">
            <a:solidFill>
              <a:srgbClr val="168B8D"/>
            </a:solidFill>
            <a:tailEnd type="arrow" w="med" len="med"/>
          </a:ln>
        </p:spPr>
      </p:cxnSp>
      <p:cxnSp>
        <p:nvCxnSpPr>
          <p:cNvPr id="26" name=""/>
          <p:cNvCxnSpPr>
            <a:stCxn xmlns:a="http://schemas.openxmlformats.org/drawingml/2006/main" id="5" idx="3"/>
            <a:endCxn xmlns:a="http://schemas.openxmlformats.org/drawingml/2006/main" id="6" idx="1"/>
          </p:cNvCxnSpPr>
          <p:nvPr/>
        </p:nvCxnSpPr>
        <p:spPr>
          <a:xfrm xmlns:a="http://schemas.openxmlformats.org/drawingml/2006/main">
            <a:off x="7686675" y="2667000"/>
            <a:ext cx="619125" cy="0"/>
          </a:xfrm>
          <a:prstGeom xmlns:a="http://schemas.openxmlformats.org/drawingml/2006/main" prst="straightConnector1">
            <a:avLst/>
          </a:prstGeom>
          <a:ln xmlns:a="http://schemas.openxmlformats.org/drawingml/2006/main" w="19050">
            <a:solidFill>
              <a:srgbClr val="168B8D"/>
            </a:solidFill>
            <a:tailEnd type="arrow" w="med" len="med"/>
          </a:ln>
        </p:spPr>
      </p:cxnSp>
      <p:cxnSp>
        <p:nvCxnSpPr>
          <p:cNvPr id="27" name=""/>
          <p:cNvCxnSpPr>
            <a:stCxn xmlns:a="http://schemas.openxmlformats.org/drawingml/2006/main" id="6" idx="2"/>
            <a:endCxn xmlns:a="http://schemas.openxmlformats.org/drawingml/2006/main" id="7" idx="0"/>
          </p:cNvCxnSpPr>
          <p:nvPr/>
        </p:nvCxnSpPr>
        <p:spPr>
          <a:xfrm xmlns:a="http://schemas.openxmlformats.org/drawingml/2006/main">
            <a:off x="9901238" y="3238500"/>
            <a:ext cx="0" cy="523875"/>
          </a:xfrm>
          <a:prstGeom xmlns:a="http://schemas.openxmlformats.org/drawingml/2006/main" prst="straightConnector1">
            <a:avLst/>
          </a:prstGeom>
          <a:ln xmlns:a="http://schemas.openxmlformats.org/drawingml/2006/main" w="19050">
            <a:solidFill>
              <a:srgbClr val="168B8D"/>
            </a:solidFill>
            <a:tailEnd type="arrow" w="med" len="med"/>
          </a:ln>
        </p:spPr>
      </p:cxnSp>
      <p:cxnSp>
        <p:nvCxnSpPr>
          <p:cNvPr id="28" name=""/>
          <p:cNvCxnSpPr>
            <a:stCxn xmlns:a="http://schemas.openxmlformats.org/drawingml/2006/main" id="7" idx="1"/>
            <a:endCxn xmlns:a="http://schemas.openxmlformats.org/drawingml/2006/main" id="8" idx="3"/>
          </p:cNvCxnSpPr>
          <p:nvPr/>
        </p:nvCxnSpPr>
        <p:spPr>
          <a:xfrm xmlns:a="http://schemas.openxmlformats.org/drawingml/2006/main" flipH="1">
            <a:off x="7686675" y="4333875"/>
            <a:ext cx="619125" cy="0"/>
          </a:xfrm>
          <a:prstGeom xmlns:a="http://schemas.openxmlformats.org/drawingml/2006/main" prst="straightConnector1">
            <a:avLst/>
          </a:prstGeom>
          <a:ln xmlns:a="http://schemas.openxmlformats.org/drawingml/2006/main" w="19050">
            <a:solidFill>
              <a:srgbClr val="168B8D"/>
            </a:solidFill>
            <a:tailEnd type="arrow" w="med" len="med"/>
          </a:ln>
        </p:spPr>
      </p:cxnSp>
      <p:cxnSp>
        <p:nvCxnSpPr>
          <p:cNvPr id="29" name=""/>
          <p:cNvCxnSpPr>
            <a:stCxn xmlns:a="http://schemas.openxmlformats.org/drawingml/2006/main" id="8" idx="1"/>
            <a:endCxn xmlns:a="http://schemas.openxmlformats.org/drawingml/2006/main" id="9" idx="3"/>
          </p:cNvCxnSpPr>
          <p:nvPr/>
        </p:nvCxnSpPr>
        <p:spPr>
          <a:xfrm xmlns:a="http://schemas.openxmlformats.org/drawingml/2006/main" flipH="1">
            <a:off x="3876675" y="4333875"/>
            <a:ext cx="619125" cy="0"/>
          </a:xfrm>
          <a:prstGeom xmlns:a="http://schemas.openxmlformats.org/drawingml/2006/main" prst="straightConnector1">
            <a:avLst/>
          </a:prstGeom>
          <a:ln xmlns:a="http://schemas.openxmlformats.org/drawingml/2006/main" w="19050">
            <a:solidFill>
              <a:srgbClr val="168B8D"/>
            </a:solidFill>
            <a:tailEnd type="arrow" w="med" len="med"/>
          </a:ln>
        </p:spPr>
      </p:cxnSp>
      <p:sp>
        <p:nvSpPr>
          <p:cNvPr id="15" name="caption">
            <a:extLst xmlns:a="http://schemas.openxmlformats.org/drawingml/2006/main">
              <a:ext uri="{FF2B5EF4-FFF2-40B4-BE49-F238E27FC236}">
                <a16:creationId xmlns:a16="http://schemas.microsoft.com/office/drawing/2014/main" id="{36568002-B0EB-44D9-A2E3-3FA0DFE1E3DA}"/>
              </a:ext>
            </a:extLst>
          </p:cNvPr>
          <p:cNvSpPr>
            <a:spLocks xmlns:a="http://schemas.openxmlformats.org/drawingml/2006/main" noGrp="1"/>
          </p:cNvSpPr>
          <p:nvPr/>
        </p:nvSpPr>
        <p:spPr>
          <a:xfrm xmlns:a="http://schemas.openxmlformats.org/drawingml/2006/main">
            <a:off x="685800" y="53435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06579"/>
                </a:solidFill>
                <a:latin typeface="Arial"/>
                <a:ea typeface="Arial"/>
                <a:cs typeface="Arial"/>
              </a:defRPr>
            </a:pPr>
            <a:r>
              <a:rPr sz="1800" b="0">
                <a:solidFill>
                  <a:srgbClr val="506579"/>
                </a:solidFill>
                <a:latin typeface="Arial"/>
                <a:ea typeface="Arial"/>
                <a:cs typeface="Arial"/>
              </a:rPr>
              <a:t>Each link has its own value, timestamp, authority and possible failure.</a:t>
            </a:r>
          </a:p>
        </p:txBody>
      </p:sp>
    </p:spTree>
    <p:extLst>
      <p:ext uri="{BB962C8B-B14F-4D97-AF65-F5344CB8AC3E}">
        <p14:creationId xmlns:p14="http://schemas.microsoft.com/office/powerpoint/2010/main" val="124748809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4C0F46CB-A2C1-4042-84C1-B6290F73529B}"/>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The contribution to test</a:t>
            </a:r>
          </a:p>
        </p:txBody>
      </p:sp>
      <p:sp>
        <p:nvSpPr>
          <p:cNvPr id="2" name="section">
            <a:extLst xmlns:a="http://schemas.openxmlformats.org/drawingml/2006/main">
              <a:ext uri="{FF2B5EF4-FFF2-40B4-BE49-F238E27FC236}">
                <a16:creationId xmlns:a16="http://schemas.microsoft.com/office/drawing/2014/main" id="{EE150A21-B6E5-430F-990F-2E315A842DE3}"/>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CONTRIBUTION</a:t>
            </a:r>
          </a:p>
        </p:txBody>
      </p:sp>
      <p:sp>
        <p:nvSpPr>
          <p:cNvPr id="3" name="footer">
            <a:extLst xmlns:a="http://schemas.openxmlformats.org/drawingml/2006/main">
              <a:ext uri="{FF2B5EF4-FFF2-40B4-BE49-F238E27FC236}">
                <a16:creationId xmlns:a16="http://schemas.microsoft.com/office/drawing/2014/main" id="{84BF4CE6-C764-45AA-BDA3-8FD0F742A36D}"/>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4 / 49</a:t>
            </a:r>
          </a:p>
        </p:txBody>
      </p:sp>
      <p:sp>
        <p:nvSpPr>
          <p:cNvPr id="4" name="body0">
            <a:extLst xmlns:a="http://schemas.openxmlformats.org/drawingml/2006/main">
              <a:ext uri="{FF2B5EF4-FFF2-40B4-BE49-F238E27FC236}">
                <a16:creationId xmlns:a16="http://schemas.microsoft.com/office/drawing/2014/main" id="{B3673C83-5B41-427C-8685-C48983479E7D}"/>
              </a:ext>
            </a:extLst>
          </p:cNvPr>
          <p:cNvSpPr>
            <a:spLocks xmlns:a="http://schemas.openxmlformats.org/drawingml/2006/main" noGrp="1"/>
          </p:cNvSpPr>
          <p:nvPr/>
        </p:nvSpPr>
        <p:spPr>
          <a:xfrm xmlns:a="http://schemas.openxmlformats.org/drawingml/2006/main">
            <a:off x="685800" y="1866900"/>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32E40"/>
                </a:solidFill>
                <a:latin typeface="Arial"/>
                <a:ea typeface="Arial"/>
                <a:cs typeface="Arial"/>
              </a:defRPr>
            </a:pPr>
            <a:r>
              <a:rPr sz="2175" b="1">
                <a:solidFill>
                  <a:srgbClr val="132E40"/>
                </a:solidFill>
                <a:latin typeface="Arial"/>
                <a:ea typeface="Arial"/>
                <a:cs typeface="Arial"/>
              </a:rPr>
              <a:t>An auditable chain from observations and commands to measurement and response.</a:t>
            </a:r>
          </a:p>
        </p:txBody>
      </p:sp>
      <p:sp>
        <p:nvSpPr>
          <p:cNvPr id="5" name="body1">
            <a:extLst xmlns:a="http://schemas.openxmlformats.org/drawingml/2006/main">
              <a:ext uri="{FF2B5EF4-FFF2-40B4-BE49-F238E27FC236}">
                <a16:creationId xmlns:a16="http://schemas.microsoft.com/office/drawing/2014/main" id="{C9F4D3F7-C5E6-44A5-8BFD-A543C157E3F6}"/>
              </a:ext>
            </a:extLst>
          </p:cNvPr>
          <p:cNvSpPr>
            <a:spLocks xmlns:a="http://schemas.openxmlformats.org/drawingml/2006/main" noGrp="1"/>
          </p:cNvSpPr>
          <p:nvPr/>
        </p:nvSpPr>
        <p:spPr>
          <a:xfrm xmlns:a="http://schemas.openxmlformats.org/drawingml/2006/main">
            <a:off x="685800" y="3019425"/>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06579"/>
                </a:solidFill>
                <a:latin typeface="Arial"/>
                <a:ea typeface="Arial"/>
                <a:cs typeface="Arial"/>
              </a:defRPr>
            </a:pPr>
            <a:r>
              <a:rPr sz="2175" b="0">
                <a:solidFill>
                  <a:srgbClr val="506579"/>
                </a:solidFill>
                <a:latin typeface="Arial"/>
                <a:ea typeface="Arial"/>
                <a:cs typeface="Arial"/>
              </a:rPr>
              <a:t>A comparison that matches what each practical method can observe and control.</a:t>
            </a:r>
          </a:p>
        </p:txBody>
      </p:sp>
      <p:sp>
        <p:nvSpPr>
          <p:cNvPr id="6" name="body2">
            <a:extLst xmlns:a="http://schemas.openxmlformats.org/drawingml/2006/main">
              <a:ext uri="{FF2B5EF4-FFF2-40B4-BE49-F238E27FC236}">
                <a16:creationId xmlns:a16="http://schemas.microsoft.com/office/drawing/2014/main" id="{FDFF212C-76A1-48A4-B33B-C4C8CB711BB2}"/>
              </a:ext>
            </a:extLst>
          </p:cNvPr>
          <p:cNvSpPr>
            <a:spLocks xmlns:a="http://schemas.openxmlformats.org/drawingml/2006/main" noGrp="1"/>
          </p:cNvSpPr>
          <p:nvPr/>
        </p:nvSpPr>
        <p:spPr>
          <a:xfrm xmlns:a="http://schemas.openxmlformats.org/drawingml/2006/main">
            <a:off x="685800" y="4171950"/>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06579"/>
                </a:solidFill>
                <a:latin typeface="Arial"/>
                <a:ea typeface="Arial"/>
                <a:cs typeface="Arial"/>
              </a:defRPr>
            </a:pPr>
            <a:r>
              <a:rPr sz="2175" b="0">
                <a:solidFill>
                  <a:srgbClr val="506579"/>
                </a:solidFill>
                <a:latin typeface="Arial"/>
                <a:ea typeface="Arial"/>
                <a:cs typeface="Arial"/>
              </a:rPr>
              <a:t>A release that preserves failures, censored recovery and model-domain violations.</a:t>
            </a:r>
          </a:p>
        </p:txBody>
      </p:sp>
    </p:spTree>
    <p:extLst>
      <p:ext uri="{BB962C8B-B14F-4D97-AF65-F5344CB8AC3E}">
        <p14:creationId xmlns:p14="http://schemas.microsoft.com/office/powerpoint/2010/main" val="169225779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54EAFA4-AF68-4697-ACF8-170CC831E3B3}"/>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What each evidence source can establish</a:t>
            </a:r>
          </a:p>
        </p:txBody>
      </p:sp>
      <p:sp>
        <p:nvSpPr>
          <p:cNvPr id="2" name="section">
            <a:extLst xmlns:a="http://schemas.openxmlformats.org/drawingml/2006/main">
              <a:ext uri="{FF2B5EF4-FFF2-40B4-BE49-F238E27FC236}">
                <a16:creationId xmlns:a16="http://schemas.microsoft.com/office/drawing/2014/main" id="{A858724E-71D4-4871-B740-5300FDB52420}"/>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EVIDENCE</a:t>
            </a:r>
          </a:p>
        </p:txBody>
      </p:sp>
      <p:sp>
        <p:nvSpPr>
          <p:cNvPr id="3" name="footer">
            <a:extLst xmlns:a="http://schemas.openxmlformats.org/drawingml/2006/main">
              <a:ext uri="{FF2B5EF4-FFF2-40B4-BE49-F238E27FC236}">
                <a16:creationId xmlns:a16="http://schemas.microsoft.com/office/drawing/2014/main" id="{3A3A85B4-C2B7-4161-998F-E1DDBB26A941}"/>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5 / 49</a:t>
            </a:r>
          </a:p>
        </p:txBody>
      </p:sp>
      <p:graphicFrame>
        <p:nvGraphicFramePr>
          <p:cNvPr id="8" name=""/>
          <p:cNvGraphicFramePr/>
          <p:nvPr/>
        </p:nvGraphicFramePr>
        <p:xfrm>
          <a:off xmlns:a="http://schemas.openxmlformats.org/drawingml/2006/main" x="685800" y="1743075"/>
          <a:ext xmlns:a="http://schemas.openxmlformats.org/drawingml/2006/main" cx="10820400" cy="2952750"/>
        </p:xfrm>
        <a:graphic xmlns:a="http://schemas.openxmlformats.org/drawingml/2006/main">
          <a:graphicData uri="http://schemas.openxmlformats.org/drawingml/2006/table">
            <a:tbl>
              <a:tblPr/>
              <a:tblGrid>
                <a:gridCol w="3238500"/>
                <a:gridCol w="3810000"/>
                <a:gridCol w="3771900"/>
              </a:tblGrid>
              <a:tr h="590550">
                <a:tc>
                  <a:txBody>
                    <a:bodyPr>
                      <a:noAutofit/>
                    </a:bodyPr>
                    <a:lstStyle/>
                    <a:p>
                      <a:r>
                        <a:rPr sz="1725" b="1">
                          <a:solidFill>
                            <a:srgbClr val="FFFFFF"/>
                          </a:solidFill>
                          <a:latin typeface="Arial"/>
                          <a:ea typeface="Arial"/>
                          <a:cs typeface="Arial"/>
                        </a:rPr>
                        <a:t>Evidence</a:t>
                      </a:r>
                    </a:p>
                  </a:txBody>
                  <a:tcPr marL="91440" marR="91440" marT="45720" marB="45720">
                    <a:solidFill>
                      <a:srgbClr val="132E40"/>
                    </a:solidFill>
                  </a:tcPr>
                </a:tc>
                <a:tc>
                  <a:txBody>
                    <a:bodyPr>
                      <a:noAutofit/>
                    </a:bodyPr>
                    <a:lstStyle/>
                    <a:p>
                      <a:r>
                        <a:rPr sz="1725" b="1">
                          <a:solidFill>
                            <a:srgbClr val="FFFFFF"/>
                          </a:solidFill>
                          <a:latin typeface="Arial"/>
                          <a:ea typeface="Arial"/>
                          <a:cs typeface="Arial"/>
                        </a:rPr>
                        <a:t>Supported use</a:t>
                      </a:r>
                    </a:p>
                  </a:txBody>
                  <a:tcPr marL="91440" marR="91440" marT="45720" marB="45720">
                    <a:solidFill>
                      <a:srgbClr val="132E40"/>
                    </a:solidFill>
                  </a:tcPr>
                </a:tc>
                <a:tc>
                  <a:txBody>
                    <a:bodyPr>
                      <a:noAutofit/>
                    </a:bodyPr>
                    <a:lstStyle/>
                    <a:p>
                      <a:r>
                        <a:rPr sz="1725" b="1">
                          <a:solidFill>
                            <a:srgbClr val="FFFFFF"/>
                          </a:solidFill>
                          <a:latin typeface="Arial"/>
                          <a:ea typeface="Arial"/>
                          <a:cs typeface="Arial"/>
                        </a:rPr>
                        <a:t>Current limit</a:t>
                      </a:r>
                    </a:p>
                  </a:txBody>
                  <a:tcPr marL="91440" marR="91440" marT="45720" marB="45720">
                    <a:solidFill>
                      <a:srgbClr val="132E40"/>
                    </a:solidFill>
                  </a:tcPr>
                </a:tc>
              </a:tr>
              <a:tr h="590550">
                <a:tc>
                  <a:txBody>
                    <a:bodyPr>
                      <a:noAutofit/>
                    </a:bodyPr>
                    <a:lstStyle/>
                    <a:p>
                      <a:r>
                        <a:rPr sz="1725" b="0">
                          <a:solidFill>
                            <a:srgbClr val="132E40"/>
                          </a:solidFill>
                          <a:latin typeface="Arial"/>
                          <a:ea typeface="Arial"/>
                          <a:cs typeface="Arial"/>
                        </a:rPr>
                        <a:t>Supplied participant records</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Internal forecast comparison</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Previously exposed; not external validation</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New synthetic trajectories</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Paired intervention experiments</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Depend on plant and actuator assumptions</a:t>
                      </a:r>
                    </a:p>
                  </a:txBody>
                  <a:tcPr marL="91440" marR="91440" marT="45720" marB="45720">
                    <a:solidFill>
                      <a:srgbClr val="EEF4F6"/>
                    </a:solidFill>
                  </a:tcPr>
                </a:tc>
              </a:tr>
              <a:tr h="590550">
                <a:tc>
                  <a:txBody>
                    <a:bodyPr>
                      <a:noAutofit/>
                    </a:bodyPr>
                    <a:lstStyle/>
                    <a:p>
                      <a:r>
                        <a:rPr sz="1725" b="0">
                          <a:solidFill>
                            <a:srgbClr val="132E40"/>
                          </a:solidFill>
                          <a:latin typeface="Arial"/>
                          <a:ea typeface="Arial"/>
                          <a:cs typeface="Arial"/>
                        </a:rPr>
                        <a:t>Native rig animation</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Explain proposed components and measurements</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Conceptual, not an as-built rig</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Future saline measurements</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Physical measurement and stopping estimates</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IIT Patna measurement pending</a:t>
                      </a:r>
                    </a:p>
                  </a:txBody>
                  <a:tcPr marL="91440" marR="91440" marT="45720" marB="45720">
                    <a:solidFill>
                      <a:srgbClr val="EEF4F6"/>
                    </a:solidFill>
                  </a:tcPr>
                </a:tc>
              </a:tr>
            </a:tbl>
          </a:graphicData>
        </a:graphic>
      </p:graphicFrame>
    </p:spTree>
    <p:extLst>
      <p:ext uri="{BB962C8B-B14F-4D97-AF65-F5344CB8AC3E}">
        <p14:creationId xmlns:p14="http://schemas.microsoft.com/office/powerpoint/2010/main" val="187933996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33043D7-E9F3-4A35-94AC-3D75F48CAFA8}"/>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Corrections before new experiments</a:t>
            </a:r>
          </a:p>
        </p:txBody>
      </p:sp>
      <p:sp>
        <p:nvSpPr>
          <p:cNvPr id="2" name="section">
            <a:extLst xmlns:a="http://schemas.openxmlformats.org/drawingml/2006/main">
              <a:ext uri="{FF2B5EF4-FFF2-40B4-BE49-F238E27FC236}">
                <a16:creationId xmlns:a16="http://schemas.microsoft.com/office/drawing/2014/main" id="{C0E3C452-CD94-4F0B-934D-4A8A3F25D611}"/>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METHODS</a:t>
            </a:r>
          </a:p>
        </p:txBody>
      </p:sp>
      <p:sp>
        <p:nvSpPr>
          <p:cNvPr id="3" name="footer">
            <a:extLst xmlns:a="http://schemas.openxmlformats.org/drawingml/2006/main">
              <a:ext uri="{FF2B5EF4-FFF2-40B4-BE49-F238E27FC236}">
                <a16:creationId xmlns:a16="http://schemas.microsoft.com/office/drawing/2014/main" id="{198A593E-BC04-4D98-B11A-66F12D1AD4D8}"/>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6 / 49</a:t>
            </a:r>
          </a:p>
        </p:txBody>
      </p:sp>
      <p:graphicFrame>
        <p:nvGraphicFramePr>
          <p:cNvPr id="8" name=""/>
          <p:cNvGraphicFramePr/>
          <p:nvPr/>
        </p:nvGraphicFramePr>
        <p:xfrm>
          <a:off xmlns:a="http://schemas.openxmlformats.org/drawingml/2006/main" x="685800" y="1743075"/>
          <a:ext xmlns:a="http://schemas.openxmlformats.org/drawingml/2006/main" cx="10820400" cy="2952750"/>
        </p:xfrm>
        <a:graphic xmlns:a="http://schemas.openxmlformats.org/drawingml/2006/main">
          <a:graphicData uri="http://schemas.openxmlformats.org/drawingml/2006/table">
            <a:tbl>
              <a:tblPr/>
              <a:tblGrid>
                <a:gridCol w="3238500"/>
                <a:gridCol w="3810000"/>
                <a:gridCol w="3771900"/>
              </a:tblGrid>
              <a:tr h="590550">
                <a:tc>
                  <a:txBody>
                    <a:bodyPr>
                      <a:noAutofit/>
                    </a:bodyPr>
                    <a:lstStyle/>
                    <a:p>
                      <a:r>
                        <a:rPr sz="1725" b="1">
                          <a:solidFill>
                            <a:srgbClr val="FFFFFF"/>
                          </a:solidFill>
                          <a:latin typeface="Arial"/>
                          <a:ea typeface="Arial"/>
                          <a:cs typeface="Arial"/>
                        </a:rPr>
                        <a:t>Problem</a:t>
                      </a:r>
                    </a:p>
                  </a:txBody>
                  <a:tcPr marL="91440" marR="91440" marT="45720" marB="45720">
                    <a:solidFill>
                      <a:srgbClr val="132E40"/>
                    </a:solidFill>
                  </a:tcPr>
                </a:tc>
                <a:tc>
                  <a:txBody>
                    <a:bodyPr>
                      <a:noAutofit/>
                    </a:bodyPr>
                    <a:lstStyle/>
                    <a:p>
                      <a:r>
                        <a:rPr sz="1725" b="1">
                          <a:solidFill>
                            <a:srgbClr val="FFFFFF"/>
                          </a:solidFill>
                          <a:latin typeface="Arial"/>
                          <a:ea typeface="Arial"/>
                          <a:cs typeface="Arial"/>
                        </a:rPr>
                        <a:t>Repair</a:t>
                      </a:r>
                    </a:p>
                  </a:txBody>
                  <a:tcPr marL="91440" marR="91440" marT="45720" marB="45720">
                    <a:solidFill>
                      <a:srgbClr val="132E40"/>
                    </a:solidFill>
                  </a:tcPr>
                </a:tc>
                <a:tc>
                  <a:txBody>
                    <a:bodyPr>
                      <a:noAutofit/>
                    </a:bodyPr>
                    <a:lstStyle/>
                    <a:p>
                      <a:r>
                        <a:rPr sz="1725" b="1">
                          <a:solidFill>
                            <a:srgbClr val="FFFFFF"/>
                          </a:solidFill>
                          <a:latin typeface="Arial"/>
                          <a:ea typeface="Arial"/>
                          <a:cs typeface="Arial"/>
                        </a:rPr>
                        <a:t>Validation</a:t>
                      </a:r>
                    </a:p>
                  </a:txBody>
                  <a:tcPr marL="91440" marR="91440" marT="45720" marB="45720">
                    <a:solidFill>
                      <a:srgbClr val="132E40"/>
                    </a:solidFill>
                  </a:tcPr>
                </a:tc>
              </a:tr>
              <a:tr h="590550">
                <a:tc>
                  <a:txBody>
                    <a:bodyPr>
                      <a:noAutofit/>
                    </a:bodyPr>
                    <a:lstStyle/>
                    <a:p>
                      <a:r>
                        <a:rPr sz="1725" b="0">
                          <a:solidFill>
                            <a:srgbClr val="132E40"/>
                          </a:solidFill>
                          <a:latin typeface="Arial"/>
                          <a:ea typeface="Arial"/>
                          <a:cs typeface="Arial"/>
                        </a:rPr>
                        <a:t>Uncertain covariance and gaps</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Joseph update, finite and PSD guards, gap reset</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Focused failure and timing tests</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Prediction choice</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Causal mechanistic, persistence and trend candidates</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Fit/tune/test separation</a:t>
                      </a:r>
                    </a:p>
                  </a:txBody>
                  <a:tcPr marL="91440" marR="91440" marT="45720" marB="45720">
                    <a:solidFill>
                      <a:srgbClr val="EEF4F6"/>
                    </a:solidFill>
                  </a:tcPr>
                </a:tc>
              </a:tr>
              <a:tr h="590550">
                <a:tc>
                  <a:txBody>
                    <a:bodyPr>
                      <a:noAutofit/>
                    </a:bodyPr>
                    <a:lstStyle/>
                    <a:p>
                      <a:r>
                        <a:rPr sz="1725" b="0">
                          <a:solidFill>
                            <a:srgbClr val="132E40"/>
                          </a:solidFill>
                          <a:latin typeface="Arial"/>
                          <a:ea typeface="Arial"/>
                          <a:cs typeface="Arial"/>
                        </a:rPr>
                        <a:t>Calibration path</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One frozen runtime configuration; explicit failures</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Configuration and execution receipts</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Response accounting</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Previous inputs; interval timing; actual emitted input</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Independent trace recomputation</a:t>
                      </a:r>
                    </a:p>
                  </a:txBody>
                  <a:tcPr marL="91440" marR="91440" marT="45720" marB="45720">
                    <a:solidFill>
                      <a:srgbClr val="EEF4F6"/>
                    </a:solidFill>
                  </a:tcPr>
                </a:tc>
              </a:tr>
            </a:tbl>
          </a:graphicData>
        </a:graphic>
      </p:graphicFrame>
    </p:spTree>
    <p:extLst>
      <p:ext uri="{BB962C8B-B14F-4D97-AF65-F5344CB8AC3E}">
        <p14:creationId xmlns:p14="http://schemas.microsoft.com/office/powerpoint/2010/main" val="214417250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BC0C6A90-E014-4658-B2BB-9AEA7C3DCE21}"/>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Calibration and causal prediction</a:t>
            </a:r>
          </a:p>
        </p:txBody>
      </p:sp>
      <p:sp>
        <p:nvSpPr>
          <p:cNvPr id="2" name="section">
            <a:extLst xmlns:a="http://schemas.openxmlformats.org/drawingml/2006/main">
              <a:ext uri="{FF2B5EF4-FFF2-40B4-BE49-F238E27FC236}">
                <a16:creationId xmlns:a16="http://schemas.microsoft.com/office/drawing/2014/main" id="{472C17A7-8D05-4B1C-8503-0706786334DB}"/>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METHODS</a:t>
            </a:r>
          </a:p>
        </p:txBody>
      </p:sp>
      <p:sp>
        <p:nvSpPr>
          <p:cNvPr id="3" name="footer">
            <a:extLst xmlns:a="http://schemas.openxmlformats.org/drawingml/2006/main">
              <a:ext uri="{FF2B5EF4-FFF2-40B4-BE49-F238E27FC236}">
                <a16:creationId xmlns:a16="http://schemas.microsoft.com/office/drawing/2014/main" id="{1B0E63BA-A01A-4219-B332-8BE07C6BBF0C}"/>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7 / 49</a:t>
            </a:r>
          </a:p>
        </p:txBody>
      </p:sp>
      <p:sp>
        <p:nvSpPr>
          <p:cNvPr id="4" name="">
            <a:extLst xmlns:a="http://schemas.openxmlformats.org/drawingml/2006/main">
              <a:ext uri="{FF2B5EF4-FFF2-40B4-BE49-F238E27FC236}">
                <a16:creationId xmlns:a16="http://schemas.microsoft.com/office/drawing/2014/main" id="{CE83AD8A-4582-4467-8742-B8D693975063}"/>
              </a:ext>
            </a:extLst>
          </p:cNvPr>
          <p:cNvSpPr>
            <a:spLocks xmlns:a="http://schemas.openxmlformats.org/drawingml/2006/main" noGrp="1"/>
          </p:cNvSpPr>
          <p:nvPr/>
        </p:nvSpPr>
        <p:spPr>
          <a:xfrm xmlns:a="http://schemas.openxmlformats.org/drawingml/2006/main">
            <a:off x="685800" y="2095500"/>
            <a:ext cx="3190875" cy="1143000"/>
          </a:xfrm>
          <a:prstGeom xmlns:a="http://schemas.openxmlformats.org/drawingml/2006/main" prst="rect">
            <a:avLst/>
          </a:prstGeom>
          <a:solidFill xmlns:a="http://schemas.openxmlformats.org/drawingml/2006/main">
            <a:srgbClr val="FFFFFF"/>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Chronological fit</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first 50%</a:t>
            </a:r>
          </a:p>
        </p:txBody>
      </p:sp>
      <p:sp>
        <p:nvSpPr>
          <p:cNvPr id="5" name="">
            <a:extLst xmlns:a="http://schemas.openxmlformats.org/drawingml/2006/main">
              <a:ext uri="{FF2B5EF4-FFF2-40B4-BE49-F238E27FC236}">
                <a16:creationId xmlns:a16="http://schemas.microsoft.com/office/drawing/2014/main" id="{425A1BFF-78DF-4C85-945E-CFAAEA1A00D3}"/>
              </a:ext>
            </a:extLst>
          </p:cNvPr>
          <p:cNvSpPr>
            <a:spLocks xmlns:a="http://schemas.openxmlformats.org/drawingml/2006/main" noGrp="1"/>
          </p:cNvSpPr>
          <p:nvPr/>
        </p:nvSpPr>
        <p:spPr>
          <a:xfrm xmlns:a="http://schemas.openxmlformats.org/drawingml/2006/main">
            <a:off x="4495800" y="2095500"/>
            <a:ext cx="3190875" cy="1143000"/>
          </a:xfrm>
          <a:prstGeom xmlns:a="http://schemas.openxmlformats.org/drawingml/2006/main" prst="rect">
            <a:avLst/>
          </a:prstGeom>
          <a:solidFill xmlns:a="http://schemas.openxmlformats.org/drawingml/2006/main">
            <a:srgbClr val="FFFFFF"/>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Tune candidate</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next 25%</a:t>
            </a:r>
          </a:p>
        </p:txBody>
      </p:sp>
      <p:sp>
        <p:nvSpPr>
          <p:cNvPr id="6" name="">
            <a:extLst xmlns:a="http://schemas.openxmlformats.org/drawingml/2006/main">
              <a:ext uri="{FF2B5EF4-FFF2-40B4-BE49-F238E27FC236}">
                <a16:creationId xmlns:a16="http://schemas.microsoft.com/office/drawing/2014/main" id="{7B9DF250-F262-463B-B477-E3D191A00928}"/>
              </a:ext>
            </a:extLst>
          </p:cNvPr>
          <p:cNvSpPr>
            <a:spLocks xmlns:a="http://schemas.openxmlformats.org/drawingml/2006/main" noGrp="1"/>
          </p:cNvSpPr>
          <p:nvPr/>
        </p:nvSpPr>
        <p:spPr>
          <a:xfrm xmlns:a="http://schemas.openxmlformats.org/drawingml/2006/main">
            <a:off x="8305800" y="2095500"/>
            <a:ext cx="3190875" cy="1143000"/>
          </a:xfrm>
          <a:prstGeom xmlns:a="http://schemas.openxmlformats.org/drawingml/2006/main" prst="rect">
            <a:avLst/>
          </a:prstGeom>
          <a:solidFill xmlns:a="http://schemas.openxmlformats.org/drawingml/2006/main">
            <a:srgbClr val="FFFFFF"/>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Freeze choices</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parameters + threshold</a:t>
            </a:r>
          </a:p>
        </p:txBody>
      </p:sp>
      <p:sp>
        <p:nvSpPr>
          <p:cNvPr id="7" name="">
            <a:extLst xmlns:a="http://schemas.openxmlformats.org/drawingml/2006/main">
              <a:ext uri="{FF2B5EF4-FFF2-40B4-BE49-F238E27FC236}">
                <a16:creationId xmlns:a16="http://schemas.microsoft.com/office/drawing/2014/main" id="{CB75FC7A-4D4A-47B2-B406-AF79F1468A7A}"/>
              </a:ext>
            </a:extLst>
          </p:cNvPr>
          <p:cNvSpPr>
            <a:spLocks xmlns:a="http://schemas.openxmlformats.org/drawingml/2006/main" noGrp="1"/>
          </p:cNvSpPr>
          <p:nvPr/>
        </p:nvSpPr>
        <p:spPr>
          <a:xfrm xmlns:a="http://schemas.openxmlformats.org/drawingml/2006/main">
            <a:off x="8305800" y="3762375"/>
            <a:ext cx="3190875" cy="1143000"/>
          </a:xfrm>
          <a:prstGeom xmlns:a="http://schemas.openxmlformats.org/drawingml/2006/main" prst="rect">
            <a:avLst/>
          </a:prstGeom>
          <a:solidFill xmlns:a="http://schemas.openxmlformats.org/drawingml/2006/main">
            <a:srgbClr val="FFFFFF"/>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Test once</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last 25%</a:t>
            </a:r>
          </a:p>
        </p:txBody>
      </p:sp>
      <p:sp>
        <p:nvSpPr>
          <p:cNvPr id="8" name="">
            <a:extLst xmlns:a="http://schemas.openxmlformats.org/drawingml/2006/main">
              <a:ext uri="{FF2B5EF4-FFF2-40B4-BE49-F238E27FC236}">
                <a16:creationId xmlns:a16="http://schemas.microsoft.com/office/drawing/2014/main" id="{0D6BFEE7-C769-4570-BA65-05DF97D661B1}"/>
              </a:ext>
            </a:extLst>
          </p:cNvPr>
          <p:cNvSpPr>
            <a:spLocks xmlns:a="http://schemas.openxmlformats.org/drawingml/2006/main" noGrp="1"/>
          </p:cNvSpPr>
          <p:nvPr/>
        </p:nvSpPr>
        <p:spPr>
          <a:xfrm xmlns:a="http://schemas.openxmlformats.org/drawingml/2006/main">
            <a:off x="4495800" y="3762375"/>
            <a:ext cx="3190875" cy="1143000"/>
          </a:xfrm>
          <a:prstGeom xmlns:a="http://schemas.openxmlformats.org/drawingml/2006/main" prst="rect">
            <a:avLst/>
          </a:prstGeom>
          <a:solidFill xmlns:a="http://schemas.openxmlformats.org/drawingml/2006/main">
            <a:srgbClr val="EEF4F6"/>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Compare shared pairs</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same due timestamps</a:t>
            </a:r>
          </a:p>
        </p:txBody>
      </p:sp>
      <p:sp>
        <p:nvSpPr>
          <p:cNvPr id="9" name="">
            <a:extLst xmlns:a="http://schemas.openxmlformats.org/drawingml/2006/main">
              <a:ext uri="{FF2B5EF4-FFF2-40B4-BE49-F238E27FC236}">
                <a16:creationId xmlns:a16="http://schemas.microsoft.com/office/drawing/2014/main" id="{81E1D005-C90D-4F2C-AB2F-FFF9E490B943}"/>
              </a:ext>
            </a:extLst>
          </p:cNvPr>
          <p:cNvSpPr>
            <a:spLocks xmlns:a="http://schemas.openxmlformats.org/drawingml/2006/main" noGrp="1"/>
          </p:cNvSpPr>
          <p:nvPr/>
        </p:nvSpPr>
        <p:spPr>
          <a:xfrm xmlns:a="http://schemas.openxmlformats.org/drawingml/2006/main">
            <a:off x="685800" y="3762375"/>
            <a:ext cx="3190875" cy="1143000"/>
          </a:xfrm>
          <a:prstGeom xmlns:a="http://schemas.openxmlformats.org/drawingml/2006/main" prst="rect">
            <a:avLst/>
          </a:prstGeom>
          <a:solidFill xmlns:a="http://schemas.openxmlformats.org/drawingml/2006/main">
            <a:srgbClr val="EEF4F6"/>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Report failures</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no silent exclusions</a:t>
            </a:r>
          </a:p>
        </p:txBody>
      </p:sp>
      <p:cxnSp>
        <p:nvCxnSpPr>
          <p:cNvPr id="25" name=""/>
          <p:cNvCxnSpPr>
            <a:stCxn xmlns:a="http://schemas.openxmlformats.org/drawingml/2006/main" id="4" idx="3"/>
            <a:endCxn xmlns:a="http://schemas.openxmlformats.org/drawingml/2006/main" id="5" idx="1"/>
          </p:cNvCxnSpPr>
          <p:nvPr/>
        </p:nvCxnSpPr>
        <p:spPr>
          <a:xfrm xmlns:a="http://schemas.openxmlformats.org/drawingml/2006/main">
            <a:off x="3876675" y="2667000"/>
            <a:ext cx="619125" cy="0"/>
          </a:xfrm>
          <a:prstGeom xmlns:a="http://schemas.openxmlformats.org/drawingml/2006/main" prst="straightConnector1">
            <a:avLst/>
          </a:prstGeom>
          <a:ln xmlns:a="http://schemas.openxmlformats.org/drawingml/2006/main" w="19050">
            <a:solidFill>
              <a:srgbClr val="168B8D"/>
            </a:solidFill>
            <a:tailEnd type="arrow" w="med" len="med"/>
          </a:ln>
        </p:spPr>
      </p:cxnSp>
      <p:cxnSp>
        <p:nvCxnSpPr>
          <p:cNvPr id="26" name=""/>
          <p:cNvCxnSpPr>
            <a:stCxn xmlns:a="http://schemas.openxmlformats.org/drawingml/2006/main" id="5" idx="3"/>
            <a:endCxn xmlns:a="http://schemas.openxmlformats.org/drawingml/2006/main" id="6" idx="1"/>
          </p:cNvCxnSpPr>
          <p:nvPr/>
        </p:nvCxnSpPr>
        <p:spPr>
          <a:xfrm xmlns:a="http://schemas.openxmlformats.org/drawingml/2006/main">
            <a:off x="7686675" y="2667000"/>
            <a:ext cx="619125" cy="0"/>
          </a:xfrm>
          <a:prstGeom xmlns:a="http://schemas.openxmlformats.org/drawingml/2006/main" prst="straightConnector1">
            <a:avLst/>
          </a:prstGeom>
          <a:ln xmlns:a="http://schemas.openxmlformats.org/drawingml/2006/main" w="19050">
            <a:solidFill>
              <a:srgbClr val="168B8D"/>
            </a:solidFill>
            <a:tailEnd type="arrow" w="med" len="med"/>
          </a:ln>
        </p:spPr>
      </p:cxnSp>
      <p:cxnSp>
        <p:nvCxnSpPr>
          <p:cNvPr id="27" name=""/>
          <p:cNvCxnSpPr>
            <a:stCxn xmlns:a="http://schemas.openxmlformats.org/drawingml/2006/main" id="6" idx="2"/>
            <a:endCxn xmlns:a="http://schemas.openxmlformats.org/drawingml/2006/main" id="7" idx="0"/>
          </p:cNvCxnSpPr>
          <p:nvPr/>
        </p:nvCxnSpPr>
        <p:spPr>
          <a:xfrm xmlns:a="http://schemas.openxmlformats.org/drawingml/2006/main">
            <a:off x="9901238" y="3238500"/>
            <a:ext cx="0" cy="523875"/>
          </a:xfrm>
          <a:prstGeom xmlns:a="http://schemas.openxmlformats.org/drawingml/2006/main" prst="straightConnector1">
            <a:avLst/>
          </a:prstGeom>
          <a:ln xmlns:a="http://schemas.openxmlformats.org/drawingml/2006/main" w="19050">
            <a:solidFill>
              <a:srgbClr val="168B8D"/>
            </a:solidFill>
            <a:tailEnd type="arrow" w="med" len="med"/>
          </a:ln>
        </p:spPr>
      </p:cxnSp>
      <p:cxnSp>
        <p:nvCxnSpPr>
          <p:cNvPr id="28" name=""/>
          <p:cNvCxnSpPr>
            <a:stCxn xmlns:a="http://schemas.openxmlformats.org/drawingml/2006/main" id="7" idx="1"/>
            <a:endCxn xmlns:a="http://schemas.openxmlformats.org/drawingml/2006/main" id="8" idx="3"/>
          </p:cNvCxnSpPr>
          <p:nvPr/>
        </p:nvCxnSpPr>
        <p:spPr>
          <a:xfrm xmlns:a="http://schemas.openxmlformats.org/drawingml/2006/main" flipH="1">
            <a:off x="7686675" y="4333875"/>
            <a:ext cx="619125" cy="0"/>
          </a:xfrm>
          <a:prstGeom xmlns:a="http://schemas.openxmlformats.org/drawingml/2006/main" prst="straightConnector1">
            <a:avLst/>
          </a:prstGeom>
          <a:ln xmlns:a="http://schemas.openxmlformats.org/drawingml/2006/main" w="19050">
            <a:solidFill>
              <a:srgbClr val="168B8D"/>
            </a:solidFill>
            <a:tailEnd type="arrow" w="med" len="med"/>
          </a:ln>
        </p:spPr>
      </p:cxnSp>
      <p:cxnSp>
        <p:nvCxnSpPr>
          <p:cNvPr id="29" name=""/>
          <p:cNvCxnSpPr>
            <a:stCxn xmlns:a="http://schemas.openxmlformats.org/drawingml/2006/main" id="8" idx="1"/>
            <a:endCxn xmlns:a="http://schemas.openxmlformats.org/drawingml/2006/main" id="9" idx="3"/>
          </p:cNvCxnSpPr>
          <p:nvPr/>
        </p:nvCxnSpPr>
        <p:spPr>
          <a:xfrm xmlns:a="http://schemas.openxmlformats.org/drawingml/2006/main" flipH="1">
            <a:off x="3876675" y="4333875"/>
            <a:ext cx="619125" cy="0"/>
          </a:xfrm>
          <a:prstGeom xmlns:a="http://schemas.openxmlformats.org/drawingml/2006/main" prst="straightConnector1">
            <a:avLst/>
          </a:prstGeom>
          <a:ln xmlns:a="http://schemas.openxmlformats.org/drawingml/2006/main" w="19050">
            <a:solidFill>
              <a:srgbClr val="168B8D"/>
            </a:solidFill>
            <a:tailEnd type="arrow" w="med" len="med"/>
          </a:ln>
        </p:spPr>
      </p:cxnSp>
      <p:sp>
        <p:nvSpPr>
          <p:cNvPr id="15" name="caption">
            <a:extLst xmlns:a="http://schemas.openxmlformats.org/drawingml/2006/main">
              <a:ext uri="{FF2B5EF4-FFF2-40B4-BE49-F238E27FC236}">
                <a16:creationId xmlns:a16="http://schemas.microsoft.com/office/drawing/2014/main" id="{53F03B67-72B3-4E48-BC1A-A90DCAC7BDCE}"/>
              </a:ext>
            </a:extLst>
          </p:cNvPr>
          <p:cNvSpPr>
            <a:spLocks xmlns:a="http://schemas.openxmlformats.org/drawingml/2006/main" noGrp="1"/>
          </p:cNvSpPr>
          <p:nvPr/>
        </p:nvSpPr>
        <p:spPr>
          <a:xfrm xmlns:a="http://schemas.openxmlformats.org/drawingml/2006/main">
            <a:off x="685800" y="53435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06579"/>
                </a:solidFill>
                <a:latin typeface="Arial"/>
                <a:ea typeface="Arial"/>
                <a:cs typeface="Arial"/>
              </a:defRPr>
            </a:pPr>
            <a:r>
              <a:rPr sz="1800" b="0">
                <a:solidFill>
                  <a:srgbClr val="506579"/>
                </a:solidFill>
                <a:latin typeface="Arial"/>
                <a:ea typeface="Arial"/>
                <a:cs typeface="Arial"/>
              </a:rPr>
              <a:t>Only information available at the prediction origin can enter that forecast.</a:t>
            </a:r>
          </a:p>
        </p:txBody>
      </p:sp>
    </p:spTree>
    <p:extLst>
      <p:ext uri="{BB962C8B-B14F-4D97-AF65-F5344CB8AC3E}">
        <p14:creationId xmlns:p14="http://schemas.microsoft.com/office/powerpoint/2010/main" val="1392079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BCB6B81F-9381-47FC-B0A0-721C7CF713F2}"/>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Thirty-minute prediction error</a:t>
            </a:r>
          </a:p>
        </p:txBody>
      </p:sp>
      <p:sp>
        <p:nvSpPr>
          <p:cNvPr id="2" name="section">
            <a:extLst xmlns:a="http://schemas.openxmlformats.org/drawingml/2006/main">
              <a:ext uri="{FF2B5EF4-FFF2-40B4-BE49-F238E27FC236}">
                <a16:creationId xmlns:a16="http://schemas.microsoft.com/office/drawing/2014/main" id="{762F6481-21DA-4A35-97E0-6BC68152E60B}"/>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PREDICTION RESULTS</a:t>
            </a:r>
          </a:p>
        </p:txBody>
      </p:sp>
      <p:sp>
        <p:nvSpPr>
          <p:cNvPr id="3" name="footer">
            <a:extLst xmlns:a="http://schemas.openxmlformats.org/drawingml/2006/main">
              <a:ext uri="{FF2B5EF4-FFF2-40B4-BE49-F238E27FC236}">
                <a16:creationId xmlns:a16="http://schemas.microsoft.com/office/drawing/2014/main" id="{04D9EF94-E138-4A26-AB20-57AC64CB3B5F}"/>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8 / 49</a:t>
            </a:r>
          </a:p>
        </p:txBody>
      </p:sp>
      <p:graphicFrame>
        <p:nvGraphicFramePr>
          <p:cNvPr id="9" name="Chart"/>
          <p:cNvGraphicFramePr/>
          <p:nvPr/>
        </p:nvGraphicFramePr>
        <p:xfrm>
          <a:off xmlns:a="http://schemas.openxmlformats.org/drawingml/2006/main" x="809625" y="1724025"/>
          <a:ext xmlns:a="http://schemas.openxmlformats.org/drawingml/2006/main" cx="10572750" cy="3952875"/>
        </p:xfrm>
        <a:graphic xmlns:a="http://schemas.openxmlformats.org/drawingml/2006/main">
          <a:graphicData uri="http://schemas.openxmlformats.org/drawingml/2006/chart">
            <c:chart xmlns:r="http://schemas.openxmlformats.org/officeDocument/2006/relationships" xmlns:c="http://schemas.openxmlformats.org/drawingml/2006/chart" r:id="R0a9be2d675304197"/>
          </a:graphicData>
        </a:graphic>
      </p:graphicFrame>
      <p:sp>
        <p:nvSpPr>
          <p:cNvPr id="5" name="caption">
            <a:extLst xmlns:a="http://schemas.openxmlformats.org/drawingml/2006/main">
              <a:ext uri="{FF2B5EF4-FFF2-40B4-BE49-F238E27FC236}">
                <a16:creationId xmlns:a16="http://schemas.microsoft.com/office/drawing/2014/main" id="{5611F6EB-B7F9-431E-A829-21D16C43438B}"/>
              </a:ext>
            </a:extLst>
          </p:cNvPr>
          <p:cNvSpPr>
            <a:spLocks xmlns:a="http://schemas.openxmlformats.org/drawingml/2006/main" noGrp="1"/>
          </p:cNvSpPr>
          <p:nvPr/>
        </p:nvSpPr>
        <p:spPr>
          <a:xfrm xmlns:a="http://schemas.openxmlformats.org/drawingml/2006/main">
            <a:off x="685800" y="5905500"/>
            <a:ext cx="10820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06579"/>
                </a:solidFill>
                <a:latin typeface="Arial"/>
                <a:ea typeface="Arial"/>
                <a:cs typeface="Arial"/>
              </a:defRPr>
            </a:pPr>
            <a:r>
              <a:rPr sz="1500" b="0">
                <a:solidFill>
                  <a:srgbClr val="506579"/>
                </a:solidFill>
                <a:latin typeface="Arial"/>
                <a:ea typeface="Arial"/>
                <a:cs typeface="Arial"/>
              </a:rPr>
              <a:t>31 participants; 77,110 shared pairs. Lower is better. Medians weight participants equally.</a:t>
            </a:r>
          </a:p>
        </p:txBody>
      </p:sp>
    </p:spTree>
    <p:extLst>
      <p:ext uri="{BB962C8B-B14F-4D97-AF65-F5344CB8AC3E}">
        <p14:creationId xmlns:p14="http://schemas.microsoft.com/office/powerpoint/2010/main" val="55840607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9960B6F-99BF-4050-95ED-3CC599757E5C}"/>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Prediction findings and limits</a:t>
            </a:r>
          </a:p>
        </p:txBody>
      </p:sp>
      <p:sp>
        <p:nvSpPr>
          <p:cNvPr id="2" name="section">
            <a:extLst xmlns:a="http://schemas.openxmlformats.org/drawingml/2006/main">
              <a:ext uri="{FF2B5EF4-FFF2-40B4-BE49-F238E27FC236}">
                <a16:creationId xmlns:a16="http://schemas.microsoft.com/office/drawing/2014/main" id="{1D7FA6E6-33CB-4117-BAD3-CE71DE2EA877}"/>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PREDICTION RESULTS</a:t>
            </a:r>
          </a:p>
        </p:txBody>
      </p:sp>
      <p:sp>
        <p:nvSpPr>
          <p:cNvPr id="3" name="footer">
            <a:extLst xmlns:a="http://schemas.openxmlformats.org/drawingml/2006/main">
              <a:ext uri="{FF2B5EF4-FFF2-40B4-BE49-F238E27FC236}">
                <a16:creationId xmlns:a16="http://schemas.microsoft.com/office/drawing/2014/main" id="{79F00DB6-F182-481E-ACC8-363B8BC68667}"/>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9 / 49</a:t>
            </a:r>
          </a:p>
        </p:txBody>
      </p:sp>
      <p:graphicFrame>
        <p:nvGraphicFramePr>
          <p:cNvPr id="8" name=""/>
          <p:cNvGraphicFramePr/>
          <p:nvPr/>
        </p:nvGraphicFramePr>
        <p:xfrm>
          <a:off xmlns:a="http://schemas.openxmlformats.org/drawingml/2006/main" x="685800" y="1743075"/>
          <a:ext xmlns:a="http://schemas.openxmlformats.org/drawingml/2006/main" cx="10820400" cy="2952750"/>
        </p:xfrm>
        <a:graphic xmlns:a="http://schemas.openxmlformats.org/drawingml/2006/main">
          <a:graphicData uri="http://schemas.openxmlformats.org/drawingml/2006/table">
            <a:tbl>
              <a:tblPr/>
              <a:tblGrid>
                <a:gridCol w="3238500"/>
                <a:gridCol w="3810000"/>
                <a:gridCol w="3771900"/>
              </a:tblGrid>
              <a:tr h="590550">
                <a:tc>
                  <a:txBody>
                    <a:bodyPr>
                      <a:noAutofit/>
                    </a:bodyPr>
                    <a:lstStyle/>
                    <a:p>
                      <a:r>
                        <a:rPr sz="1725" b="1">
                          <a:solidFill>
                            <a:srgbClr val="FFFFFF"/>
                          </a:solidFill>
                          <a:latin typeface="Arial"/>
                          <a:ea typeface="Arial"/>
                          <a:cs typeface="Arial"/>
                        </a:rPr>
                        <a:t>Finding</a:t>
                      </a:r>
                    </a:p>
                  </a:txBody>
                  <a:tcPr marL="91440" marR="91440" marT="45720" marB="45720">
                    <a:solidFill>
                      <a:srgbClr val="132E40"/>
                    </a:solidFill>
                  </a:tcPr>
                </a:tc>
                <a:tc>
                  <a:txBody>
                    <a:bodyPr>
                      <a:noAutofit/>
                    </a:bodyPr>
                    <a:lstStyle/>
                    <a:p>
                      <a:r>
                        <a:rPr sz="1725" b="1">
                          <a:solidFill>
                            <a:srgbClr val="FFFFFF"/>
                          </a:solidFill>
                          <a:latin typeface="Arial"/>
                          <a:ea typeface="Arial"/>
                          <a:cs typeface="Arial"/>
                        </a:rPr>
                        <a:t>Estimate</a:t>
                      </a:r>
                    </a:p>
                  </a:txBody>
                  <a:tcPr marL="91440" marR="91440" marT="45720" marB="45720">
                    <a:solidFill>
                      <a:srgbClr val="132E40"/>
                    </a:solidFill>
                  </a:tcPr>
                </a:tc>
                <a:tc>
                  <a:txBody>
                    <a:bodyPr>
                      <a:noAutofit/>
                    </a:bodyPr>
                    <a:lstStyle/>
                    <a:p>
                      <a:r>
                        <a:rPr sz="1725" b="1">
                          <a:solidFill>
                            <a:srgbClr val="FFFFFF"/>
                          </a:solidFill>
                          <a:latin typeface="Arial"/>
                          <a:ea typeface="Arial"/>
                          <a:cs typeface="Arial"/>
                        </a:rPr>
                        <a:t>Interpretation</a:t>
                      </a:r>
                    </a:p>
                  </a:txBody>
                  <a:tcPr marL="91440" marR="91440" marT="45720" marB="45720">
                    <a:solidFill>
                      <a:srgbClr val="132E40"/>
                    </a:solidFill>
                  </a:tcPr>
                </a:tc>
              </a:tr>
              <a:tr h="590550">
                <a:tc>
                  <a:txBody>
                    <a:bodyPr>
                      <a:noAutofit/>
                    </a:bodyPr>
                    <a:lstStyle/>
                    <a:p>
                      <a:r>
                        <a:rPr sz="1725" b="0">
                          <a:solidFill>
                            <a:srgbClr val="132E40"/>
                          </a:solidFill>
                          <a:latin typeface="Arial"/>
                          <a:ea typeface="Arial"/>
                          <a:cs typeface="Arial"/>
                        </a:rPr>
                        <a:t>Selected − persistence RMSE</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−4.14 mg/dL; 95% CI −5.02 to −3.33</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Paired participant bootstrap</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Mechanistic versus persistence</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Worse in 28 of 31 participants</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Added structure did not ensure accuracy</a:t>
                      </a:r>
                    </a:p>
                  </a:txBody>
                  <a:tcPr marL="91440" marR="91440" marT="45720" marB="45720">
                    <a:solidFill>
                      <a:srgbClr val="EEF4F6"/>
                    </a:solidFill>
                  </a:tcPr>
                </a:tc>
              </a:tr>
              <a:tr h="590550">
                <a:tc>
                  <a:txBody>
                    <a:bodyPr>
                      <a:noAutofit/>
                    </a:bodyPr>
                    <a:lstStyle/>
                    <a:p>
                      <a:r>
                        <a:rPr sz="1725" b="0">
                          <a:solidFill>
                            <a:srgbClr val="132E40"/>
                          </a:solidFill>
                          <a:latin typeface="Arial"/>
                          <a:ea typeface="Arial"/>
                          <a:cs typeface="Arial"/>
                        </a:rPr>
                        <a:t>Test union alarm burden</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13 of 31 exceeded 1 episode/day</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Tune budget did not generalize to all</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Record disposition</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31 evaluated; 2 excluded; 1 failed</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Negative insulin entries caused explicit failure</a:t>
                      </a:r>
                    </a:p>
                  </a:txBody>
                  <a:tcPr marL="91440" marR="91440" marT="45720" marB="45720">
                    <a:solidFill>
                      <a:srgbClr val="EEF4F6"/>
                    </a:solidFill>
                  </a:tcPr>
                </a:tc>
              </a:tr>
            </a:tbl>
          </a:graphicData>
        </a:graphic>
      </p:graphicFrame>
    </p:spTree>
    <p:extLst>
      <p:ext uri="{BB962C8B-B14F-4D97-AF65-F5344CB8AC3E}">
        <p14:creationId xmlns:p14="http://schemas.microsoft.com/office/powerpoint/2010/main" val="61169537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477D0876-D050-4748-B8C4-88EFEAA13194}"/>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What this says about the model</a:t>
            </a:r>
          </a:p>
        </p:txBody>
      </p:sp>
      <p:sp>
        <p:nvSpPr>
          <p:cNvPr id="2" name="section">
            <a:extLst xmlns:a="http://schemas.openxmlformats.org/drawingml/2006/main">
              <a:ext uri="{FF2B5EF4-FFF2-40B4-BE49-F238E27FC236}">
                <a16:creationId xmlns:a16="http://schemas.microsoft.com/office/drawing/2014/main" id="{49E07AD4-3C2A-46C3-A035-F3014FE7B9C1}"/>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PREDICTION RESULTS</a:t>
            </a:r>
          </a:p>
        </p:txBody>
      </p:sp>
      <p:sp>
        <p:nvSpPr>
          <p:cNvPr id="3" name="footer">
            <a:extLst xmlns:a="http://schemas.openxmlformats.org/drawingml/2006/main">
              <a:ext uri="{FF2B5EF4-FFF2-40B4-BE49-F238E27FC236}">
                <a16:creationId xmlns:a16="http://schemas.microsoft.com/office/drawing/2014/main" id="{363149AC-0493-4AF8-9001-BCE86C8AE779}"/>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10 / 49</a:t>
            </a:r>
          </a:p>
        </p:txBody>
      </p:sp>
      <p:sp>
        <p:nvSpPr>
          <p:cNvPr id="4" name="body0">
            <a:extLst xmlns:a="http://schemas.openxmlformats.org/drawingml/2006/main">
              <a:ext uri="{FF2B5EF4-FFF2-40B4-BE49-F238E27FC236}">
                <a16:creationId xmlns:a16="http://schemas.microsoft.com/office/drawing/2014/main" id="{AA16C631-0497-4E61-B09B-E9B49521E983}"/>
              </a:ext>
            </a:extLst>
          </p:cNvPr>
          <p:cNvSpPr>
            <a:spLocks xmlns:a="http://schemas.openxmlformats.org/drawingml/2006/main" noGrp="1"/>
          </p:cNvSpPr>
          <p:nvPr/>
        </p:nvSpPr>
        <p:spPr>
          <a:xfrm xmlns:a="http://schemas.openxmlformats.org/drawingml/2006/main">
            <a:off x="685800" y="1866900"/>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32E40"/>
                </a:solidFill>
                <a:latin typeface="Arial"/>
                <a:ea typeface="Arial"/>
                <a:cs typeface="Arial"/>
              </a:defRPr>
            </a:pPr>
            <a:r>
              <a:rPr sz="2175" b="1">
                <a:solidFill>
                  <a:srgbClr val="132E40"/>
                </a:solidFill>
                <a:latin typeface="Arial"/>
                <a:ea typeface="Arial"/>
                <a:cs typeface="Arial"/>
              </a:rPr>
              <a:t>The mechanistic model was less accurate than persistence for most supplied participants.</a:t>
            </a:r>
          </a:p>
        </p:txBody>
      </p:sp>
      <p:sp>
        <p:nvSpPr>
          <p:cNvPr id="5" name="body1">
            <a:extLst xmlns:a="http://schemas.openxmlformats.org/drawingml/2006/main">
              <a:ext uri="{FF2B5EF4-FFF2-40B4-BE49-F238E27FC236}">
                <a16:creationId xmlns:a16="http://schemas.microsoft.com/office/drawing/2014/main" id="{4A3C4578-AF83-4464-8A02-E690FA300C02}"/>
              </a:ext>
            </a:extLst>
          </p:cNvPr>
          <p:cNvSpPr>
            <a:spLocks xmlns:a="http://schemas.openxmlformats.org/drawingml/2006/main" noGrp="1"/>
          </p:cNvSpPr>
          <p:nvPr/>
        </p:nvSpPr>
        <p:spPr>
          <a:xfrm xmlns:a="http://schemas.openxmlformats.org/drawingml/2006/main">
            <a:off x="685800" y="3019425"/>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06579"/>
                </a:solidFill>
                <a:latin typeface="Arial"/>
                <a:ea typeface="Arial"/>
                <a:cs typeface="Arial"/>
              </a:defRPr>
            </a:pPr>
            <a:r>
              <a:rPr sz="2175" b="0">
                <a:solidFill>
                  <a:srgbClr val="506579"/>
                </a:solidFill>
                <a:latin typeface="Arial"/>
                <a:ea typeface="Arial"/>
                <a:cs typeface="Arial"/>
              </a:rPr>
              <a:t>The corrected pipeline therefore permits a simpler predictor selected before testing.</a:t>
            </a:r>
          </a:p>
        </p:txBody>
      </p:sp>
      <p:sp>
        <p:nvSpPr>
          <p:cNvPr id="6" name="body2">
            <a:extLst xmlns:a="http://schemas.openxmlformats.org/drawingml/2006/main">
              <a:ext uri="{FF2B5EF4-FFF2-40B4-BE49-F238E27FC236}">
                <a16:creationId xmlns:a16="http://schemas.microsoft.com/office/drawing/2014/main" id="{50E322BA-CC4A-4F4E-90E8-8B52E28C0B36}"/>
              </a:ext>
            </a:extLst>
          </p:cNvPr>
          <p:cNvSpPr>
            <a:spLocks xmlns:a="http://schemas.openxmlformats.org/drawingml/2006/main" noGrp="1"/>
          </p:cNvSpPr>
          <p:nvPr/>
        </p:nvSpPr>
        <p:spPr>
          <a:xfrm xmlns:a="http://schemas.openxmlformats.org/drawingml/2006/main">
            <a:off x="685800" y="4171950"/>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06579"/>
                </a:solidFill>
                <a:latin typeface="Arial"/>
                <a:ea typeface="Arial"/>
                <a:cs typeface="Arial"/>
              </a:defRPr>
            </a:pPr>
            <a:r>
              <a:rPr sz="2175" b="0">
                <a:solidFill>
                  <a:srgbClr val="506579"/>
                </a:solidFill>
                <a:latin typeface="Arial"/>
                <a:ea typeface="Arial"/>
                <a:cs typeface="Arial"/>
              </a:rPr>
              <a:t>This is a limit of this model, implementation and dataset combination; it is not a verdict on every physiological model.</a:t>
            </a:r>
          </a:p>
        </p:txBody>
      </p:sp>
    </p:spTree>
    <p:extLst>
      <p:ext uri="{BB962C8B-B14F-4D97-AF65-F5344CB8AC3E}">
        <p14:creationId xmlns:p14="http://schemas.microsoft.com/office/powerpoint/2010/main" val="190992868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3ADEAFB2-AE94-4E0C-83C9-0E252FD44FAF}"/>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Matched intervention experiments</a:t>
            </a:r>
          </a:p>
        </p:txBody>
      </p:sp>
      <p:sp>
        <p:nvSpPr>
          <p:cNvPr id="2" name="section">
            <a:extLst xmlns:a="http://schemas.openxmlformats.org/drawingml/2006/main">
              <a:ext uri="{FF2B5EF4-FFF2-40B4-BE49-F238E27FC236}">
                <a16:creationId xmlns:a16="http://schemas.microsoft.com/office/drawing/2014/main" id="{31B6E588-BFA8-490D-B826-933809461B56}"/>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METHODS</a:t>
            </a:r>
          </a:p>
        </p:txBody>
      </p:sp>
      <p:sp>
        <p:nvSpPr>
          <p:cNvPr id="3" name="footer">
            <a:extLst xmlns:a="http://schemas.openxmlformats.org/drawingml/2006/main">
              <a:ext uri="{FF2B5EF4-FFF2-40B4-BE49-F238E27FC236}">
                <a16:creationId xmlns:a16="http://schemas.microsoft.com/office/drawing/2014/main" id="{C4C0F995-2C90-4AA8-8A52-CC851A03DECC}"/>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11 / 49</a:t>
            </a:r>
          </a:p>
        </p:txBody>
      </p:sp>
      <p:sp>
        <p:nvSpPr>
          <p:cNvPr id="4" name="">
            <a:extLst xmlns:a="http://schemas.openxmlformats.org/drawingml/2006/main">
              <a:ext uri="{FF2B5EF4-FFF2-40B4-BE49-F238E27FC236}">
                <a16:creationId xmlns:a16="http://schemas.microsoft.com/office/drawing/2014/main" id="{69DF747B-C028-45BC-B0C1-715A5800C8D6}"/>
              </a:ext>
            </a:extLst>
          </p:cNvPr>
          <p:cNvSpPr>
            <a:spLocks xmlns:a="http://schemas.openxmlformats.org/drawingml/2006/main" noGrp="1"/>
          </p:cNvSpPr>
          <p:nvPr/>
        </p:nvSpPr>
        <p:spPr>
          <a:xfrm xmlns:a="http://schemas.openxmlformats.org/drawingml/2006/main">
            <a:off x="685800" y="2095500"/>
            <a:ext cx="3190875" cy="1143000"/>
          </a:xfrm>
          <a:prstGeom xmlns:a="http://schemas.openxmlformats.org/drawingml/2006/main" prst="rect">
            <a:avLst/>
          </a:prstGeom>
          <a:solidFill xmlns:a="http://schemas.openxmlformats.org/drawingml/2006/main">
            <a:srgbClr val="FFFFFF"/>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Shared reference</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request tape</a:t>
            </a:r>
          </a:p>
        </p:txBody>
      </p:sp>
      <p:sp>
        <p:nvSpPr>
          <p:cNvPr id="5" name="">
            <a:extLst xmlns:a="http://schemas.openxmlformats.org/drawingml/2006/main">
              <a:ext uri="{FF2B5EF4-FFF2-40B4-BE49-F238E27FC236}">
                <a16:creationId xmlns:a16="http://schemas.microsoft.com/office/drawing/2014/main" id="{95EB96A3-8C69-4FF4-BDBF-6680D45FA179}"/>
              </a:ext>
            </a:extLst>
          </p:cNvPr>
          <p:cNvSpPr>
            <a:spLocks xmlns:a="http://schemas.openxmlformats.org/drawingml/2006/main" noGrp="1"/>
          </p:cNvSpPr>
          <p:nvPr/>
        </p:nvSpPr>
        <p:spPr>
          <a:xfrm xmlns:a="http://schemas.openxmlformats.org/drawingml/2006/main">
            <a:off x="4495800" y="2095500"/>
            <a:ext cx="3190875" cy="1143000"/>
          </a:xfrm>
          <a:prstGeom xmlns:a="http://schemas.openxmlformats.org/drawingml/2006/main" prst="rect">
            <a:avLst/>
          </a:prstGeom>
          <a:solidFill xmlns:a="http://schemas.openxmlformats.org/drawingml/2006/main">
            <a:srgbClr val="FFFFFF"/>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Same meals + noise</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paired seed</a:t>
            </a:r>
          </a:p>
        </p:txBody>
      </p:sp>
      <p:sp>
        <p:nvSpPr>
          <p:cNvPr id="6" name="">
            <a:extLst xmlns:a="http://schemas.openxmlformats.org/drawingml/2006/main">
              <a:ext uri="{FF2B5EF4-FFF2-40B4-BE49-F238E27FC236}">
                <a16:creationId xmlns:a16="http://schemas.microsoft.com/office/drawing/2014/main" id="{EF07595E-5716-4D6E-8E9B-19C0329F5197}"/>
              </a:ext>
            </a:extLst>
          </p:cNvPr>
          <p:cNvSpPr>
            <a:spLocks xmlns:a="http://schemas.openxmlformats.org/drawingml/2006/main" noGrp="1"/>
          </p:cNvSpPr>
          <p:nvPr/>
        </p:nvSpPr>
        <p:spPr>
          <a:xfrm xmlns:a="http://schemas.openxmlformats.org/drawingml/2006/main">
            <a:off x="8305800" y="2095500"/>
            <a:ext cx="3190875" cy="1143000"/>
          </a:xfrm>
          <a:prstGeom xmlns:a="http://schemas.openxmlformats.org/drawingml/2006/main" prst="rect">
            <a:avLst/>
          </a:prstGeom>
          <a:solidFill xmlns:a="http://schemas.openxmlformats.org/drawingml/2006/main">
            <a:srgbClr val="FFFFFF"/>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Practical methods</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equal observations</a:t>
            </a:r>
          </a:p>
        </p:txBody>
      </p:sp>
      <p:sp>
        <p:nvSpPr>
          <p:cNvPr id="7" name="">
            <a:extLst xmlns:a="http://schemas.openxmlformats.org/drawingml/2006/main">
              <a:ext uri="{FF2B5EF4-FFF2-40B4-BE49-F238E27FC236}">
                <a16:creationId xmlns:a16="http://schemas.microsoft.com/office/drawing/2014/main" id="{E23DD29A-3FD4-4147-901E-4FAC01B99AA7}"/>
              </a:ext>
            </a:extLst>
          </p:cNvPr>
          <p:cNvSpPr>
            <a:spLocks xmlns:a="http://schemas.openxmlformats.org/drawingml/2006/main" noGrp="1"/>
          </p:cNvSpPr>
          <p:nvPr/>
        </p:nvSpPr>
        <p:spPr>
          <a:xfrm xmlns:a="http://schemas.openxmlformats.org/drawingml/2006/main">
            <a:off x="8305800" y="3762375"/>
            <a:ext cx="3190875" cy="1143000"/>
          </a:xfrm>
          <a:prstGeom xmlns:a="http://schemas.openxmlformats.org/drawingml/2006/main" prst="rect">
            <a:avLst/>
          </a:prstGeom>
          <a:solidFill xmlns:a="http://schemas.openxmlformats.org/drawingml/2006/main">
            <a:srgbClr val="FFFFFF"/>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Same local rules</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equal stop authority</a:t>
            </a:r>
          </a:p>
        </p:txBody>
      </p:sp>
      <p:sp>
        <p:nvSpPr>
          <p:cNvPr id="8" name="">
            <a:extLst xmlns:a="http://schemas.openxmlformats.org/drawingml/2006/main">
              <a:ext uri="{FF2B5EF4-FFF2-40B4-BE49-F238E27FC236}">
                <a16:creationId xmlns:a16="http://schemas.microsoft.com/office/drawing/2014/main" id="{B9F18294-6161-46C2-8F65-3C0EBF0F0586}"/>
              </a:ext>
            </a:extLst>
          </p:cNvPr>
          <p:cNvSpPr>
            <a:spLocks xmlns:a="http://schemas.openxmlformats.org/drawingml/2006/main" noGrp="1"/>
          </p:cNvSpPr>
          <p:nvPr/>
        </p:nvSpPr>
        <p:spPr>
          <a:xfrm xmlns:a="http://schemas.openxmlformats.org/drawingml/2006/main">
            <a:off x="4495800" y="3762375"/>
            <a:ext cx="3190875" cy="1143000"/>
          </a:xfrm>
          <a:prstGeom xmlns:a="http://schemas.openxmlformats.org/drawingml/2006/main" prst="rect">
            <a:avLst/>
          </a:prstGeom>
          <a:solidFill xmlns:a="http://schemas.openxmlformats.org/drawingml/2006/main">
            <a:srgbClr val="EEF4F6"/>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Emitted amount</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drives plant</a:t>
            </a:r>
          </a:p>
        </p:txBody>
      </p:sp>
      <p:sp>
        <p:nvSpPr>
          <p:cNvPr id="9" name="">
            <a:extLst xmlns:a="http://schemas.openxmlformats.org/drawingml/2006/main">
              <a:ext uri="{FF2B5EF4-FFF2-40B4-BE49-F238E27FC236}">
                <a16:creationId xmlns:a16="http://schemas.microsoft.com/office/drawing/2014/main" id="{E355BD97-AD23-4298-BA72-D993CFE10A4F}"/>
              </a:ext>
            </a:extLst>
          </p:cNvPr>
          <p:cNvSpPr>
            <a:spLocks xmlns:a="http://schemas.openxmlformats.org/drawingml/2006/main" noGrp="1"/>
          </p:cNvSpPr>
          <p:nvPr/>
        </p:nvSpPr>
        <p:spPr>
          <a:xfrm xmlns:a="http://schemas.openxmlformats.org/drawingml/2006/main">
            <a:off x="685800" y="3762375"/>
            <a:ext cx="3190875" cy="1143000"/>
          </a:xfrm>
          <a:prstGeom xmlns:a="http://schemas.openxmlformats.org/drawingml/2006/main" prst="rect">
            <a:avLst/>
          </a:prstGeom>
          <a:solidFill xmlns:a="http://schemas.openxmlformats.org/drawingml/2006/main">
            <a:srgbClr val="EEF4F6"/>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Excess + deficit</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interruption + recovery</a:t>
            </a:r>
          </a:p>
        </p:txBody>
      </p:sp>
      <p:cxnSp>
        <p:nvCxnSpPr>
          <p:cNvPr id="25" name=""/>
          <p:cNvCxnSpPr>
            <a:stCxn xmlns:a="http://schemas.openxmlformats.org/drawingml/2006/main" id="4" idx="3"/>
            <a:endCxn xmlns:a="http://schemas.openxmlformats.org/drawingml/2006/main" id="5" idx="1"/>
          </p:cNvCxnSpPr>
          <p:nvPr/>
        </p:nvCxnSpPr>
        <p:spPr>
          <a:xfrm xmlns:a="http://schemas.openxmlformats.org/drawingml/2006/main">
            <a:off x="3876675" y="2667000"/>
            <a:ext cx="619125" cy="0"/>
          </a:xfrm>
          <a:prstGeom xmlns:a="http://schemas.openxmlformats.org/drawingml/2006/main" prst="straightConnector1">
            <a:avLst/>
          </a:prstGeom>
          <a:ln xmlns:a="http://schemas.openxmlformats.org/drawingml/2006/main" w="19050">
            <a:solidFill>
              <a:srgbClr val="168B8D"/>
            </a:solidFill>
            <a:tailEnd type="arrow" w="med" len="med"/>
          </a:ln>
        </p:spPr>
      </p:cxnSp>
      <p:cxnSp>
        <p:nvCxnSpPr>
          <p:cNvPr id="26" name=""/>
          <p:cNvCxnSpPr>
            <a:stCxn xmlns:a="http://schemas.openxmlformats.org/drawingml/2006/main" id="5" idx="3"/>
            <a:endCxn xmlns:a="http://schemas.openxmlformats.org/drawingml/2006/main" id="6" idx="1"/>
          </p:cNvCxnSpPr>
          <p:nvPr/>
        </p:nvCxnSpPr>
        <p:spPr>
          <a:xfrm xmlns:a="http://schemas.openxmlformats.org/drawingml/2006/main">
            <a:off x="7686675" y="2667000"/>
            <a:ext cx="619125" cy="0"/>
          </a:xfrm>
          <a:prstGeom xmlns:a="http://schemas.openxmlformats.org/drawingml/2006/main" prst="straightConnector1">
            <a:avLst/>
          </a:prstGeom>
          <a:ln xmlns:a="http://schemas.openxmlformats.org/drawingml/2006/main" w="19050">
            <a:solidFill>
              <a:srgbClr val="168B8D"/>
            </a:solidFill>
            <a:tailEnd type="arrow" w="med" len="med"/>
          </a:ln>
        </p:spPr>
      </p:cxnSp>
      <p:cxnSp>
        <p:nvCxnSpPr>
          <p:cNvPr id="27" name=""/>
          <p:cNvCxnSpPr>
            <a:stCxn xmlns:a="http://schemas.openxmlformats.org/drawingml/2006/main" id="6" idx="2"/>
            <a:endCxn xmlns:a="http://schemas.openxmlformats.org/drawingml/2006/main" id="7" idx="0"/>
          </p:cNvCxnSpPr>
          <p:nvPr/>
        </p:nvCxnSpPr>
        <p:spPr>
          <a:xfrm xmlns:a="http://schemas.openxmlformats.org/drawingml/2006/main">
            <a:off x="9901238" y="3238500"/>
            <a:ext cx="0" cy="523875"/>
          </a:xfrm>
          <a:prstGeom xmlns:a="http://schemas.openxmlformats.org/drawingml/2006/main" prst="straightConnector1">
            <a:avLst/>
          </a:prstGeom>
          <a:ln xmlns:a="http://schemas.openxmlformats.org/drawingml/2006/main" w="19050">
            <a:solidFill>
              <a:srgbClr val="168B8D"/>
            </a:solidFill>
            <a:tailEnd type="arrow" w="med" len="med"/>
          </a:ln>
        </p:spPr>
      </p:cxnSp>
      <p:cxnSp>
        <p:nvCxnSpPr>
          <p:cNvPr id="28" name=""/>
          <p:cNvCxnSpPr>
            <a:stCxn xmlns:a="http://schemas.openxmlformats.org/drawingml/2006/main" id="7" idx="1"/>
            <a:endCxn xmlns:a="http://schemas.openxmlformats.org/drawingml/2006/main" id="8" idx="3"/>
          </p:cNvCxnSpPr>
          <p:nvPr/>
        </p:nvCxnSpPr>
        <p:spPr>
          <a:xfrm xmlns:a="http://schemas.openxmlformats.org/drawingml/2006/main" flipH="1">
            <a:off x="7686675" y="4333875"/>
            <a:ext cx="619125" cy="0"/>
          </a:xfrm>
          <a:prstGeom xmlns:a="http://schemas.openxmlformats.org/drawingml/2006/main" prst="straightConnector1">
            <a:avLst/>
          </a:prstGeom>
          <a:ln xmlns:a="http://schemas.openxmlformats.org/drawingml/2006/main" w="19050">
            <a:solidFill>
              <a:srgbClr val="168B8D"/>
            </a:solidFill>
            <a:tailEnd type="arrow" w="med" len="med"/>
          </a:ln>
        </p:spPr>
      </p:cxnSp>
      <p:cxnSp>
        <p:nvCxnSpPr>
          <p:cNvPr id="29" name=""/>
          <p:cNvCxnSpPr>
            <a:stCxn xmlns:a="http://schemas.openxmlformats.org/drawingml/2006/main" id="8" idx="1"/>
            <a:endCxn xmlns:a="http://schemas.openxmlformats.org/drawingml/2006/main" id="9" idx="3"/>
          </p:cNvCxnSpPr>
          <p:nvPr/>
        </p:nvCxnSpPr>
        <p:spPr>
          <a:xfrm xmlns:a="http://schemas.openxmlformats.org/drawingml/2006/main" flipH="1">
            <a:off x="3876675" y="4333875"/>
            <a:ext cx="619125" cy="0"/>
          </a:xfrm>
          <a:prstGeom xmlns:a="http://schemas.openxmlformats.org/drawingml/2006/main" prst="straightConnector1">
            <a:avLst/>
          </a:prstGeom>
          <a:ln xmlns:a="http://schemas.openxmlformats.org/drawingml/2006/main" w="19050">
            <a:solidFill>
              <a:srgbClr val="168B8D"/>
            </a:solidFill>
            <a:tailEnd type="arrow" w="med" len="med"/>
          </a:ln>
        </p:spPr>
      </p:cxnSp>
      <p:sp>
        <p:nvSpPr>
          <p:cNvPr id="15" name="caption">
            <a:extLst xmlns:a="http://schemas.openxmlformats.org/drawingml/2006/main">
              <a:ext uri="{FF2B5EF4-FFF2-40B4-BE49-F238E27FC236}">
                <a16:creationId xmlns:a16="http://schemas.microsoft.com/office/drawing/2014/main" id="{0B6D2F4C-FB3E-4A5C-AF4B-82D75A5A137E}"/>
              </a:ext>
            </a:extLst>
          </p:cNvPr>
          <p:cNvSpPr>
            <a:spLocks xmlns:a="http://schemas.openxmlformats.org/drawingml/2006/main" noGrp="1"/>
          </p:cNvSpPr>
          <p:nvPr/>
        </p:nvSpPr>
        <p:spPr>
          <a:xfrm xmlns:a="http://schemas.openxmlformats.org/drawingml/2006/main">
            <a:off x="685800" y="53435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06579"/>
                </a:solidFill>
                <a:latin typeface="Arial"/>
                <a:ea typeface="Arial"/>
                <a:cs typeface="Arial"/>
              </a:defRPr>
            </a:pPr>
            <a:r>
              <a:rPr sz="1800" b="0">
                <a:solidFill>
                  <a:srgbClr val="506579"/>
                </a:solidFill>
                <a:latin typeface="Arial"/>
                <a:ea typeface="Arial"/>
                <a:cs typeface="Arial"/>
              </a:rPr>
              <a:t>Oracle uses evaluator-only fault timing and is reported as a privileged benchmark.</a:t>
            </a:r>
          </a:p>
        </p:txBody>
      </p:sp>
    </p:spTree>
    <p:extLst>
      <p:ext uri="{BB962C8B-B14F-4D97-AF65-F5344CB8AC3E}">
        <p14:creationId xmlns:p14="http://schemas.microsoft.com/office/powerpoint/2010/main" val="154083433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A9269EC-1869-4789-89E1-E5824A9ED370}"/>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The primary experiment</a:t>
            </a:r>
          </a:p>
        </p:txBody>
      </p:sp>
      <p:sp>
        <p:nvSpPr>
          <p:cNvPr id="2" name="section">
            <a:extLst xmlns:a="http://schemas.openxmlformats.org/drawingml/2006/main">
              <a:ext uri="{FF2B5EF4-FFF2-40B4-BE49-F238E27FC236}">
                <a16:creationId xmlns:a16="http://schemas.microsoft.com/office/drawing/2014/main" id="{EB8C55B7-4CE0-4455-9355-B4146F2675F2}"/>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METHODS</a:t>
            </a:r>
          </a:p>
        </p:txBody>
      </p:sp>
      <p:sp>
        <p:nvSpPr>
          <p:cNvPr id="3" name="footer">
            <a:extLst xmlns:a="http://schemas.openxmlformats.org/drawingml/2006/main">
              <a:ext uri="{FF2B5EF4-FFF2-40B4-BE49-F238E27FC236}">
                <a16:creationId xmlns:a16="http://schemas.microsoft.com/office/drawing/2014/main" id="{53F32E93-784F-489D-9EE1-726963051D28}"/>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12 / 49</a:t>
            </a:r>
          </a:p>
        </p:txBody>
      </p:sp>
      <p:graphicFrame>
        <p:nvGraphicFramePr>
          <p:cNvPr id="8" name=""/>
          <p:cNvGraphicFramePr/>
          <p:nvPr/>
        </p:nvGraphicFramePr>
        <p:xfrm>
          <a:off xmlns:a="http://schemas.openxmlformats.org/drawingml/2006/main" x="685800" y="1743075"/>
          <a:ext xmlns:a="http://schemas.openxmlformats.org/drawingml/2006/main" cx="10820400" cy="3543300"/>
        </p:xfrm>
        <a:graphic xmlns:a="http://schemas.openxmlformats.org/drawingml/2006/main">
          <a:graphicData uri="http://schemas.openxmlformats.org/drawingml/2006/table">
            <a:tbl>
              <a:tblPr/>
              <a:tblGrid>
                <a:gridCol w="3143250"/>
                <a:gridCol w="7677150"/>
              </a:tblGrid>
              <a:tr h="590550">
                <a:tc>
                  <a:txBody>
                    <a:bodyPr>
                      <a:noAutofit/>
                    </a:bodyPr>
                    <a:lstStyle/>
                    <a:p>
                      <a:r>
                        <a:rPr sz="1725" b="1">
                          <a:solidFill>
                            <a:srgbClr val="FFFFFF"/>
                          </a:solidFill>
                          <a:latin typeface="Arial"/>
                          <a:ea typeface="Arial"/>
                          <a:cs typeface="Arial"/>
                        </a:rPr>
                        <a:t>Design choice</a:t>
                      </a:r>
                    </a:p>
                  </a:txBody>
                  <a:tcPr marL="91440" marR="91440" marT="45720" marB="45720">
                    <a:solidFill>
                      <a:srgbClr val="132E40"/>
                    </a:solidFill>
                  </a:tcPr>
                </a:tc>
                <a:tc>
                  <a:txBody>
                    <a:bodyPr>
                      <a:noAutofit/>
                    </a:bodyPr>
                    <a:lstStyle/>
                    <a:p>
                      <a:r>
                        <a:rPr sz="1725" b="1">
                          <a:solidFill>
                            <a:srgbClr val="FFFFFF"/>
                          </a:solidFill>
                          <a:latin typeface="Arial"/>
                          <a:ea typeface="Arial"/>
                          <a:cs typeface="Arial"/>
                        </a:rPr>
                        <a:t>Frozen specification</a:t>
                      </a:r>
                    </a:p>
                  </a:txBody>
                  <a:tcPr marL="91440" marR="91440" marT="45720" marB="45720">
                    <a:solidFill>
                      <a:srgbClr val="132E40"/>
                    </a:solidFill>
                  </a:tcPr>
                </a:tc>
              </a:tr>
              <a:tr h="590550">
                <a:tc>
                  <a:txBody>
                    <a:bodyPr>
                      <a:noAutofit/>
                    </a:bodyPr>
                    <a:lstStyle/>
                    <a:p>
                      <a:r>
                        <a:rPr sz="1725" b="0">
                          <a:solidFill>
                            <a:srgbClr val="132E40"/>
                          </a:solidFill>
                          <a:latin typeface="Arial"/>
                          <a:ea typeface="Arial"/>
                          <a:cs typeface="Arial"/>
                        </a:rPr>
                        <a:t>Physiological plants</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GECO original five-state; original Hovorka 2004 equations</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Test units</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24 parameter vectors × 2 noise seeds per plant</a:t>
                      </a:r>
                    </a:p>
                  </a:txBody>
                  <a:tcPr marL="91440" marR="91440" marT="45720" marB="45720">
                    <a:solidFill>
                      <a:srgbClr val="EEF4F6"/>
                    </a:solidFill>
                  </a:tcPr>
                </a:tc>
              </a:tr>
              <a:tr h="590550">
                <a:tc>
                  <a:txBody>
                    <a:bodyPr>
                      <a:noAutofit/>
                    </a:bodyPr>
                    <a:lstStyle/>
                    <a:p>
                      <a:r>
                        <a:rPr sz="1725" b="0">
                          <a:solidFill>
                            <a:srgbClr val="132E40"/>
                          </a:solidFill>
                          <a:latin typeface="Arial"/>
                          <a:ea typeface="Arial"/>
                          <a:cs typeface="Arial"/>
                        </a:rPr>
                        <a:t>Duration and disturbances</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48 h at 5 min; fault 12–14 h; eight conditions</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Primary comparisons</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Six response arms; 4,608 runs</a:t>
                      </a:r>
                    </a:p>
                  </a:txBody>
                  <a:tcPr marL="91440" marR="91440" marT="45720" marB="45720">
                    <a:solidFill>
                      <a:srgbClr val="EEF4F6"/>
                    </a:solidFill>
                  </a:tcPr>
                </a:tc>
              </a:tr>
              <a:tr h="590550">
                <a:tc>
                  <a:txBody>
                    <a:bodyPr>
                      <a:noAutofit/>
                    </a:bodyPr>
                    <a:lstStyle/>
                    <a:p>
                      <a:r>
                        <a:rPr sz="1725" b="0">
                          <a:solidFill>
                            <a:srgbClr val="132E40"/>
                          </a:solidFill>
                          <a:latin typeface="Arial"/>
                          <a:ea typeface="Arial"/>
                          <a:cs typeface="Arial"/>
                        </a:rPr>
                        <a:t>Stop-model sensitivity</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576 runs; 5,184 completed in total</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40648867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07E216E-75D0-4D9B-AC52-51531B45E0B3}"/>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Faults and observation assumptions</a:t>
            </a:r>
          </a:p>
        </p:txBody>
      </p:sp>
      <p:sp>
        <p:nvSpPr>
          <p:cNvPr id="2" name="section">
            <a:extLst xmlns:a="http://schemas.openxmlformats.org/drawingml/2006/main">
              <a:ext uri="{FF2B5EF4-FFF2-40B4-BE49-F238E27FC236}">
                <a16:creationId xmlns:a16="http://schemas.microsoft.com/office/drawing/2014/main" id="{E63F8F14-5473-4B6B-AE75-AA97E3BF12CF}"/>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METHODS</a:t>
            </a:r>
          </a:p>
        </p:txBody>
      </p:sp>
      <p:sp>
        <p:nvSpPr>
          <p:cNvPr id="3" name="footer">
            <a:extLst xmlns:a="http://schemas.openxmlformats.org/drawingml/2006/main">
              <a:ext uri="{FF2B5EF4-FFF2-40B4-BE49-F238E27FC236}">
                <a16:creationId xmlns:a16="http://schemas.microsoft.com/office/drawing/2014/main" id="{472E314A-B1CC-4DD0-A09C-A619DCD07214}"/>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13 / 49</a:t>
            </a:r>
          </a:p>
        </p:txBody>
      </p:sp>
      <p:graphicFrame>
        <p:nvGraphicFramePr>
          <p:cNvPr id="8" name=""/>
          <p:cNvGraphicFramePr/>
          <p:nvPr/>
        </p:nvGraphicFramePr>
        <p:xfrm>
          <a:off xmlns:a="http://schemas.openxmlformats.org/drawingml/2006/main" x="685800" y="1743075"/>
          <a:ext xmlns:a="http://schemas.openxmlformats.org/drawingml/2006/main" cx="10820400" cy="3543300"/>
        </p:xfrm>
        <a:graphic xmlns:a="http://schemas.openxmlformats.org/drawingml/2006/main">
          <a:graphicData uri="http://schemas.openxmlformats.org/drawingml/2006/table">
            <a:tbl>
              <a:tblPr/>
              <a:tblGrid>
                <a:gridCol w="3238500"/>
                <a:gridCol w="3810000"/>
                <a:gridCol w="3771900"/>
              </a:tblGrid>
              <a:tr h="590550">
                <a:tc>
                  <a:txBody>
                    <a:bodyPr>
                      <a:noAutofit/>
                    </a:bodyPr>
                    <a:lstStyle/>
                    <a:p>
                      <a:r>
                        <a:rPr sz="1725" b="1">
                          <a:solidFill>
                            <a:srgbClr val="FFFFFF"/>
                          </a:solidFill>
                          <a:latin typeface="Arial"/>
                          <a:ea typeface="Arial"/>
                          <a:cs typeface="Arial"/>
                        </a:rPr>
                        <a:t>Condition</a:t>
                      </a:r>
                    </a:p>
                  </a:txBody>
                  <a:tcPr marL="91440" marR="91440" marT="45720" marB="45720">
                    <a:solidFill>
                      <a:srgbClr val="132E40"/>
                    </a:solidFill>
                  </a:tcPr>
                </a:tc>
                <a:tc>
                  <a:txBody>
                    <a:bodyPr>
                      <a:noAutofit/>
                    </a:bodyPr>
                    <a:lstStyle/>
                    <a:p>
                      <a:r>
                        <a:rPr sz="1725" b="1">
                          <a:solidFill>
                            <a:srgbClr val="FFFFFF"/>
                          </a:solidFill>
                          <a:latin typeface="Arial"/>
                          <a:ea typeface="Arial"/>
                          <a:cs typeface="Arial"/>
                        </a:rPr>
                        <a:t>Injected change</a:t>
                      </a:r>
                    </a:p>
                  </a:txBody>
                  <a:tcPr marL="91440" marR="91440" marT="45720" marB="45720">
                    <a:solidFill>
                      <a:srgbClr val="132E40"/>
                    </a:solidFill>
                  </a:tcPr>
                </a:tc>
                <a:tc>
                  <a:txBody>
                    <a:bodyPr>
                      <a:noAutofit/>
                    </a:bodyPr>
                    <a:lstStyle/>
                    <a:p>
                      <a:r>
                        <a:rPr sz="1725" b="1">
                          <a:solidFill>
                            <a:srgbClr val="FFFFFF"/>
                          </a:solidFill>
                          <a:latin typeface="Arial"/>
                          <a:ea typeface="Arial"/>
                          <a:cs typeface="Arial"/>
                        </a:rPr>
                        <a:t>Evidence retained</a:t>
                      </a:r>
                    </a:p>
                  </a:txBody>
                  <a:tcPr marL="91440" marR="91440" marT="45720" marB="45720">
                    <a:solidFill>
                      <a:srgbClr val="132E40"/>
                    </a:solidFill>
                  </a:tcPr>
                </a:tc>
              </a:tr>
              <a:tr h="590550">
                <a:tc>
                  <a:txBody>
                    <a:bodyPr>
                      <a:noAutofit/>
                    </a:bodyPr>
                    <a:lstStyle/>
                    <a:p>
                      <a:r>
                        <a:rPr sz="1725" b="0">
                          <a:solidFill>
                            <a:srgbClr val="132E40"/>
                          </a:solidFill>
                          <a:latin typeface="Arial"/>
                          <a:ea typeface="Arial"/>
                          <a:cs typeface="Arial"/>
                        </a:rPr>
                        <a:t>Excess / stuck-on</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Actuator input doubled / added emission</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Local and reported balance</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Occlusion</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No emission in fault window</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Commands and local balance</a:t>
                      </a:r>
                    </a:p>
                  </a:txBody>
                  <a:tcPr marL="91440" marR="91440" marT="45720" marB="45720">
                    <a:solidFill>
                      <a:srgbClr val="EEF4F6"/>
                    </a:solidFill>
                  </a:tcPr>
                </a:tc>
              </a:tr>
              <a:tr h="590550">
                <a:tc>
                  <a:txBody>
                    <a:bodyPr>
                      <a:noAutofit/>
                    </a:bodyPr>
                    <a:lstStyle/>
                    <a:p>
                      <a:r>
                        <a:rPr sz="1725" b="0">
                          <a:solidFill>
                            <a:srgbClr val="132E40"/>
                          </a:solidFill>
                          <a:latin typeface="Arial"/>
                          <a:ea typeface="Arial"/>
                          <a:cs typeface="Arial"/>
                        </a:rPr>
                        <a:t>Biased / missing CGM</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+40 mg/dL / absent report</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Mass evidence and local rules</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Combined excess + bias</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Excess with +25 mg/dL CGM bias</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Local and reported mass</a:t>
                      </a:r>
                    </a:p>
                  </a:txBody>
                  <a:tcPr marL="91440" marR="91440" marT="45720" marB="45720">
                    <a:solidFill>
                      <a:srgbClr val="EEF4F6"/>
                    </a:solidFill>
                  </a:tcPr>
                </a:tc>
              </a:tr>
              <a:tr h="590550">
                <a:tc>
                  <a:txBody>
                    <a:bodyPr>
                      <a:noAutofit/>
                    </a:bodyPr>
                    <a:lstStyle/>
                    <a:p>
                      <a:r>
                        <a:rPr sz="1725" b="0">
                          <a:solidFill>
                            <a:srgbClr val="132E40"/>
                          </a:solidFill>
                          <a:latin typeface="Arial"/>
                          <a:ea typeface="Arial"/>
                          <a:cs typeface="Arial"/>
                        </a:rPr>
                        <a:t>Masked network report</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Combined fault; report substituted</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Independent local mass remains</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93254960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6C5FED3-44EF-4C25-AA30-BD57570F2BC3}"/>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The six primary response arms</a:t>
            </a:r>
          </a:p>
        </p:txBody>
      </p:sp>
      <p:sp>
        <p:nvSpPr>
          <p:cNvPr id="2" name="section">
            <a:extLst xmlns:a="http://schemas.openxmlformats.org/drawingml/2006/main">
              <a:ext uri="{FF2B5EF4-FFF2-40B4-BE49-F238E27FC236}">
                <a16:creationId xmlns:a16="http://schemas.microsoft.com/office/drawing/2014/main" id="{DD1AAFF7-1A36-4CF9-AF92-A279AE5607A0}"/>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METHODS</a:t>
            </a:r>
          </a:p>
        </p:txBody>
      </p:sp>
      <p:sp>
        <p:nvSpPr>
          <p:cNvPr id="3" name="footer">
            <a:extLst xmlns:a="http://schemas.openxmlformats.org/drawingml/2006/main">
              <a:ext uri="{FF2B5EF4-FFF2-40B4-BE49-F238E27FC236}">
                <a16:creationId xmlns:a16="http://schemas.microsoft.com/office/drawing/2014/main" id="{14BFA715-3B2C-48C1-ABA0-F6F9FAA25F75}"/>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14 / 49</a:t>
            </a:r>
          </a:p>
        </p:txBody>
      </p:sp>
      <p:graphicFrame>
        <p:nvGraphicFramePr>
          <p:cNvPr id="8" name=""/>
          <p:cNvGraphicFramePr/>
          <p:nvPr/>
        </p:nvGraphicFramePr>
        <p:xfrm>
          <a:off xmlns:a="http://schemas.openxmlformats.org/drawingml/2006/main" x="685800" y="1743075"/>
          <a:ext xmlns:a="http://schemas.openxmlformats.org/drawingml/2006/main" cx="10820400" cy="3543300"/>
        </p:xfrm>
        <a:graphic xmlns:a="http://schemas.openxmlformats.org/drawingml/2006/main">
          <a:graphicData uri="http://schemas.openxmlformats.org/drawingml/2006/table">
            <a:tbl>
              <a:tblPr/>
              <a:tblGrid>
                <a:gridCol w="3238500"/>
                <a:gridCol w="3810000"/>
                <a:gridCol w="3771900"/>
              </a:tblGrid>
              <a:tr h="590550">
                <a:tc>
                  <a:txBody>
                    <a:bodyPr>
                      <a:noAutofit/>
                    </a:bodyPr>
                    <a:lstStyle/>
                    <a:p>
                      <a:r>
                        <a:rPr sz="1725" b="1">
                          <a:solidFill>
                            <a:srgbClr val="FFFFFF"/>
                          </a:solidFill>
                          <a:latin typeface="Arial"/>
                          <a:ea typeface="Arial"/>
                          <a:cs typeface="Arial"/>
                        </a:rPr>
                        <a:t>Arm</a:t>
                      </a:r>
                    </a:p>
                  </a:txBody>
                  <a:tcPr marL="91440" marR="91440" marT="45720" marB="45720">
                    <a:solidFill>
                      <a:srgbClr val="132E40"/>
                    </a:solidFill>
                  </a:tcPr>
                </a:tc>
                <a:tc>
                  <a:txBody>
                    <a:bodyPr>
                      <a:noAutofit/>
                    </a:bodyPr>
                    <a:lstStyle/>
                    <a:p>
                      <a:r>
                        <a:rPr sz="1725" b="1">
                          <a:solidFill>
                            <a:srgbClr val="FFFFFF"/>
                          </a:solidFill>
                          <a:latin typeface="Arial"/>
                          <a:ea typeface="Arial"/>
                          <a:cs typeface="Arial"/>
                        </a:rPr>
                        <a:t>Monitor</a:t>
                      </a:r>
                    </a:p>
                  </a:txBody>
                  <a:tcPr marL="91440" marR="91440" marT="45720" marB="45720">
                    <a:solidFill>
                      <a:srgbClr val="132E40"/>
                    </a:solidFill>
                  </a:tcPr>
                </a:tc>
                <a:tc>
                  <a:txBody>
                    <a:bodyPr>
                      <a:noAutofit/>
                    </a:bodyPr>
                    <a:lstStyle/>
                    <a:p>
                      <a:r>
                        <a:rPr sz="1725" b="1">
                          <a:solidFill>
                            <a:srgbClr val="FFFFFF"/>
                          </a:solidFill>
                          <a:latin typeface="Arial"/>
                          <a:ea typeface="Arial"/>
                          <a:cs typeface="Arial"/>
                        </a:rPr>
                        <a:t>Return to service</a:t>
                      </a:r>
                    </a:p>
                  </a:txBody>
                  <a:tcPr marL="91440" marR="91440" marT="45720" marB="45720">
                    <a:solidFill>
                      <a:srgbClr val="132E40"/>
                    </a:solidFill>
                  </a:tcPr>
                </a:tc>
              </a:tr>
              <a:tr h="590550">
                <a:tc>
                  <a:txBody>
                    <a:bodyPr>
                      <a:noAutofit/>
                    </a:bodyPr>
                    <a:lstStyle/>
                    <a:p>
                      <a:r>
                        <a:rPr sz="1725" b="0">
                          <a:solidFill>
                            <a:srgbClr val="132E40"/>
                          </a:solidFill>
                          <a:latin typeface="Arial"/>
                          <a:ea typeface="Arial"/>
                          <a:cs typeface="Arial"/>
                        </a:rPr>
                        <a:t>Full, manual</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Mass CUSUM + physiological residuals</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Scheduled manual release</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Full, supervised</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Same full detector</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Probe and probation</a:t>
                      </a:r>
                    </a:p>
                  </a:txBody>
                  <a:tcPr marL="91440" marR="91440" marT="45720" marB="45720">
                    <a:solidFill>
                      <a:srgbClr val="EEF4F6"/>
                    </a:solidFill>
                  </a:tcPr>
                </a:tc>
              </a:tr>
              <a:tr h="590550">
                <a:tc>
                  <a:txBody>
                    <a:bodyPr>
                      <a:noAutofit/>
                    </a:bodyPr>
                    <a:lstStyle/>
                    <a:p>
                      <a:r>
                        <a:rPr sz="1725" b="0">
                          <a:solidFill>
                            <a:srgbClr val="132E40"/>
                          </a:solidFill>
                          <a:latin typeface="Arial"/>
                          <a:ea typeface="Arial"/>
                          <a:cs typeface="Arial"/>
                        </a:rPr>
                        <a:t>Simple, manual</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Instantaneous absolute mass residual</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Scheduled manual release</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Simple, supervised</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Same simple detector</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Probe and probation</a:t>
                      </a:r>
                    </a:p>
                  </a:txBody>
                  <a:tcPr marL="91440" marR="91440" marT="45720" marB="45720">
                    <a:solidFill>
                      <a:srgbClr val="EEF4F6"/>
                    </a:solidFill>
                  </a:tcPr>
                </a:tc>
              </a:tr>
              <a:tr h="590550">
                <a:tc>
                  <a:txBody>
                    <a:bodyPr>
                      <a:noAutofit/>
                    </a:bodyPr>
                    <a:lstStyle/>
                    <a:p>
                      <a:r>
                        <a:rPr sz="1725" b="0">
                          <a:solidFill>
                            <a:srgbClr val="132E40"/>
                          </a:solidFill>
                          <a:latin typeface="Arial"/>
                          <a:ea typeface="Arial"/>
                          <a:cs typeface="Arial"/>
                        </a:rPr>
                        <a:t>Sham / oracle</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Local rules only / known fault timing</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Matched local rules / privileged timing</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36830834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3825D2E7-6B06-4B5C-9A6F-25B68F4CCCDF}"/>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Response and recovery states</a:t>
            </a:r>
          </a:p>
        </p:txBody>
      </p:sp>
      <p:sp>
        <p:nvSpPr>
          <p:cNvPr id="2" name="section">
            <a:extLst xmlns:a="http://schemas.openxmlformats.org/drawingml/2006/main">
              <a:ext uri="{FF2B5EF4-FFF2-40B4-BE49-F238E27FC236}">
                <a16:creationId xmlns:a16="http://schemas.microsoft.com/office/drawing/2014/main" id="{931DAF28-594A-48B2-A831-A845EFBE483A}"/>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METHODS</a:t>
            </a:r>
          </a:p>
        </p:txBody>
      </p:sp>
      <p:sp>
        <p:nvSpPr>
          <p:cNvPr id="3" name="footer">
            <a:extLst xmlns:a="http://schemas.openxmlformats.org/drawingml/2006/main">
              <a:ext uri="{FF2B5EF4-FFF2-40B4-BE49-F238E27FC236}">
                <a16:creationId xmlns:a16="http://schemas.microsoft.com/office/drawing/2014/main" id="{885CDA0F-81A2-4275-BD95-C4D01DE0C50D}"/>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15 / 49</a:t>
            </a:r>
          </a:p>
        </p:txBody>
      </p:sp>
      <p:sp>
        <p:nvSpPr>
          <p:cNvPr id="4" name="">
            <a:extLst xmlns:a="http://schemas.openxmlformats.org/drawingml/2006/main">
              <a:ext uri="{FF2B5EF4-FFF2-40B4-BE49-F238E27FC236}">
                <a16:creationId xmlns:a16="http://schemas.microsoft.com/office/drawing/2014/main" id="{8910C28D-0033-48E7-AAE1-945AD4CC42C6}"/>
              </a:ext>
            </a:extLst>
          </p:cNvPr>
          <p:cNvSpPr>
            <a:spLocks xmlns:a="http://schemas.openxmlformats.org/drawingml/2006/main" noGrp="1"/>
          </p:cNvSpPr>
          <p:nvPr/>
        </p:nvSpPr>
        <p:spPr>
          <a:xfrm xmlns:a="http://schemas.openxmlformats.org/drawingml/2006/main">
            <a:off x="685800" y="2095500"/>
            <a:ext cx="3190875" cy="1143000"/>
          </a:xfrm>
          <a:prstGeom xmlns:a="http://schemas.openxmlformats.org/drawingml/2006/main" prst="rect">
            <a:avLst/>
          </a:prstGeom>
          <a:solidFill xmlns:a="http://schemas.openxmlformats.org/drawingml/2006/main">
            <a:srgbClr val="FFFFFF"/>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Running</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normal authorization</a:t>
            </a:r>
          </a:p>
        </p:txBody>
      </p:sp>
      <p:sp>
        <p:nvSpPr>
          <p:cNvPr id="5" name="">
            <a:extLst xmlns:a="http://schemas.openxmlformats.org/drawingml/2006/main">
              <a:ext uri="{FF2B5EF4-FFF2-40B4-BE49-F238E27FC236}">
                <a16:creationId xmlns:a16="http://schemas.microsoft.com/office/drawing/2014/main" id="{F1D2CE0A-A0D9-46F3-8384-18B975768F51}"/>
              </a:ext>
            </a:extLst>
          </p:cNvPr>
          <p:cNvSpPr>
            <a:spLocks xmlns:a="http://schemas.openxmlformats.org/drawingml/2006/main" noGrp="1"/>
          </p:cNvSpPr>
          <p:nvPr/>
        </p:nvSpPr>
        <p:spPr>
          <a:xfrm xmlns:a="http://schemas.openxmlformats.org/drawingml/2006/main">
            <a:off x="4495800" y="2095500"/>
            <a:ext cx="3190875" cy="1143000"/>
          </a:xfrm>
          <a:prstGeom xmlns:a="http://schemas.openxmlformats.org/drawingml/2006/main" prst="rect">
            <a:avLst/>
          </a:prstGeom>
          <a:solidFill xmlns:a="http://schemas.openxmlformats.org/drawingml/2006/main">
            <a:srgbClr val="FFFFFF"/>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Trip decision</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end of interval</a:t>
            </a:r>
          </a:p>
        </p:txBody>
      </p:sp>
      <p:sp>
        <p:nvSpPr>
          <p:cNvPr id="6" name="">
            <a:extLst xmlns:a="http://schemas.openxmlformats.org/drawingml/2006/main">
              <a:ext uri="{FF2B5EF4-FFF2-40B4-BE49-F238E27FC236}">
                <a16:creationId xmlns:a16="http://schemas.microsoft.com/office/drawing/2014/main" id="{7365BC12-563D-47E9-921F-9801B737482A}"/>
              </a:ext>
            </a:extLst>
          </p:cNvPr>
          <p:cNvSpPr>
            <a:spLocks xmlns:a="http://schemas.openxmlformats.org/drawingml/2006/main" noGrp="1"/>
          </p:cNvSpPr>
          <p:nvPr/>
        </p:nvSpPr>
        <p:spPr>
          <a:xfrm xmlns:a="http://schemas.openxmlformats.org/drawingml/2006/main">
            <a:off x="8305800" y="2095500"/>
            <a:ext cx="3190875" cy="1143000"/>
          </a:xfrm>
          <a:prstGeom xmlns:a="http://schemas.openxmlformats.org/drawingml/2006/main" prst="rect">
            <a:avLst/>
          </a:prstGeom>
          <a:solidFill xmlns:a="http://schemas.openxmlformats.org/drawingml/2006/main">
            <a:srgbClr val="FFFFFF"/>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Latched</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minimum 30 min</a:t>
            </a:r>
          </a:p>
        </p:txBody>
      </p:sp>
      <p:sp>
        <p:nvSpPr>
          <p:cNvPr id="7" name="">
            <a:extLst xmlns:a="http://schemas.openxmlformats.org/drawingml/2006/main">
              <a:ext uri="{FF2B5EF4-FFF2-40B4-BE49-F238E27FC236}">
                <a16:creationId xmlns:a16="http://schemas.microsoft.com/office/drawing/2014/main" id="{A6151916-7D9B-4C49-9DA4-70BB9B5CFC60}"/>
              </a:ext>
            </a:extLst>
          </p:cNvPr>
          <p:cNvSpPr>
            <a:spLocks xmlns:a="http://schemas.openxmlformats.org/drawingml/2006/main" noGrp="1"/>
          </p:cNvSpPr>
          <p:nvPr/>
        </p:nvSpPr>
        <p:spPr>
          <a:xfrm xmlns:a="http://schemas.openxmlformats.org/drawingml/2006/main">
            <a:off x="8305800" y="3762375"/>
            <a:ext cx="3190875" cy="1143000"/>
          </a:xfrm>
          <a:prstGeom xmlns:a="http://schemas.openxmlformats.org/drawingml/2006/main" prst="rect">
            <a:avLst/>
          </a:prstGeom>
          <a:solidFill xmlns:a="http://schemas.openxmlformats.org/drawingml/2006/main">
            <a:srgbClr val="FFFFFF"/>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Scheduled check</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every 120 min</a:t>
            </a:r>
          </a:p>
        </p:txBody>
      </p:sp>
      <p:sp>
        <p:nvSpPr>
          <p:cNvPr id="8" name="">
            <a:extLst xmlns:a="http://schemas.openxmlformats.org/drawingml/2006/main">
              <a:ext uri="{FF2B5EF4-FFF2-40B4-BE49-F238E27FC236}">
                <a16:creationId xmlns:a16="http://schemas.microsoft.com/office/drawing/2014/main" id="{2CD0F61E-2AB6-4008-92EA-2A1C2E10B166}"/>
              </a:ext>
            </a:extLst>
          </p:cNvPr>
          <p:cNvSpPr>
            <a:spLocks xmlns:a="http://schemas.openxmlformats.org/drawingml/2006/main" noGrp="1"/>
          </p:cNvSpPr>
          <p:nvPr/>
        </p:nvSpPr>
        <p:spPr>
          <a:xfrm xmlns:a="http://schemas.openxmlformats.org/drawingml/2006/main">
            <a:off x="4495800" y="3762375"/>
            <a:ext cx="3190875" cy="1143000"/>
          </a:xfrm>
          <a:prstGeom xmlns:a="http://schemas.openxmlformats.org/drawingml/2006/main" prst="rect">
            <a:avLst/>
          </a:prstGeom>
          <a:solidFill xmlns:a="http://schemas.openxmlformats.org/drawingml/2006/main">
            <a:srgbClr val="EEF4F6"/>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Supervised probes</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three capped amounts</a:t>
            </a:r>
          </a:p>
        </p:txBody>
      </p:sp>
      <p:sp>
        <p:nvSpPr>
          <p:cNvPr id="9" name="">
            <a:extLst xmlns:a="http://schemas.openxmlformats.org/drawingml/2006/main">
              <a:ext uri="{FF2B5EF4-FFF2-40B4-BE49-F238E27FC236}">
                <a16:creationId xmlns:a16="http://schemas.microsoft.com/office/drawing/2014/main" id="{8672078B-0E37-4F8D-8640-8E77A194EA15}"/>
              </a:ext>
            </a:extLst>
          </p:cNvPr>
          <p:cNvSpPr>
            <a:spLocks xmlns:a="http://schemas.openxmlformats.org/drawingml/2006/main" noGrp="1"/>
          </p:cNvSpPr>
          <p:nvPr/>
        </p:nvSpPr>
        <p:spPr>
          <a:xfrm xmlns:a="http://schemas.openxmlformats.org/drawingml/2006/main">
            <a:off x="685800" y="3762375"/>
            <a:ext cx="3190875" cy="1143000"/>
          </a:xfrm>
          <a:prstGeom xmlns:a="http://schemas.openxmlformats.org/drawingml/2006/main" prst="rect">
            <a:avLst/>
          </a:prstGeom>
          <a:solidFill xmlns:a="http://schemas.openxmlformats.org/drawingml/2006/main">
            <a:srgbClr val="EEF4F6"/>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Probation → running</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six capped intervals</a:t>
            </a:r>
          </a:p>
        </p:txBody>
      </p:sp>
      <p:cxnSp>
        <p:nvCxnSpPr>
          <p:cNvPr id="25" name=""/>
          <p:cNvCxnSpPr>
            <a:stCxn xmlns:a="http://schemas.openxmlformats.org/drawingml/2006/main" id="4" idx="3"/>
            <a:endCxn xmlns:a="http://schemas.openxmlformats.org/drawingml/2006/main" id="5" idx="1"/>
          </p:cNvCxnSpPr>
          <p:nvPr/>
        </p:nvCxnSpPr>
        <p:spPr>
          <a:xfrm xmlns:a="http://schemas.openxmlformats.org/drawingml/2006/main">
            <a:off x="3876675" y="2667000"/>
            <a:ext cx="619125" cy="0"/>
          </a:xfrm>
          <a:prstGeom xmlns:a="http://schemas.openxmlformats.org/drawingml/2006/main" prst="straightConnector1">
            <a:avLst/>
          </a:prstGeom>
          <a:ln xmlns:a="http://schemas.openxmlformats.org/drawingml/2006/main" w="19050">
            <a:solidFill>
              <a:srgbClr val="168B8D"/>
            </a:solidFill>
            <a:tailEnd type="arrow" w="med" len="med"/>
          </a:ln>
        </p:spPr>
      </p:cxnSp>
      <p:cxnSp>
        <p:nvCxnSpPr>
          <p:cNvPr id="26" name=""/>
          <p:cNvCxnSpPr>
            <a:stCxn xmlns:a="http://schemas.openxmlformats.org/drawingml/2006/main" id="5" idx="3"/>
            <a:endCxn xmlns:a="http://schemas.openxmlformats.org/drawingml/2006/main" id="6" idx="1"/>
          </p:cNvCxnSpPr>
          <p:nvPr/>
        </p:nvCxnSpPr>
        <p:spPr>
          <a:xfrm xmlns:a="http://schemas.openxmlformats.org/drawingml/2006/main">
            <a:off x="7686675" y="2667000"/>
            <a:ext cx="619125" cy="0"/>
          </a:xfrm>
          <a:prstGeom xmlns:a="http://schemas.openxmlformats.org/drawingml/2006/main" prst="straightConnector1">
            <a:avLst/>
          </a:prstGeom>
          <a:ln xmlns:a="http://schemas.openxmlformats.org/drawingml/2006/main" w="19050">
            <a:solidFill>
              <a:srgbClr val="168B8D"/>
            </a:solidFill>
            <a:tailEnd type="arrow" w="med" len="med"/>
          </a:ln>
        </p:spPr>
      </p:cxnSp>
      <p:cxnSp>
        <p:nvCxnSpPr>
          <p:cNvPr id="27" name=""/>
          <p:cNvCxnSpPr>
            <a:stCxn xmlns:a="http://schemas.openxmlformats.org/drawingml/2006/main" id="6" idx="2"/>
            <a:endCxn xmlns:a="http://schemas.openxmlformats.org/drawingml/2006/main" id="7" idx="0"/>
          </p:cNvCxnSpPr>
          <p:nvPr/>
        </p:nvCxnSpPr>
        <p:spPr>
          <a:xfrm xmlns:a="http://schemas.openxmlformats.org/drawingml/2006/main">
            <a:off x="9901238" y="3238500"/>
            <a:ext cx="0" cy="523875"/>
          </a:xfrm>
          <a:prstGeom xmlns:a="http://schemas.openxmlformats.org/drawingml/2006/main" prst="straightConnector1">
            <a:avLst/>
          </a:prstGeom>
          <a:ln xmlns:a="http://schemas.openxmlformats.org/drawingml/2006/main" w="19050">
            <a:solidFill>
              <a:srgbClr val="168B8D"/>
            </a:solidFill>
            <a:tailEnd type="arrow" w="med" len="med"/>
          </a:ln>
        </p:spPr>
      </p:cxnSp>
      <p:cxnSp>
        <p:nvCxnSpPr>
          <p:cNvPr id="28" name=""/>
          <p:cNvCxnSpPr>
            <a:stCxn xmlns:a="http://schemas.openxmlformats.org/drawingml/2006/main" id="7" idx="1"/>
            <a:endCxn xmlns:a="http://schemas.openxmlformats.org/drawingml/2006/main" id="8" idx="3"/>
          </p:cNvCxnSpPr>
          <p:nvPr/>
        </p:nvCxnSpPr>
        <p:spPr>
          <a:xfrm xmlns:a="http://schemas.openxmlformats.org/drawingml/2006/main" flipH="1">
            <a:off x="7686675" y="4333875"/>
            <a:ext cx="619125" cy="0"/>
          </a:xfrm>
          <a:prstGeom xmlns:a="http://schemas.openxmlformats.org/drawingml/2006/main" prst="straightConnector1">
            <a:avLst/>
          </a:prstGeom>
          <a:ln xmlns:a="http://schemas.openxmlformats.org/drawingml/2006/main" w="19050">
            <a:solidFill>
              <a:srgbClr val="168B8D"/>
            </a:solidFill>
            <a:tailEnd type="arrow" w="med" len="med"/>
          </a:ln>
        </p:spPr>
      </p:cxnSp>
      <p:cxnSp>
        <p:nvCxnSpPr>
          <p:cNvPr id="29" name=""/>
          <p:cNvCxnSpPr>
            <a:stCxn xmlns:a="http://schemas.openxmlformats.org/drawingml/2006/main" id="8" idx="1"/>
            <a:endCxn xmlns:a="http://schemas.openxmlformats.org/drawingml/2006/main" id="9" idx="3"/>
          </p:cNvCxnSpPr>
          <p:nvPr/>
        </p:nvCxnSpPr>
        <p:spPr>
          <a:xfrm xmlns:a="http://schemas.openxmlformats.org/drawingml/2006/main" flipH="1">
            <a:off x="3876675" y="4333875"/>
            <a:ext cx="619125" cy="0"/>
          </a:xfrm>
          <a:prstGeom xmlns:a="http://schemas.openxmlformats.org/drawingml/2006/main" prst="straightConnector1">
            <a:avLst/>
          </a:prstGeom>
          <a:ln xmlns:a="http://schemas.openxmlformats.org/drawingml/2006/main" w="19050">
            <a:solidFill>
              <a:srgbClr val="168B8D"/>
            </a:solidFill>
            <a:tailEnd type="arrow" w="med" len="med"/>
          </a:ln>
        </p:spPr>
      </p:cxnSp>
      <p:sp>
        <p:nvSpPr>
          <p:cNvPr id="15" name="caption">
            <a:extLst xmlns:a="http://schemas.openxmlformats.org/drawingml/2006/main">
              <a:ext uri="{FF2B5EF4-FFF2-40B4-BE49-F238E27FC236}">
                <a16:creationId xmlns:a16="http://schemas.microsoft.com/office/drawing/2014/main" id="{F52ACAD7-4907-4D6D-836D-DECFA797CF0B}"/>
              </a:ext>
            </a:extLst>
          </p:cNvPr>
          <p:cNvSpPr>
            <a:spLocks xmlns:a="http://schemas.openxmlformats.org/drawingml/2006/main" noGrp="1"/>
          </p:cNvSpPr>
          <p:nvPr/>
        </p:nvSpPr>
        <p:spPr>
          <a:xfrm xmlns:a="http://schemas.openxmlformats.org/drawingml/2006/main">
            <a:off x="685800" y="53435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06579"/>
                </a:solidFill>
                <a:latin typeface="Arial"/>
                <a:ea typeface="Arial"/>
                <a:cs typeface="Arial"/>
              </a:defRPr>
            </a:pPr>
            <a:r>
              <a:rPr sz="1800" b="0">
                <a:solidFill>
                  <a:srgbClr val="506579"/>
                </a:solidFill>
                <a:latin typeface="Arial"/>
                <a:ea typeface="Arial"/>
                <a:cs typeface="Arial"/>
              </a:rPr>
              <a:t>No catch-up delivery. Manual release and supervised recovery are separate comparisons.</a:t>
            </a:r>
          </a:p>
        </p:txBody>
      </p:sp>
    </p:spTree>
    <p:extLst>
      <p:ext uri="{BB962C8B-B14F-4D97-AF65-F5344CB8AC3E}">
        <p14:creationId xmlns:p14="http://schemas.microsoft.com/office/powerpoint/2010/main" val="28275619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43C12C1-1B81-463F-9D22-F65AC01752B3}"/>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Outcomes that a stop can hide</a:t>
            </a:r>
          </a:p>
        </p:txBody>
      </p:sp>
      <p:sp>
        <p:nvSpPr>
          <p:cNvPr id="2" name="section">
            <a:extLst xmlns:a="http://schemas.openxmlformats.org/drawingml/2006/main">
              <a:ext uri="{FF2B5EF4-FFF2-40B4-BE49-F238E27FC236}">
                <a16:creationId xmlns:a16="http://schemas.microsoft.com/office/drawing/2014/main" id="{C3372AF8-98A7-4711-8C30-436717901926}"/>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METHODS</a:t>
            </a:r>
          </a:p>
        </p:txBody>
      </p:sp>
      <p:sp>
        <p:nvSpPr>
          <p:cNvPr id="3" name="footer">
            <a:extLst xmlns:a="http://schemas.openxmlformats.org/drawingml/2006/main">
              <a:ext uri="{FF2B5EF4-FFF2-40B4-BE49-F238E27FC236}">
                <a16:creationId xmlns:a16="http://schemas.microsoft.com/office/drawing/2014/main" id="{40EF206E-15AC-4AA6-A987-D6F558E3F023}"/>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16 / 49</a:t>
            </a:r>
          </a:p>
        </p:txBody>
      </p:sp>
      <p:graphicFrame>
        <p:nvGraphicFramePr>
          <p:cNvPr id="8" name=""/>
          <p:cNvGraphicFramePr/>
          <p:nvPr/>
        </p:nvGraphicFramePr>
        <p:xfrm>
          <a:off xmlns:a="http://schemas.openxmlformats.org/drawingml/2006/main" x="685800" y="1743075"/>
          <a:ext xmlns:a="http://schemas.openxmlformats.org/drawingml/2006/main" cx="10820400" cy="3543300"/>
        </p:xfrm>
        <a:graphic xmlns:a="http://schemas.openxmlformats.org/drawingml/2006/main">
          <a:graphicData uri="http://schemas.openxmlformats.org/drawingml/2006/table">
            <a:tbl>
              <a:tblPr/>
              <a:tblGrid>
                <a:gridCol w="3238500"/>
                <a:gridCol w="3810000"/>
                <a:gridCol w="3771900"/>
              </a:tblGrid>
              <a:tr h="590550">
                <a:tc>
                  <a:txBody>
                    <a:bodyPr>
                      <a:noAutofit/>
                    </a:bodyPr>
                    <a:lstStyle/>
                    <a:p>
                      <a:r>
                        <a:rPr sz="1725" b="1">
                          <a:solidFill>
                            <a:srgbClr val="FFFFFF"/>
                          </a:solidFill>
                          <a:latin typeface="Arial"/>
                          <a:ea typeface="Arial"/>
                          <a:cs typeface="Arial"/>
                        </a:rPr>
                        <a:t>Outcome</a:t>
                      </a:r>
                    </a:p>
                  </a:txBody>
                  <a:tcPr marL="91440" marR="91440" marT="45720" marB="45720">
                    <a:solidFill>
                      <a:srgbClr val="132E40"/>
                    </a:solidFill>
                  </a:tcPr>
                </a:tc>
                <a:tc>
                  <a:txBody>
                    <a:bodyPr>
                      <a:noAutofit/>
                    </a:bodyPr>
                    <a:lstStyle/>
                    <a:p>
                      <a:r>
                        <a:rPr sz="1725" b="1">
                          <a:solidFill>
                            <a:srgbClr val="FFFFFF"/>
                          </a:solidFill>
                          <a:latin typeface="Arial"/>
                          <a:ea typeface="Arial"/>
                          <a:cs typeface="Arial"/>
                        </a:rPr>
                        <a:t>Definition</a:t>
                      </a:r>
                    </a:p>
                  </a:txBody>
                  <a:tcPr marL="91440" marR="91440" marT="45720" marB="45720">
                    <a:solidFill>
                      <a:srgbClr val="132E40"/>
                    </a:solidFill>
                  </a:tcPr>
                </a:tc>
                <a:tc>
                  <a:txBody>
                    <a:bodyPr>
                      <a:noAutofit/>
                    </a:bodyPr>
                    <a:lstStyle/>
                    <a:p>
                      <a:r>
                        <a:rPr sz="1725" b="1">
                          <a:solidFill>
                            <a:srgbClr val="FFFFFF"/>
                          </a:solidFill>
                          <a:latin typeface="Arial"/>
                          <a:ea typeface="Arial"/>
                          <a:cs typeface="Arial"/>
                        </a:rPr>
                        <a:t>Reason to retain</a:t>
                      </a:r>
                    </a:p>
                  </a:txBody>
                  <a:tcPr marL="91440" marR="91440" marT="45720" marB="45720">
                    <a:solidFill>
                      <a:srgbClr val="132E40"/>
                    </a:solidFill>
                  </a:tcPr>
                </a:tc>
              </a:tr>
              <a:tr h="590550">
                <a:tc>
                  <a:txBody>
                    <a:bodyPr>
                      <a:noAutofit/>
                    </a:bodyPr>
                    <a:lstStyle/>
                    <a:p>
                      <a:r>
                        <a:rPr sz="1725" b="0">
                          <a:solidFill>
                            <a:srgbClr val="132E40"/>
                          </a:solidFill>
                          <a:latin typeface="Arial"/>
                          <a:ea typeface="Arial"/>
                          <a:cs typeface="Arial"/>
                        </a:rPr>
                        <a:t>Stepwise excess</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Sum max(emitted − clean, 0)</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Extra delivery cannot cancel a deficit</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Stepwise deficit</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Sum max(clean − emitted, 0)</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A long stop remains visible</a:t>
                      </a:r>
                    </a:p>
                  </a:txBody>
                  <a:tcPr marL="91440" marR="91440" marT="45720" marB="45720">
                    <a:solidFill>
                      <a:srgbClr val="EEF4F6"/>
                    </a:solidFill>
                  </a:tcPr>
                </a:tc>
              </a:tr>
              <a:tr h="590550">
                <a:tc>
                  <a:txBody>
                    <a:bodyPr>
                      <a:noAutofit/>
                    </a:bodyPr>
                    <a:lstStyle/>
                    <a:p>
                      <a:r>
                        <a:rPr sz="1725" b="0">
                          <a:solidFill>
                            <a:srgbClr val="132E40"/>
                          </a:solidFill>
                          <a:latin typeface="Arial"/>
                          <a:ea typeface="Arial"/>
                          <a:cs typeface="Arial"/>
                        </a:rPr>
                        <a:t>Longest interruption</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Positive request; zero emission</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Duration matters beyond total dose</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Recovery onset / confirmation</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First six good intervals / confirmation 30 min later</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No single ambiguous recovery time</a:t>
                      </a:r>
                    </a:p>
                  </a:txBody>
                  <a:tcPr marL="91440" marR="91440" marT="45720" marB="45720">
                    <a:solidFill>
                      <a:srgbClr val="EEF4F6"/>
                    </a:solidFill>
                  </a:tcPr>
                </a:tc>
              </a:tr>
              <a:tr h="590550">
                <a:tc>
                  <a:txBody>
                    <a:bodyPr>
                      <a:noAutofit/>
                    </a:bodyPr>
                    <a:lstStyle/>
                    <a:p>
                      <a:r>
                        <a:rPr sz="1725" b="0">
                          <a:solidFill>
                            <a:srgbClr val="132E40"/>
                          </a:solidFill>
                          <a:latin typeface="Arial"/>
                          <a:ea typeface="Arial"/>
                          <a:cs typeface="Arial"/>
                        </a:rPr>
                        <a:t>Censored recovery / domain flags</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Retain failed outcomes and denominators</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Failures remain in the denominator</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05943833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990F4618-DE5E-42D0-A9BA-995827EA1C28}"/>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Primary experiment outcome</a:t>
            </a:r>
          </a:p>
        </p:txBody>
      </p:sp>
      <p:sp>
        <p:nvSpPr>
          <p:cNvPr id="2" name="section">
            <a:extLst xmlns:a="http://schemas.openxmlformats.org/drawingml/2006/main">
              <a:ext uri="{FF2B5EF4-FFF2-40B4-BE49-F238E27FC236}">
                <a16:creationId xmlns:a16="http://schemas.microsoft.com/office/drawing/2014/main" id="{C49CFD08-107D-4A64-95E4-001F8CC13058}"/>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PRIMARY RESULTS</a:t>
            </a:r>
          </a:p>
        </p:txBody>
      </p:sp>
      <p:sp>
        <p:nvSpPr>
          <p:cNvPr id="3" name="footer">
            <a:extLst xmlns:a="http://schemas.openxmlformats.org/drawingml/2006/main">
              <a:ext uri="{FF2B5EF4-FFF2-40B4-BE49-F238E27FC236}">
                <a16:creationId xmlns:a16="http://schemas.microsoft.com/office/drawing/2014/main" id="{2B49049E-5917-4011-A0AD-40CF030F1755}"/>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17 / 49</a:t>
            </a:r>
          </a:p>
        </p:txBody>
      </p:sp>
      <p:sp>
        <p:nvSpPr>
          <p:cNvPr id="4" name="body0">
            <a:extLst xmlns:a="http://schemas.openxmlformats.org/drawingml/2006/main">
              <a:ext uri="{FF2B5EF4-FFF2-40B4-BE49-F238E27FC236}">
                <a16:creationId xmlns:a16="http://schemas.microsoft.com/office/drawing/2014/main" id="{EB9E299C-EC0C-496D-B581-FC5A1CBB4CEB}"/>
              </a:ext>
            </a:extLst>
          </p:cNvPr>
          <p:cNvSpPr>
            <a:spLocks xmlns:a="http://schemas.openxmlformats.org/drawingml/2006/main" noGrp="1"/>
          </p:cNvSpPr>
          <p:nvPr/>
        </p:nvSpPr>
        <p:spPr>
          <a:xfrm xmlns:a="http://schemas.openxmlformats.org/drawingml/2006/main">
            <a:off x="685800" y="1866900"/>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32E40"/>
                </a:solidFill>
                <a:latin typeface="Arial"/>
                <a:ea typeface="Arial"/>
                <a:cs typeface="Arial"/>
              </a:defRPr>
            </a:pPr>
            <a:r>
              <a:rPr sz="2175" b="1">
                <a:solidFill>
                  <a:srgbClr val="132E40"/>
                </a:solidFill>
                <a:latin typeface="Arial"/>
                <a:ea typeface="Arial"/>
                <a:cs typeface="Arial"/>
              </a:rPr>
              <a:t>5,184 runs completed without execution exceptions.</a:t>
            </a:r>
          </a:p>
        </p:txBody>
      </p:sp>
      <p:sp>
        <p:nvSpPr>
          <p:cNvPr id="5" name="body1">
            <a:extLst xmlns:a="http://schemas.openxmlformats.org/drawingml/2006/main">
              <a:ext uri="{FF2B5EF4-FFF2-40B4-BE49-F238E27FC236}">
                <a16:creationId xmlns:a16="http://schemas.microsoft.com/office/drawing/2014/main" id="{0F25350B-A294-4C79-B54F-29682260F559}"/>
              </a:ext>
            </a:extLst>
          </p:cNvPr>
          <p:cNvSpPr>
            <a:spLocks xmlns:a="http://schemas.openxmlformats.org/drawingml/2006/main" noGrp="1"/>
          </p:cNvSpPr>
          <p:nvPr/>
        </p:nvSpPr>
        <p:spPr>
          <a:xfrm xmlns:a="http://schemas.openxmlformats.org/drawingml/2006/main">
            <a:off x="685800" y="3019425"/>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06579"/>
                </a:solidFill>
                <a:latin typeface="Arial"/>
                <a:ea typeface="Arial"/>
                <a:cs typeface="Arial"/>
              </a:defRPr>
            </a:pPr>
            <a:r>
              <a:rPr sz="2175" b="0">
                <a:solidFill>
                  <a:srgbClr val="506579"/>
                </a:solidFill>
                <a:latin typeface="Arial"/>
                <a:ea typeface="Arial"/>
                <a:cs typeface="Arial"/>
              </a:rPr>
              <a:t>The full monitor did not show consistent superiority to the simpler monitor.</a:t>
            </a:r>
          </a:p>
        </p:txBody>
      </p:sp>
      <p:sp>
        <p:nvSpPr>
          <p:cNvPr id="6" name="body2">
            <a:extLst xmlns:a="http://schemas.openxmlformats.org/drawingml/2006/main">
              <a:ext uri="{FF2B5EF4-FFF2-40B4-BE49-F238E27FC236}">
                <a16:creationId xmlns:a16="http://schemas.microsoft.com/office/drawing/2014/main" id="{2446A38C-6271-4DCB-BDB9-87D42A6F23CF}"/>
              </a:ext>
            </a:extLst>
          </p:cNvPr>
          <p:cNvSpPr>
            <a:spLocks xmlns:a="http://schemas.openxmlformats.org/drawingml/2006/main" noGrp="1"/>
          </p:cNvSpPr>
          <p:nvPr/>
        </p:nvSpPr>
        <p:spPr>
          <a:xfrm xmlns:a="http://schemas.openxmlformats.org/drawingml/2006/main">
            <a:off x="685800" y="4171950"/>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06579"/>
                </a:solidFill>
                <a:latin typeface="Arial"/>
                <a:ea typeface="Arial"/>
                <a:cs typeface="Arial"/>
              </a:defRPr>
            </a:pPr>
            <a:r>
              <a:rPr sz="2175" b="0">
                <a:solidFill>
                  <a:srgbClr val="506579"/>
                </a:solidFill>
                <a:latin typeface="Arial"/>
                <a:ea typeface="Arial"/>
                <a:cs typeface="Arial"/>
              </a:rPr>
              <a:t>Independent review checked every full trace and recomputed core outcomes; all domain violations were retained.</a:t>
            </a:r>
          </a:p>
        </p:txBody>
      </p:sp>
    </p:spTree>
    <p:extLst>
      <p:ext uri="{BB962C8B-B14F-4D97-AF65-F5344CB8AC3E}">
        <p14:creationId xmlns:p14="http://schemas.microsoft.com/office/powerpoint/2010/main" val="166792479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FB3337A0-EA6E-42E5-8D79-2A9A65E3AD12}"/>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Selected paired contrasts</a:t>
            </a:r>
          </a:p>
        </p:txBody>
      </p:sp>
      <p:sp>
        <p:nvSpPr>
          <p:cNvPr id="2" name="section">
            <a:extLst xmlns:a="http://schemas.openxmlformats.org/drawingml/2006/main">
              <a:ext uri="{FF2B5EF4-FFF2-40B4-BE49-F238E27FC236}">
                <a16:creationId xmlns:a16="http://schemas.microsoft.com/office/drawing/2014/main" id="{F6C20ED6-1B41-4F56-A564-C5D7E2724843}"/>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PRIMARY RESULTS</a:t>
            </a:r>
          </a:p>
        </p:txBody>
      </p:sp>
      <p:sp>
        <p:nvSpPr>
          <p:cNvPr id="3" name="footer">
            <a:extLst xmlns:a="http://schemas.openxmlformats.org/drawingml/2006/main">
              <a:ext uri="{FF2B5EF4-FFF2-40B4-BE49-F238E27FC236}">
                <a16:creationId xmlns:a16="http://schemas.microsoft.com/office/drawing/2014/main" id="{FD78997E-4D73-4AE5-9FA8-7E3C7C8B84FB}"/>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18 / 49</a:t>
            </a:r>
          </a:p>
        </p:txBody>
      </p:sp>
      <p:graphicFrame>
        <p:nvGraphicFramePr>
          <p:cNvPr id="9" name=""/>
          <p:cNvGraphicFramePr/>
          <p:nvPr/>
        </p:nvGraphicFramePr>
        <p:xfrm>
          <a:off xmlns:a="http://schemas.openxmlformats.org/drawingml/2006/main" x="685800" y="1743075"/>
          <a:ext xmlns:a="http://schemas.openxmlformats.org/drawingml/2006/main" cx="10820400" cy="2362200"/>
        </p:xfrm>
        <a:graphic xmlns:a="http://schemas.openxmlformats.org/drawingml/2006/main">
          <a:graphicData uri="http://schemas.openxmlformats.org/drawingml/2006/table">
            <a:tbl>
              <a:tblPr/>
              <a:tblGrid>
                <a:gridCol w="3238500"/>
                <a:gridCol w="3810000"/>
                <a:gridCol w="3771900"/>
              </a:tblGrid>
              <a:tr h="590550">
                <a:tc>
                  <a:txBody>
                    <a:bodyPr>
                      <a:noAutofit/>
                    </a:bodyPr>
                    <a:lstStyle/>
                    <a:p>
                      <a:r>
                        <a:rPr sz="1725" b="1">
                          <a:solidFill>
                            <a:srgbClr val="FFFFFF"/>
                          </a:solidFill>
                          <a:latin typeface="Arial"/>
                          <a:ea typeface="Arial"/>
                          <a:cs typeface="Arial"/>
                        </a:rPr>
                        <a:t>Full supervised − simple supervised</a:t>
                      </a:r>
                    </a:p>
                  </a:txBody>
                  <a:tcPr marL="91440" marR="91440" marT="45720" marB="45720">
                    <a:solidFill>
                      <a:srgbClr val="132E40"/>
                    </a:solidFill>
                  </a:tcPr>
                </a:tc>
                <a:tc>
                  <a:txBody>
                    <a:bodyPr>
                      <a:noAutofit/>
                    </a:bodyPr>
                    <a:lstStyle/>
                    <a:p>
                      <a:r>
                        <a:rPr sz="1725" b="1">
                          <a:solidFill>
                            <a:srgbClr val="FFFFFF"/>
                          </a:solidFill>
                          <a:latin typeface="Arial"/>
                          <a:ea typeface="Arial"/>
                          <a:cs typeface="Arial"/>
                        </a:rPr>
                        <a:t>Mean difference</a:t>
                      </a:r>
                    </a:p>
                  </a:txBody>
                  <a:tcPr marL="91440" marR="91440" marT="45720" marB="45720">
                    <a:solidFill>
                      <a:srgbClr val="132E40"/>
                    </a:solidFill>
                  </a:tcPr>
                </a:tc>
                <a:tc>
                  <a:txBody>
                    <a:bodyPr>
                      <a:noAutofit/>
                    </a:bodyPr>
                    <a:lstStyle/>
                    <a:p>
                      <a:r>
                        <a:rPr sz="1725" b="1">
                          <a:solidFill>
                            <a:srgbClr val="FFFFFF"/>
                          </a:solidFill>
                          <a:latin typeface="Arial"/>
                          <a:ea typeface="Arial"/>
                          <a:cs typeface="Arial"/>
                        </a:rPr>
                        <a:t>95% paired CI</a:t>
                      </a:r>
                    </a:p>
                  </a:txBody>
                  <a:tcPr marL="91440" marR="91440" marT="45720" marB="45720">
                    <a:solidFill>
                      <a:srgbClr val="132E40"/>
                    </a:solidFill>
                  </a:tcPr>
                </a:tc>
              </a:tr>
              <a:tr h="590550">
                <a:tc>
                  <a:txBody>
                    <a:bodyPr>
                      <a:noAutofit/>
                    </a:bodyPr>
                    <a:lstStyle/>
                    <a:p>
                      <a:r>
                        <a:rPr sz="1725" b="0">
                          <a:solidFill>
                            <a:srgbClr val="132E40"/>
                          </a:solidFill>
                          <a:latin typeface="Arial"/>
                          <a:ea typeface="Arial"/>
                          <a:cs typeface="Arial"/>
                        </a:rPr>
                        <a:t>Original: stuck-on excess</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+0.13745 research U</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+0.10044 to +0.17445</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Hovorka: stuck-on excess</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+0.08458 research U</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+0.04229 to +0.12688</a:t>
                      </a:r>
                    </a:p>
                  </a:txBody>
                  <a:tcPr marL="91440" marR="91440" marT="45720" marB="45720">
                    <a:solidFill>
                      <a:srgbClr val="EEF4F6"/>
                    </a:solidFill>
                  </a:tcPr>
                </a:tc>
              </a:tr>
              <a:tr h="590550">
                <a:tc>
                  <a:txBody>
                    <a:bodyPr>
                      <a:noAutofit/>
                    </a:bodyPr>
                    <a:lstStyle/>
                    <a:p>
                      <a:r>
                        <a:rPr sz="1725" b="0">
                          <a:solidFill>
                            <a:srgbClr val="132E40"/>
                          </a:solidFill>
                          <a:latin typeface="Arial"/>
                          <a:ea typeface="Arial"/>
                          <a:cs typeface="Arial"/>
                        </a:rPr>
                        <a:t>Hovorka: occlusion deficit</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+1.13031 research U</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+0.13982 to +2.37804</a:t>
                      </a:r>
                    </a:p>
                  </a:txBody>
                  <a:tcPr marL="91440" marR="91440" marT="45720" marB="45720">
                    <a:solidFill>
                      <a:srgbClr val="FFFFFF"/>
                    </a:solidFill>
                  </a:tcPr>
                </a:tc>
              </a:tr>
            </a:tbl>
          </a:graphicData>
        </a:graphic>
      </p:graphicFrame>
      <p:sp>
        <p:nvSpPr>
          <p:cNvPr id="5" name="caption">
            <a:extLst xmlns:a="http://schemas.openxmlformats.org/drawingml/2006/main">
              <a:ext uri="{FF2B5EF4-FFF2-40B4-BE49-F238E27FC236}">
                <a16:creationId xmlns:a16="http://schemas.microsoft.com/office/drawing/2014/main" id="{E369237C-A35E-422E-8697-E19540707B7C}"/>
              </a:ext>
            </a:extLst>
          </p:cNvPr>
          <p:cNvSpPr>
            <a:spLocks xmlns:a="http://schemas.openxmlformats.org/drawingml/2006/main" noGrp="1"/>
          </p:cNvSpPr>
          <p:nvPr/>
        </p:nvSpPr>
        <p:spPr>
          <a:xfrm xmlns:a="http://schemas.openxmlformats.org/drawingml/2006/main">
            <a:off x="685800" y="59436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579"/>
                </a:solidFill>
                <a:latin typeface="Arial"/>
                <a:ea typeface="Arial"/>
                <a:cs typeface="Arial"/>
              </a:defRPr>
            </a:pPr>
            <a:r>
              <a:rPr sz="1350" b="0">
                <a:solidFill>
                  <a:srgbClr val="506579"/>
                </a:solidFill>
                <a:latin typeface="Arial"/>
                <a:ea typeface="Arial"/>
                <a:cs typeface="Arial"/>
              </a:rPr>
              <a:t>Positive means more excess or deficit for the full monitor. Hovorka results are validity-limited.</a:t>
            </a:r>
          </a:p>
        </p:txBody>
      </p:sp>
    </p:spTree>
    <p:extLst>
      <p:ext uri="{BB962C8B-B14F-4D97-AF65-F5344CB8AC3E}">
        <p14:creationId xmlns:p14="http://schemas.microsoft.com/office/powerpoint/2010/main" val="39368514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C8D154C-333E-42B8-ADB5-AC629ED19076}"/>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Physiological validity audit</a:t>
            </a:r>
          </a:p>
        </p:txBody>
      </p:sp>
      <p:sp>
        <p:nvSpPr>
          <p:cNvPr id="2" name="section">
            <a:extLst xmlns:a="http://schemas.openxmlformats.org/drawingml/2006/main">
              <a:ext uri="{FF2B5EF4-FFF2-40B4-BE49-F238E27FC236}">
                <a16:creationId xmlns:a16="http://schemas.microsoft.com/office/drawing/2014/main" id="{4C8B6164-8EEB-4396-88AA-2C6810949E2D}"/>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PRIMARY RESULTS</a:t>
            </a:r>
          </a:p>
        </p:txBody>
      </p:sp>
      <p:sp>
        <p:nvSpPr>
          <p:cNvPr id="3" name="footer">
            <a:extLst xmlns:a="http://schemas.openxmlformats.org/drawingml/2006/main">
              <a:ext uri="{FF2B5EF4-FFF2-40B4-BE49-F238E27FC236}">
                <a16:creationId xmlns:a16="http://schemas.microsoft.com/office/drawing/2014/main" id="{2ABDFE8F-3A49-4138-94FF-516FED409A0A}"/>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19 / 49</a:t>
            </a:r>
          </a:p>
        </p:txBody>
      </p:sp>
      <p:graphicFrame>
        <p:nvGraphicFramePr>
          <p:cNvPr id="8" name=""/>
          <p:cNvGraphicFramePr/>
          <p:nvPr/>
        </p:nvGraphicFramePr>
        <p:xfrm>
          <a:off xmlns:a="http://schemas.openxmlformats.org/drawingml/2006/main" x="685800" y="1743075"/>
          <a:ext xmlns:a="http://schemas.openxmlformats.org/drawingml/2006/main" cx="10820400" cy="2952750"/>
        </p:xfrm>
        <a:graphic xmlns:a="http://schemas.openxmlformats.org/drawingml/2006/main">
          <a:graphicData uri="http://schemas.openxmlformats.org/drawingml/2006/table">
            <a:tbl>
              <a:tblPr/>
              <a:tblGrid>
                <a:gridCol w="3238500"/>
                <a:gridCol w="3810000"/>
                <a:gridCol w="3771900"/>
              </a:tblGrid>
              <a:tr h="590550">
                <a:tc>
                  <a:txBody>
                    <a:bodyPr>
                      <a:noAutofit/>
                    </a:bodyPr>
                    <a:lstStyle/>
                    <a:p>
                      <a:r>
                        <a:rPr sz="1725" b="1">
                          <a:solidFill>
                            <a:srgbClr val="FFFFFF"/>
                          </a:solidFill>
                          <a:latin typeface="Arial"/>
                          <a:ea typeface="Arial"/>
                          <a:cs typeface="Arial"/>
                        </a:rPr>
                        <a:t>Branch</a:t>
                      </a:r>
                    </a:p>
                  </a:txBody>
                  <a:tcPr marL="91440" marR="91440" marT="45720" marB="45720">
                    <a:solidFill>
                      <a:srgbClr val="132E40"/>
                    </a:solidFill>
                  </a:tcPr>
                </a:tc>
                <a:tc>
                  <a:txBody>
                    <a:bodyPr>
                      <a:noAutofit/>
                    </a:bodyPr>
                    <a:lstStyle/>
                    <a:p>
                      <a:r>
                        <a:rPr sz="1725" b="1">
                          <a:solidFill>
                            <a:srgbClr val="FFFFFF"/>
                          </a:solidFill>
                          <a:latin typeface="Arial"/>
                          <a:ea typeface="Arial"/>
                          <a:cs typeface="Arial"/>
                        </a:rPr>
                        <a:t>Clean practical comparison</a:t>
                      </a:r>
                    </a:p>
                  </a:txBody>
                  <a:tcPr marL="91440" marR="91440" marT="45720" marB="45720">
                    <a:solidFill>
                      <a:srgbClr val="132E40"/>
                    </a:solidFill>
                  </a:tcPr>
                </a:tc>
                <a:tc>
                  <a:txBody>
                    <a:bodyPr>
                      <a:noAutofit/>
                    </a:bodyPr>
                    <a:lstStyle/>
                    <a:p>
                      <a:r>
                        <a:rPr sz="1725" b="1">
                          <a:solidFill>
                            <a:srgbClr val="FFFFFF"/>
                          </a:solidFill>
                          <a:latin typeface="Arial"/>
                          <a:ea typeface="Arial"/>
                          <a:cs typeface="Arial"/>
                        </a:rPr>
                        <a:t>Interpretation</a:t>
                      </a:r>
                    </a:p>
                  </a:txBody>
                  <a:tcPr marL="91440" marR="91440" marT="45720" marB="45720">
                    <a:solidFill>
                      <a:srgbClr val="132E40"/>
                    </a:solidFill>
                  </a:tcPr>
                </a:tc>
              </a:tr>
              <a:tr h="590550">
                <a:tc>
                  <a:txBody>
                    <a:bodyPr>
                      <a:noAutofit/>
                    </a:bodyPr>
                    <a:lstStyle/>
                    <a:p>
                      <a:r>
                        <a:rPr sz="1725" b="0">
                          <a:solidFill>
                            <a:srgbClr val="132E40"/>
                          </a:solidFill>
                          <a:latin typeface="Arial"/>
                          <a:ea typeface="Arial"/>
                          <a:cs typeface="Arial"/>
                        </a:rPr>
                        <a:t>Original model</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0/48 clean trips for full and simple</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No glucose-domain failure; action clamps remain</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Original Hovorka equations</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44/48 clean runs had negative EGP</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Clean baseline already outside valid domain</a:t>
                      </a:r>
                    </a:p>
                  </a:txBody>
                  <a:tcPr marL="91440" marR="91440" marT="45720" marB="45720">
                    <a:solidFill>
                      <a:srgbClr val="EEF4F6"/>
                    </a:solidFill>
                  </a:tcPr>
                </a:tc>
              </a:tr>
              <a:tr h="590550">
                <a:tc>
                  <a:txBody>
                    <a:bodyPr>
                      <a:noAutofit/>
                    </a:bodyPr>
                    <a:lstStyle/>
                    <a:p>
                      <a:r>
                        <a:rPr sz="1725" b="0">
                          <a:solidFill>
                            <a:srgbClr val="132E40"/>
                          </a:solidFill>
                          <a:latin typeface="Arial"/>
                          <a:ea typeface="Arial"/>
                          <a:cs typeface="Arial"/>
                        </a:rPr>
                        <a:t>Hovorka clean trips</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Full 2/48; simple 0/48</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False intervention did not disappear</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Main Hovorka traces</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2,108/2,304 had negative EGP</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Intervention benefit claims are restricted</a:t>
                      </a:r>
                    </a:p>
                  </a:txBody>
                  <a:tcPr marL="91440" marR="91440" marT="45720" marB="45720">
                    <a:solidFill>
                      <a:srgbClr val="EEF4F6"/>
                    </a:solidFill>
                  </a:tcPr>
                </a:tc>
              </a:tr>
            </a:tbl>
          </a:graphicData>
        </a:graphic>
      </p:graphicFrame>
    </p:spTree>
    <p:extLst>
      <p:ext uri="{BB962C8B-B14F-4D97-AF65-F5344CB8AC3E}">
        <p14:creationId xmlns:p14="http://schemas.microsoft.com/office/powerpoint/2010/main" val="170868662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0C215941-0204-4476-9ABB-6238677B2CA6}"/>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A separate validity and component check</a:t>
            </a:r>
          </a:p>
        </p:txBody>
      </p:sp>
      <p:sp>
        <p:nvSpPr>
          <p:cNvPr id="2" name="section">
            <a:extLst xmlns:a="http://schemas.openxmlformats.org/drawingml/2006/main">
              <a:ext uri="{FF2B5EF4-FFF2-40B4-BE49-F238E27FC236}">
                <a16:creationId xmlns:a16="http://schemas.microsoft.com/office/drawing/2014/main" id="{DBDFA7F2-9153-4E08-A269-3FF0EC17D45A}"/>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EXPLORATORY SUPPLEMENT</a:t>
            </a:r>
          </a:p>
        </p:txBody>
      </p:sp>
      <p:sp>
        <p:nvSpPr>
          <p:cNvPr id="3" name="footer">
            <a:extLst xmlns:a="http://schemas.openxmlformats.org/drawingml/2006/main">
              <a:ext uri="{FF2B5EF4-FFF2-40B4-BE49-F238E27FC236}">
                <a16:creationId xmlns:a16="http://schemas.microsoft.com/office/drawing/2014/main" id="{3DBF6429-9A25-45AC-A225-75307016D51F}"/>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20 / 49</a:t>
            </a:r>
          </a:p>
        </p:txBody>
      </p:sp>
      <p:sp>
        <p:nvSpPr>
          <p:cNvPr id="4" name="body0">
            <a:extLst xmlns:a="http://schemas.openxmlformats.org/drawingml/2006/main">
              <a:ext uri="{FF2B5EF4-FFF2-40B4-BE49-F238E27FC236}">
                <a16:creationId xmlns:a16="http://schemas.microsoft.com/office/drawing/2014/main" id="{A0F470DD-134C-4758-BC1B-6385095D9B90}"/>
              </a:ext>
            </a:extLst>
          </p:cNvPr>
          <p:cNvSpPr>
            <a:spLocks xmlns:a="http://schemas.openxmlformats.org/drawingml/2006/main" noGrp="1"/>
          </p:cNvSpPr>
          <p:nvPr/>
        </p:nvSpPr>
        <p:spPr>
          <a:xfrm xmlns:a="http://schemas.openxmlformats.org/drawingml/2006/main">
            <a:off x="685800" y="1866900"/>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32E40"/>
                </a:solidFill>
                <a:latin typeface="Arial"/>
                <a:ea typeface="Arial"/>
                <a:cs typeface="Arial"/>
              </a:defRPr>
            </a:pPr>
            <a:r>
              <a:rPr sz="2175" b="1">
                <a:solidFill>
                  <a:srgbClr val="132E40"/>
                </a:solidFill>
                <a:latin typeface="Arial"/>
                <a:ea typeface="Arial"/>
                <a:cs typeface="Arial"/>
              </a:rPr>
              <a:t>Exploratory follow-up after the primary model-domain failures.</a:t>
            </a:r>
          </a:p>
        </p:txBody>
      </p:sp>
      <p:sp>
        <p:nvSpPr>
          <p:cNvPr id="5" name="body1">
            <a:extLst xmlns:a="http://schemas.openxmlformats.org/drawingml/2006/main">
              <a:ext uri="{FF2B5EF4-FFF2-40B4-BE49-F238E27FC236}">
                <a16:creationId xmlns:a16="http://schemas.microsoft.com/office/drawing/2014/main" id="{AA39CC8A-487F-448E-B2B6-1263C45824AC}"/>
              </a:ext>
            </a:extLst>
          </p:cNvPr>
          <p:cNvSpPr>
            <a:spLocks xmlns:a="http://schemas.openxmlformats.org/drawingml/2006/main" noGrp="1"/>
          </p:cNvSpPr>
          <p:nvPr/>
        </p:nvSpPr>
        <p:spPr>
          <a:xfrm xmlns:a="http://schemas.openxmlformats.org/drawingml/2006/main">
            <a:off x="685800" y="3019425"/>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06579"/>
                </a:solidFill>
                <a:latin typeface="Arial"/>
                <a:ea typeface="Arial"/>
                <a:cs typeface="Arial"/>
              </a:defRPr>
            </a:pPr>
            <a:r>
              <a:rPr sz="2175" b="0">
                <a:solidFill>
                  <a:srgbClr val="506579"/>
                </a:solidFill>
                <a:latin typeface="Arial"/>
                <a:ea typeface="Arial"/>
                <a:cs typeface="Arial"/>
              </a:rPr>
              <a:t>New fasting parameter vectors and noise seeds; actuator-aware basal compensation.</a:t>
            </a:r>
          </a:p>
        </p:txBody>
      </p:sp>
      <p:sp>
        <p:nvSpPr>
          <p:cNvPr id="6" name="body2">
            <a:extLst xmlns:a="http://schemas.openxmlformats.org/drawingml/2006/main">
              <a:ext uri="{FF2B5EF4-FFF2-40B4-BE49-F238E27FC236}">
                <a16:creationId xmlns:a16="http://schemas.microsoft.com/office/drawing/2014/main" id="{5E1FAD9D-FB72-4A52-953E-2F94DD45E6A6}"/>
              </a:ext>
            </a:extLst>
          </p:cNvPr>
          <p:cNvSpPr>
            <a:spLocks xmlns:a="http://schemas.openxmlformats.org/drawingml/2006/main" noGrp="1"/>
          </p:cNvSpPr>
          <p:nvPr/>
        </p:nvSpPr>
        <p:spPr>
          <a:xfrm xmlns:a="http://schemas.openxmlformats.org/drawingml/2006/main">
            <a:off x="685800" y="4171950"/>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06579"/>
                </a:solidFill>
                <a:latin typeface="Arial"/>
                <a:ea typeface="Arial"/>
                <a:cs typeface="Arial"/>
              </a:defRPr>
            </a:pPr>
            <a:r>
              <a:rPr sz="2175" b="0">
                <a:solidFill>
                  <a:srgbClr val="506579"/>
                </a:solidFill>
                <a:latin typeface="Arial"/>
                <a:ea typeface="Arial"/>
                <a:cs typeface="Arial"/>
              </a:rPr>
              <a:t>Full, simple, mass-CUSUM-only and sham arms isolate a narrower component question.</a:t>
            </a:r>
          </a:p>
        </p:txBody>
      </p:sp>
    </p:spTree>
    <p:extLst>
      <p:ext uri="{BB962C8B-B14F-4D97-AF65-F5344CB8AC3E}">
        <p14:creationId xmlns:p14="http://schemas.microsoft.com/office/powerpoint/2010/main" val="133360293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8A021BD-67CC-4F24-A478-BB54585E238C}"/>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Fasting supplement: validity and false stops</a:t>
            </a:r>
          </a:p>
        </p:txBody>
      </p:sp>
      <p:sp>
        <p:nvSpPr>
          <p:cNvPr id="2" name="section">
            <a:extLst xmlns:a="http://schemas.openxmlformats.org/drawingml/2006/main">
              <a:ext uri="{FF2B5EF4-FFF2-40B4-BE49-F238E27FC236}">
                <a16:creationId xmlns:a16="http://schemas.microsoft.com/office/drawing/2014/main" id="{2A102654-7882-4AC4-98D1-773A48439B9A}"/>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EXPLORATORY SUPPLEMENT</a:t>
            </a:r>
          </a:p>
        </p:txBody>
      </p:sp>
      <p:sp>
        <p:nvSpPr>
          <p:cNvPr id="3" name="footer">
            <a:extLst xmlns:a="http://schemas.openxmlformats.org/drawingml/2006/main">
              <a:ext uri="{FF2B5EF4-FFF2-40B4-BE49-F238E27FC236}">
                <a16:creationId xmlns:a16="http://schemas.microsoft.com/office/drawing/2014/main" id="{33835626-443C-457B-A676-8B9F5BFDE5A2}"/>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21 / 49</a:t>
            </a:r>
          </a:p>
        </p:txBody>
      </p:sp>
      <p:graphicFrame>
        <p:nvGraphicFramePr>
          <p:cNvPr id="8" name=""/>
          <p:cNvGraphicFramePr/>
          <p:nvPr/>
        </p:nvGraphicFramePr>
        <p:xfrm>
          <a:off xmlns:a="http://schemas.openxmlformats.org/drawingml/2006/main" x="685800" y="1743075"/>
          <a:ext xmlns:a="http://schemas.openxmlformats.org/drawingml/2006/main" cx="10820400" cy="3543300"/>
        </p:xfrm>
        <a:graphic xmlns:a="http://schemas.openxmlformats.org/drawingml/2006/main">
          <a:graphicData uri="http://schemas.openxmlformats.org/drawingml/2006/table">
            <a:tbl>
              <a:tblPr/>
              <a:tblGrid>
                <a:gridCol w="3143250"/>
                <a:gridCol w="7677150"/>
              </a:tblGrid>
              <a:tr h="590550">
                <a:tc>
                  <a:txBody>
                    <a:bodyPr>
                      <a:noAutofit/>
                    </a:bodyPr>
                    <a:lstStyle/>
                    <a:p>
                      <a:r>
                        <a:rPr sz="1725" b="1">
                          <a:solidFill>
                            <a:srgbClr val="FFFFFF"/>
                          </a:solidFill>
                          <a:latin typeface="Arial"/>
                          <a:ea typeface="Arial"/>
                          <a:cs typeface="Arial"/>
                        </a:rPr>
                        <a:t>Finding</a:t>
                      </a:r>
                    </a:p>
                  </a:txBody>
                  <a:tcPr marL="91440" marR="91440" marT="45720" marB="45720">
                    <a:solidFill>
                      <a:srgbClr val="132E40"/>
                    </a:solidFill>
                  </a:tcPr>
                </a:tc>
                <a:tc>
                  <a:txBody>
                    <a:bodyPr>
                      <a:noAutofit/>
                    </a:bodyPr>
                    <a:lstStyle/>
                    <a:p>
                      <a:r>
                        <a:rPr sz="1725" b="1">
                          <a:solidFill>
                            <a:srgbClr val="FFFFFF"/>
                          </a:solidFill>
                          <a:latin typeface="Arial"/>
                          <a:ea typeface="Arial"/>
                          <a:cs typeface="Arial"/>
                        </a:rPr>
                        <a:t>Locked exploratory result</a:t>
                      </a:r>
                    </a:p>
                  </a:txBody>
                  <a:tcPr marL="91440" marR="91440" marT="45720" marB="45720">
                    <a:solidFill>
                      <a:srgbClr val="132E40"/>
                    </a:solidFill>
                  </a:tcPr>
                </a:tc>
              </a:tr>
              <a:tr h="590550">
                <a:tc>
                  <a:txBody>
                    <a:bodyPr>
                      <a:noAutofit/>
                    </a:bodyPr>
                    <a:lstStyle/>
                    <a:p>
                      <a:r>
                        <a:rPr sz="1725" b="0">
                          <a:solidFill>
                            <a:srgbClr val="132E40"/>
                          </a:solidFill>
                          <a:latin typeface="Arial"/>
                          <a:ea typeface="Arial"/>
                          <a:cs typeface="Arial"/>
                        </a:rPr>
                        <a:t>Execution</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2,048/2,048 completed; no failed runs</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Physiological checks</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0 domain-invalid and 0 negative-EGP runs</a:t>
                      </a:r>
                    </a:p>
                  </a:txBody>
                  <a:tcPr marL="91440" marR="91440" marT="45720" marB="45720">
                    <a:solidFill>
                      <a:srgbClr val="EEF4F6"/>
                    </a:solidFill>
                  </a:tcPr>
                </a:tc>
              </a:tr>
              <a:tr h="590550">
                <a:tc>
                  <a:txBody>
                    <a:bodyPr>
                      <a:noAutofit/>
                    </a:bodyPr>
                    <a:lstStyle/>
                    <a:p>
                      <a:r>
                        <a:rPr sz="1725" b="0">
                          <a:solidFill>
                            <a:srgbClr val="132E40"/>
                          </a:solidFill>
                          <a:latin typeface="Arial"/>
                          <a:ea typeface="Arial"/>
                          <a:cs typeface="Arial"/>
                        </a:rPr>
                        <a:t>Original clean trips</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Full, mass-CUSUM and simple:3/32 each</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Hovorka clean trips</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Full 3/32; mass-CUSUM and simple 2/32</a:t>
                      </a:r>
                    </a:p>
                  </a:txBody>
                  <a:tcPr marL="91440" marR="91440" marT="45720" marB="45720">
                    <a:solidFill>
                      <a:srgbClr val="EEF4F6"/>
                    </a:solidFill>
                  </a:tcPr>
                </a:tc>
              </a:tr>
              <a:tr h="590550">
                <a:tc>
                  <a:txBody>
                    <a:bodyPr>
                      <a:noAutofit/>
                    </a:bodyPr>
                    <a:lstStyle/>
                    <a:p>
                      <a:r>
                        <a:rPr sz="1725" b="0">
                          <a:solidFill>
                            <a:srgbClr val="132E40"/>
                          </a:solidFill>
                          <a:latin typeface="Arial"/>
                          <a:ea typeface="Arial"/>
                          <a:cs typeface="Arial"/>
                        </a:rPr>
                        <a:t>Interpretation</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Declared screens passed; false stops remain</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698428165"/>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F57165F5-A3B0-4299-9E0C-365AA4E9EEEF}"/>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Full versus mass CUSUM: benefits and costs</a:t>
            </a:r>
          </a:p>
        </p:txBody>
      </p:sp>
      <p:sp>
        <p:nvSpPr>
          <p:cNvPr id="2" name="section">
            <a:extLst xmlns:a="http://schemas.openxmlformats.org/drawingml/2006/main">
              <a:ext uri="{FF2B5EF4-FFF2-40B4-BE49-F238E27FC236}">
                <a16:creationId xmlns:a16="http://schemas.microsoft.com/office/drawing/2014/main" id="{52C3E7D8-A81D-44B6-BF1C-37E82184FD4E}"/>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EXPLORATORY SUPPLEMENT</a:t>
            </a:r>
          </a:p>
        </p:txBody>
      </p:sp>
      <p:sp>
        <p:nvSpPr>
          <p:cNvPr id="3" name="footer">
            <a:extLst xmlns:a="http://schemas.openxmlformats.org/drawingml/2006/main">
              <a:ext uri="{FF2B5EF4-FFF2-40B4-BE49-F238E27FC236}">
                <a16:creationId xmlns:a16="http://schemas.microsoft.com/office/drawing/2014/main" id="{30F9668F-BB57-40BC-9AC0-6E117D309A62}"/>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22 / 49</a:t>
            </a:r>
          </a:p>
        </p:txBody>
      </p:sp>
      <p:graphicFrame>
        <p:nvGraphicFramePr>
          <p:cNvPr id="9" name=""/>
          <p:cNvGraphicFramePr/>
          <p:nvPr/>
        </p:nvGraphicFramePr>
        <p:xfrm>
          <a:off xmlns:a="http://schemas.openxmlformats.org/drawingml/2006/main" x="685800" y="1743075"/>
          <a:ext xmlns:a="http://schemas.openxmlformats.org/drawingml/2006/main" cx="10820400" cy="2952750"/>
        </p:xfrm>
        <a:graphic xmlns:a="http://schemas.openxmlformats.org/drawingml/2006/main">
          <a:graphicData uri="http://schemas.openxmlformats.org/drawingml/2006/table">
            <a:tbl>
              <a:tblPr/>
              <a:tblGrid>
                <a:gridCol w="3238500"/>
                <a:gridCol w="3810000"/>
                <a:gridCol w="3771900"/>
              </a:tblGrid>
              <a:tr h="590550">
                <a:tc>
                  <a:txBody>
                    <a:bodyPr>
                      <a:noAutofit/>
                    </a:bodyPr>
                    <a:lstStyle/>
                    <a:p>
                      <a:r>
                        <a:rPr sz="1725" b="1">
                          <a:solidFill>
                            <a:srgbClr val="FFFFFF"/>
                          </a:solidFill>
                          <a:latin typeface="Arial"/>
                          <a:ea typeface="Arial"/>
                          <a:cs typeface="Arial"/>
                        </a:rPr>
                        <a:t>Full − mass-CUSUM only</a:t>
                      </a:r>
                    </a:p>
                  </a:txBody>
                  <a:tcPr marL="91440" marR="91440" marT="45720" marB="45720">
                    <a:solidFill>
                      <a:srgbClr val="132E40"/>
                    </a:solidFill>
                  </a:tcPr>
                </a:tc>
                <a:tc>
                  <a:txBody>
                    <a:bodyPr>
                      <a:noAutofit/>
                    </a:bodyPr>
                    <a:lstStyle/>
                    <a:p>
                      <a:r>
                        <a:rPr sz="1725" b="1">
                          <a:solidFill>
                            <a:srgbClr val="FFFFFF"/>
                          </a:solidFill>
                          <a:latin typeface="Arial"/>
                          <a:ea typeface="Arial"/>
                          <a:cs typeface="Arial"/>
                        </a:rPr>
                        <a:t>Mean difference</a:t>
                      </a:r>
                    </a:p>
                  </a:txBody>
                  <a:tcPr marL="91440" marR="91440" marT="45720" marB="45720">
                    <a:solidFill>
                      <a:srgbClr val="132E40"/>
                    </a:solidFill>
                  </a:tcPr>
                </a:tc>
                <a:tc>
                  <a:txBody>
                    <a:bodyPr>
                      <a:noAutofit/>
                    </a:bodyPr>
                    <a:lstStyle/>
                    <a:p>
                      <a:r>
                        <a:rPr sz="1725" b="1">
                          <a:solidFill>
                            <a:srgbClr val="FFFFFF"/>
                          </a:solidFill>
                          <a:latin typeface="Arial"/>
                          <a:ea typeface="Arial"/>
                          <a:cs typeface="Arial"/>
                        </a:rPr>
                        <a:t>95% paired CI</a:t>
                      </a:r>
                    </a:p>
                  </a:txBody>
                  <a:tcPr marL="91440" marR="91440" marT="45720" marB="45720">
                    <a:solidFill>
                      <a:srgbClr val="132E40"/>
                    </a:solidFill>
                  </a:tcPr>
                </a:tc>
              </a:tr>
              <a:tr h="590550">
                <a:tc>
                  <a:txBody>
                    <a:bodyPr>
                      <a:noAutofit/>
                    </a:bodyPr>
                    <a:lstStyle/>
                    <a:p>
                      <a:r>
                        <a:rPr sz="1725" b="0">
                          <a:solidFill>
                            <a:srgbClr val="132E40"/>
                          </a:solidFill>
                          <a:latin typeface="Arial"/>
                          <a:ea typeface="Arial"/>
                          <a:cs typeface="Arial"/>
                        </a:rPr>
                        <a:t>Original: combined excess+bias excess</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−0.07073 research U</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−0.09821 to −0.04298</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Hovorka: combined excess+bias excess</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−0.04187 research U</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−0.07946 to −0.00952</a:t>
                      </a:r>
                    </a:p>
                  </a:txBody>
                  <a:tcPr marL="91440" marR="91440" marT="45720" marB="45720">
                    <a:solidFill>
                      <a:srgbClr val="EEF4F6"/>
                    </a:solidFill>
                  </a:tcPr>
                </a:tc>
              </a:tr>
              <a:tr h="590550">
                <a:tc>
                  <a:txBody>
                    <a:bodyPr>
                      <a:noAutofit/>
                    </a:bodyPr>
                    <a:lstStyle/>
                    <a:p>
                      <a:r>
                        <a:rPr sz="1725" b="0">
                          <a:solidFill>
                            <a:srgbClr val="132E40"/>
                          </a:solidFill>
                          <a:latin typeface="Arial"/>
                          <a:ea typeface="Arial"/>
                          <a:cs typeface="Arial"/>
                        </a:rPr>
                        <a:t>Original: bias-only deficit</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+1.33868 research U</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+0.71855 to +2.10441</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Hovorka: bias-only deficit</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+0.39818 research U</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+0.20601 to +0.60903</a:t>
                      </a:r>
                    </a:p>
                  </a:txBody>
                  <a:tcPr marL="91440" marR="91440" marT="45720" marB="45720">
                    <a:solidFill>
                      <a:srgbClr val="EEF4F6"/>
                    </a:solidFill>
                  </a:tcPr>
                </a:tc>
              </a:tr>
            </a:tbl>
          </a:graphicData>
        </a:graphic>
      </p:graphicFrame>
      <p:sp>
        <p:nvSpPr>
          <p:cNvPr id="5" name="caption">
            <a:extLst xmlns:a="http://schemas.openxmlformats.org/drawingml/2006/main">
              <a:ext uri="{FF2B5EF4-FFF2-40B4-BE49-F238E27FC236}">
                <a16:creationId xmlns:a16="http://schemas.microsoft.com/office/drawing/2014/main" id="{4E74E776-D0A5-478F-B79A-028BA7D04BE5}"/>
              </a:ext>
            </a:extLst>
          </p:cNvPr>
          <p:cNvSpPr>
            <a:spLocks xmlns:a="http://schemas.openxmlformats.org/drawingml/2006/main" noGrp="1"/>
          </p:cNvSpPr>
          <p:nvPr/>
        </p:nvSpPr>
        <p:spPr>
          <a:xfrm xmlns:a="http://schemas.openxmlformats.org/drawingml/2006/main">
            <a:off x="685800" y="59436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579"/>
                </a:solidFill>
                <a:latin typeface="Arial"/>
                <a:ea typeface="Arial"/>
                <a:cs typeface="Arial"/>
              </a:defRPr>
            </a:pPr>
            <a:r>
              <a:rPr sz="1350" b="0">
                <a:solidFill>
                  <a:srgbClr val="506579"/>
                </a:solidFill>
                <a:latin typeface="Arial"/>
                <a:ea typeface="Arial"/>
                <a:cs typeface="Arial"/>
              </a:rPr>
              <a:t>Exploratory fasting comparison. Less excess under a combined fault; more deficit under biased CGM.</a:t>
            </a:r>
          </a:p>
        </p:txBody>
      </p:sp>
    </p:spTree>
    <p:extLst>
      <p:ext uri="{BB962C8B-B14F-4D97-AF65-F5344CB8AC3E}">
        <p14:creationId xmlns:p14="http://schemas.microsoft.com/office/powerpoint/2010/main" val="77295579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16C12184-E27A-453F-9F36-A3E400F938FD}"/>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Reading the simulation movies</a:t>
            </a:r>
          </a:p>
        </p:txBody>
      </p:sp>
      <p:sp>
        <p:nvSpPr>
          <p:cNvPr id="2" name="section">
            <a:extLst xmlns:a="http://schemas.openxmlformats.org/drawingml/2006/main">
              <a:ext uri="{FF2B5EF4-FFF2-40B4-BE49-F238E27FC236}">
                <a16:creationId xmlns:a16="http://schemas.microsoft.com/office/drawing/2014/main" id="{DF995DCE-D858-4197-AE32-0D07C5345DB7}"/>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RESULT PLAYBACK</a:t>
            </a:r>
          </a:p>
        </p:txBody>
      </p:sp>
      <p:sp>
        <p:nvSpPr>
          <p:cNvPr id="3" name="footer">
            <a:extLst xmlns:a="http://schemas.openxmlformats.org/drawingml/2006/main">
              <a:ext uri="{FF2B5EF4-FFF2-40B4-BE49-F238E27FC236}">
                <a16:creationId xmlns:a16="http://schemas.microsoft.com/office/drawing/2014/main" id="{0FD46B3B-3D51-4B3C-B4E1-A0E94ADFE87E}"/>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23 / 49</a:t>
            </a:r>
          </a:p>
        </p:txBody>
      </p:sp>
      <p:sp>
        <p:nvSpPr>
          <p:cNvPr id="4" name="body0">
            <a:extLst xmlns:a="http://schemas.openxmlformats.org/drawingml/2006/main">
              <a:ext uri="{FF2B5EF4-FFF2-40B4-BE49-F238E27FC236}">
                <a16:creationId xmlns:a16="http://schemas.microsoft.com/office/drawing/2014/main" id="{1E6A1820-4AC0-48CA-8289-BD5663D53E46}"/>
              </a:ext>
            </a:extLst>
          </p:cNvPr>
          <p:cNvSpPr>
            <a:spLocks xmlns:a="http://schemas.openxmlformats.org/drawingml/2006/main" noGrp="1"/>
          </p:cNvSpPr>
          <p:nvPr/>
        </p:nvSpPr>
        <p:spPr>
          <a:xfrm xmlns:a="http://schemas.openxmlformats.org/drawingml/2006/main">
            <a:off x="685800" y="1866900"/>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32E40"/>
                </a:solidFill>
                <a:latin typeface="Arial"/>
                <a:ea typeface="Arial"/>
                <a:cs typeface="Arial"/>
              </a:defRPr>
            </a:pPr>
            <a:r>
              <a:rPr sz="2175" b="1">
                <a:solidFill>
                  <a:srgbClr val="132E40"/>
                </a:solidFill>
                <a:latin typeface="Arial"/>
                <a:ea typeface="Arial"/>
                <a:cs typeface="Arial"/>
              </a:rPr>
              <a:t>Each frame advances through the saved five-minute samples; no synthetic intermediate measurements.</a:t>
            </a:r>
          </a:p>
        </p:txBody>
      </p:sp>
      <p:sp>
        <p:nvSpPr>
          <p:cNvPr id="5" name="body1">
            <a:extLst xmlns:a="http://schemas.openxmlformats.org/drawingml/2006/main">
              <a:ext uri="{FF2B5EF4-FFF2-40B4-BE49-F238E27FC236}">
                <a16:creationId xmlns:a16="http://schemas.microsoft.com/office/drawing/2014/main" id="{B2B5BBA2-6FC3-4486-AEEA-79363AA05E40}"/>
              </a:ext>
            </a:extLst>
          </p:cNvPr>
          <p:cNvSpPr>
            <a:spLocks xmlns:a="http://schemas.openxmlformats.org/drawingml/2006/main" noGrp="1"/>
          </p:cNvSpPr>
          <p:nvPr/>
        </p:nvSpPr>
        <p:spPr>
          <a:xfrm xmlns:a="http://schemas.openxmlformats.org/drawingml/2006/main">
            <a:off x="685800" y="3019425"/>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06579"/>
                </a:solidFill>
                <a:latin typeface="Arial"/>
                <a:ea typeface="Arial"/>
                <a:cs typeface="Arial"/>
              </a:defRPr>
            </a:pPr>
            <a:r>
              <a:rPr sz="2175" b="0">
                <a:solidFill>
                  <a:srgbClr val="506579"/>
                </a:solidFill>
                <a:latin typeface="Arial"/>
                <a:ea typeface="Arial"/>
                <a:cs typeface="Arial"/>
              </a:rPr>
              <a:t>Full and simple monitors share the request tape, noise and reference.</a:t>
            </a:r>
          </a:p>
        </p:txBody>
      </p:sp>
      <p:sp>
        <p:nvSpPr>
          <p:cNvPr id="6" name="body2">
            <a:extLst xmlns:a="http://schemas.openxmlformats.org/drawingml/2006/main">
              <a:ext uri="{FF2B5EF4-FFF2-40B4-BE49-F238E27FC236}">
                <a16:creationId xmlns:a16="http://schemas.microsoft.com/office/drawing/2014/main" id="{4BE04944-E52E-4838-8277-29F2574702FE}"/>
              </a:ext>
            </a:extLst>
          </p:cNvPr>
          <p:cNvSpPr>
            <a:spLocks xmlns:a="http://schemas.openxmlformats.org/drawingml/2006/main" noGrp="1"/>
          </p:cNvSpPr>
          <p:nvPr/>
        </p:nvSpPr>
        <p:spPr>
          <a:xfrm xmlns:a="http://schemas.openxmlformats.org/drawingml/2006/main">
            <a:off x="685800" y="4171950"/>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06579"/>
                </a:solidFill>
                <a:latin typeface="Arial"/>
                <a:ea typeface="Arial"/>
                <a:cs typeface="Arial"/>
              </a:defRPr>
            </a:pPr>
            <a:r>
              <a:rPr sz="2175" b="0">
                <a:solidFill>
                  <a:srgbClr val="506579"/>
                </a:solidFill>
                <a:latin typeface="Arial"/>
                <a:ea typeface="Arial"/>
                <a:cs typeface="Arial"/>
              </a:rPr>
              <a:t>State, emission, excess, deficit and model-domain flags remain visible.</a:t>
            </a:r>
          </a:p>
        </p:txBody>
      </p:sp>
    </p:spTree>
    <p:extLst>
      <p:ext uri="{BB962C8B-B14F-4D97-AF65-F5344CB8AC3E}">
        <p14:creationId xmlns:p14="http://schemas.microsoft.com/office/powerpoint/2010/main" val="847554922"/>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6BB0AD45-6B65-4440-9ACF-C9AD115FABB4}"/>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Doubled actuator input: original model</a:t>
            </a:r>
          </a:p>
        </p:txBody>
      </p:sp>
      <p:sp>
        <p:nvSpPr>
          <p:cNvPr id="2" name="section">
            <a:extLst xmlns:a="http://schemas.openxmlformats.org/drawingml/2006/main">
              <a:ext uri="{FF2B5EF4-FFF2-40B4-BE49-F238E27FC236}">
                <a16:creationId xmlns:a16="http://schemas.microsoft.com/office/drawing/2014/main" id="{A477D676-96BF-45CA-ABAF-AF09F284C230}"/>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RESULT PLAYBACK</a:t>
            </a:r>
          </a:p>
        </p:txBody>
      </p:sp>
      <p:sp>
        <p:nvSpPr>
          <p:cNvPr id="3" name="footer">
            <a:extLst xmlns:a="http://schemas.openxmlformats.org/drawingml/2006/main">
              <a:ext uri="{FF2B5EF4-FFF2-40B4-BE49-F238E27FC236}">
                <a16:creationId xmlns:a16="http://schemas.microsoft.com/office/drawing/2014/main" id="{76EC7727-15BD-4CBC-B954-CADB9C88DE84}"/>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24 / 49</a:t>
            </a:r>
          </a:p>
        </p:txBody>
      </p:sp>
      <p:sp>
        <p:nvSpPr>
          <p:cNvPr id="4" name="play-label">
            <a:extLst xmlns:a="http://schemas.openxmlformats.org/drawingml/2006/main">
              <a:ext uri="{FF2B5EF4-FFF2-40B4-BE49-F238E27FC236}">
                <a16:creationId xmlns:a16="http://schemas.microsoft.com/office/drawing/2014/main" id="{2DEB7021-A9CC-40F3-809C-A89E67C0B9CB}"/>
              </a:ext>
            </a:extLst>
          </p:cNvPr>
          <p:cNvSpPr>
            <a:spLocks xmlns:a="http://schemas.openxmlformats.org/drawingml/2006/main" noGrp="1"/>
          </p:cNvSpPr>
          <p:nvPr/>
        </p:nvSpPr>
        <p:spPr>
          <a:xfrm xmlns:a="http://schemas.openxmlformats.org/drawingml/2006/main">
            <a:off x="8829675" y="1200150"/>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PLAY: TAB, THEN ENTER</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bd18c6177cc74dc4"/>
          <a:stretch xmlns:a="http://schemas.openxmlformats.org/drawingml/2006/main"/>
        </p:blipFill>
        <p:spPr>
          <a:xfrm xmlns:a="http://schemas.openxmlformats.org/drawingml/2006/main">
            <a:off x="2370667" y="1533525"/>
            <a:ext cx="7450667" cy="4191000"/>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2D5B6925-9C9E-41A1-A05A-651930C1CD7E}"/>
              </a:ext>
            </a:extLst>
          </p:cNvPr>
          <p:cNvSpPr>
            <a:spLocks xmlns:a="http://schemas.openxmlformats.org/drawingml/2006/main" noGrp="1"/>
          </p:cNvSpPr>
          <p:nvPr/>
        </p:nvSpPr>
        <p:spPr>
          <a:xfrm xmlns:a="http://schemas.openxmlformats.org/drawingml/2006/main">
            <a:off x="685800" y="58293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06579"/>
                </a:solidFill>
                <a:latin typeface="Arial"/>
                <a:ea typeface="Arial"/>
                <a:cs typeface="Arial"/>
              </a:defRPr>
            </a:pPr>
            <a:r>
              <a:rPr sz="1500" b="0">
                <a:solidFill>
                  <a:srgbClr val="506579"/>
                </a:solidFill>
                <a:latin typeface="Arial"/>
                <a:ea typeface="Arial"/>
                <a:cs typeface="Arial"/>
              </a:rPr>
              <a:t>Play with Tab, then Enter. Numerical playback only; all displayed quantities come from the frozen trace.</a:t>
            </a:r>
          </a:p>
        </p:txBody>
      </p:sp>
    </p:spTree>
    <p:extLst>
      <p:ext uri="{BB962C8B-B14F-4D97-AF65-F5344CB8AC3E}">
        <p14:creationId xmlns:p14="http://schemas.microsoft.com/office/powerpoint/2010/main" val="37212221"/>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44983811-316C-44E9-B5EE-61FACD0CBA4D}"/>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Stuck-on delivery and recovery</a:t>
            </a:r>
          </a:p>
        </p:txBody>
      </p:sp>
      <p:sp>
        <p:nvSpPr>
          <p:cNvPr id="2" name="section">
            <a:extLst xmlns:a="http://schemas.openxmlformats.org/drawingml/2006/main">
              <a:ext uri="{FF2B5EF4-FFF2-40B4-BE49-F238E27FC236}">
                <a16:creationId xmlns:a16="http://schemas.microsoft.com/office/drawing/2014/main" id="{7CB7113B-D221-449D-8ECE-5E549A448491}"/>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RESULT PLAYBACK</a:t>
            </a:r>
          </a:p>
        </p:txBody>
      </p:sp>
      <p:sp>
        <p:nvSpPr>
          <p:cNvPr id="3" name="footer">
            <a:extLst xmlns:a="http://schemas.openxmlformats.org/drawingml/2006/main">
              <a:ext uri="{FF2B5EF4-FFF2-40B4-BE49-F238E27FC236}">
                <a16:creationId xmlns:a16="http://schemas.microsoft.com/office/drawing/2014/main" id="{DC1C06C2-EFD6-4695-925A-8026D5CF3F09}"/>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25 / 49</a:t>
            </a:r>
          </a:p>
        </p:txBody>
      </p:sp>
      <p:sp>
        <p:nvSpPr>
          <p:cNvPr id="4" name="play-label">
            <a:extLst xmlns:a="http://schemas.openxmlformats.org/drawingml/2006/main">
              <a:ext uri="{FF2B5EF4-FFF2-40B4-BE49-F238E27FC236}">
                <a16:creationId xmlns:a16="http://schemas.microsoft.com/office/drawing/2014/main" id="{B92D373C-9AE0-4DAC-AB82-5C33137CAFB2}"/>
              </a:ext>
            </a:extLst>
          </p:cNvPr>
          <p:cNvSpPr>
            <a:spLocks xmlns:a="http://schemas.openxmlformats.org/drawingml/2006/main" noGrp="1"/>
          </p:cNvSpPr>
          <p:nvPr/>
        </p:nvSpPr>
        <p:spPr>
          <a:xfrm xmlns:a="http://schemas.openxmlformats.org/drawingml/2006/main">
            <a:off x="8829675" y="1200150"/>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PLAY: TAB, THEN ENTER</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337d18157b404f61"/>
          <a:stretch xmlns:a="http://schemas.openxmlformats.org/drawingml/2006/main"/>
        </p:blipFill>
        <p:spPr>
          <a:xfrm xmlns:a="http://schemas.openxmlformats.org/drawingml/2006/main">
            <a:off x="2370667" y="1533525"/>
            <a:ext cx="7450667" cy="4191000"/>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BEED84A3-758B-4772-B9CA-DAA98C220292}"/>
              </a:ext>
            </a:extLst>
          </p:cNvPr>
          <p:cNvSpPr>
            <a:spLocks xmlns:a="http://schemas.openxmlformats.org/drawingml/2006/main" noGrp="1"/>
          </p:cNvSpPr>
          <p:nvPr/>
        </p:nvSpPr>
        <p:spPr>
          <a:xfrm xmlns:a="http://schemas.openxmlformats.org/drawingml/2006/main">
            <a:off x="685800" y="58293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06579"/>
                </a:solidFill>
                <a:latin typeface="Arial"/>
                <a:ea typeface="Arial"/>
                <a:cs typeface="Arial"/>
              </a:defRPr>
            </a:pPr>
            <a:r>
              <a:rPr sz="1500" b="0">
                <a:solidFill>
                  <a:srgbClr val="506579"/>
                </a:solidFill>
                <a:latin typeface="Arial"/>
                <a:ea typeface="Arial"/>
                <a:cs typeface="Arial"/>
              </a:rPr>
              <a:t>Play with Tab, then Enter. Numerical playback only; all displayed quantities come from the frozen trace.</a:t>
            </a:r>
          </a:p>
        </p:txBody>
      </p:sp>
    </p:spTree>
    <p:extLst>
      <p:ext uri="{BB962C8B-B14F-4D97-AF65-F5344CB8AC3E}">
        <p14:creationId xmlns:p14="http://schemas.microsoft.com/office/powerpoint/2010/main" val="55631414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53BF3AFB-7D66-48EF-894F-B929AE34170A}"/>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Missing observation and interruption</a:t>
            </a:r>
          </a:p>
        </p:txBody>
      </p:sp>
      <p:sp>
        <p:nvSpPr>
          <p:cNvPr id="2" name="section">
            <a:extLst xmlns:a="http://schemas.openxmlformats.org/drawingml/2006/main">
              <a:ext uri="{FF2B5EF4-FFF2-40B4-BE49-F238E27FC236}">
                <a16:creationId xmlns:a16="http://schemas.microsoft.com/office/drawing/2014/main" id="{DB5BCD6C-A7F6-439A-A43B-A530DFBF692D}"/>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RESULT PLAYBACK</a:t>
            </a:r>
          </a:p>
        </p:txBody>
      </p:sp>
      <p:sp>
        <p:nvSpPr>
          <p:cNvPr id="3" name="footer">
            <a:extLst xmlns:a="http://schemas.openxmlformats.org/drawingml/2006/main">
              <a:ext uri="{FF2B5EF4-FFF2-40B4-BE49-F238E27FC236}">
                <a16:creationId xmlns:a16="http://schemas.microsoft.com/office/drawing/2014/main" id="{C1656C8F-3CD9-48F7-9D4B-2AF84B814969}"/>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26 / 49</a:t>
            </a:r>
          </a:p>
        </p:txBody>
      </p:sp>
      <p:sp>
        <p:nvSpPr>
          <p:cNvPr id="4" name="play-label">
            <a:extLst xmlns:a="http://schemas.openxmlformats.org/drawingml/2006/main">
              <a:ext uri="{FF2B5EF4-FFF2-40B4-BE49-F238E27FC236}">
                <a16:creationId xmlns:a16="http://schemas.microsoft.com/office/drawing/2014/main" id="{3C6B0B6E-F52B-45BF-BB1F-29676B5C71FB}"/>
              </a:ext>
            </a:extLst>
          </p:cNvPr>
          <p:cNvSpPr>
            <a:spLocks xmlns:a="http://schemas.openxmlformats.org/drawingml/2006/main" noGrp="1"/>
          </p:cNvSpPr>
          <p:nvPr/>
        </p:nvSpPr>
        <p:spPr>
          <a:xfrm xmlns:a="http://schemas.openxmlformats.org/drawingml/2006/main">
            <a:off x="8829675" y="1200150"/>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PLAY: TAB, THEN ENTER</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199b7b2eab124ba8"/>
          <a:stretch xmlns:a="http://schemas.openxmlformats.org/drawingml/2006/main"/>
        </p:blipFill>
        <p:spPr>
          <a:xfrm xmlns:a="http://schemas.openxmlformats.org/drawingml/2006/main">
            <a:off x="2370667" y="1533525"/>
            <a:ext cx="7450667" cy="4191000"/>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DB2EA5B6-8A0B-4116-A870-574B0857F20F}"/>
              </a:ext>
            </a:extLst>
          </p:cNvPr>
          <p:cNvSpPr>
            <a:spLocks xmlns:a="http://schemas.openxmlformats.org/drawingml/2006/main" noGrp="1"/>
          </p:cNvSpPr>
          <p:nvPr/>
        </p:nvSpPr>
        <p:spPr>
          <a:xfrm xmlns:a="http://schemas.openxmlformats.org/drawingml/2006/main">
            <a:off x="685800" y="58293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06579"/>
                </a:solidFill>
                <a:latin typeface="Arial"/>
                <a:ea typeface="Arial"/>
                <a:cs typeface="Arial"/>
              </a:defRPr>
            </a:pPr>
            <a:r>
              <a:rPr sz="1500" b="0">
                <a:solidFill>
                  <a:srgbClr val="506579"/>
                </a:solidFill>
                <a:latin typeface="Arial"/>
                <a:ea typeface="Arial"/>
                <a:cs typeface="Arial"/>
              </a:rPr>
              <a:t>Play with Tab, then Enter. Numerical playback only; all displayed quantities come from the frozen trace.</a:t>
            </a:r>
          </a:p>
        </p:txBody>
      </p:sp>
    </p:spTree>
    <p:extLst>
      <p:ext uri="{BB962C8B-B14F-4D97-AF65-F5344CB8AC3E}">
        <p14:creationId xmlns:p14="http://schemas.microsoft.com/office/powerpoint/2010/main" val="1791539858"/>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E8B0A3B4-D01A-4EE5-A7A9-7D1A9B7986C2}"/>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Combined fault: Hovorka domain flags</a:t>
            </a:r>
          </a:p>
        </p:txBody>
      </p:sp>
      <p:sp>
        <p:nvSpPr>
          <p:cNvPr id="2" name="section">
            <a:extLst xmlns:a="http://schemas.openxmlformats.org/drawingml/2006/main">
              <a:ext uri="{FF2B5EF4-FFF2-40B4-BE49-F238E27FC236}">
                <a16:creationId xmlns:a16="http://schemas.microsoft.com/office/drawing/2014/main" id="{12FB80D7-8BAE-4665-99E6-F4546F02F246}"/>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RESULT PLAYBACK</a:t>
            </a:r>
          </a:p>
        </p:txBody>
      </p:sp>
      <p:sp>
        <p:nvSpPr>
          <p:cNvPr id="3" name="footer">
            <a:extLst xmlns:a="http://schemas.openxmlformats.org/drawingml/2006/main">
              <a:ext uri="{FF2B5EF4-FFF2-40B4-BE49-F238E27FC236}">
                <a16:creationId xmlns:a16="http://schemas.microsoft.com/office/drawing/2014/main" id="{657F4745-6C23-454E-83D2-F18CDF02B7CC}"/>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27 / 49</a:t>
            </a:r>
          </a:p>
        </p:txBody>
      </p:sp>
      <p:sp>
        <p:nvSpPr>
          <p:cNvPr id="4" name="play-label">
            <a:extLst xmlns:a="http://schemas.openxmlformats.org/drawingml/2006/main">
              <a:ext uri="{FF2B5EF4-FFF2-40B4-BE49-F238E27FC236}">
                <a16:creationId xmlns:a16="http://schemas.microsoft.com/office/drawing/2014/main" id="{C83ACCE6-FA27-42E4-8CA1-4DDC4D2D7184}"/>
              </a:ext>
            </a:extLst>
          </p:cNvPr>
          <p:cNvSpPr>
            <a:spLocks xmlns:a="http://schemas.openxmlformats.org/drawingml/2006/main" noGrp="1"/>
          </p:cNvSpPr>
          <p:nvPr/>
        </p:nvSpPr>
        <p:spPr>
          <a:xfrm xmlns:a="http://schemas.openxmlformats.org/drawingml/2006/main">
            <a:off x="8829675" y="1200150"/>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PLAY: TAB, THEN ENTER</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e093d29b7a5242e3"/>
          <a:stretch xmlns:a="http://schemas.openxmlformats.org/drawingml/2006/main"/>
        </p:blipFill>
        <p:spPr>
          <a:xfrm xmlns:a="http://schemas.openxmlformats.org/drawingml/2006/main">
            <a:off x="2370667" y="1533525"/>
            <a:ext cx="7450667" cy="4191000"/>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DE8C0359-C0EC-4C6F-977D-42D834A6B125}"/>
              </a:ext>
            </a:extLst>
          </p:cNvPr>
          <p:cNvSpPr>
            <a:spLocks xmlns:a="http://schemas.openxmlformats.org/drawingml/2006/main" noGrp="1"/>
          </p:cNvSpPr>
          <p:nvPr/>
        </p:nvSpPr>
        <p:spPr>
          <a:xfrm xmlns:a="http://schemas.openxmlformats.org/drawingml/2006/main">
            <a:off x="685800" y="58293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06579"/>
                </a:solidFill>
                <a:latin typeface="Arial"/>
                <a:ea typeface="Arial"/>
                <a:cs typeface="Arial"/>
              </a:defRPr>
            </a:pPr>
            <a:r>
              <a:rPr sz="1500" b="0">
                <a:solidFill>
                  <a:srgbClr val="506579"/>
                </a:solidFill>
                <a:latin typeface="Arial"/>
                <a:ea typeface="Arial"/>
                <a:cs typeface="Arial"/>
              </a:rPr>
              <a:t>Play with Tab, then Enter. Numerical playback only; all displayed quantities come from the frozen trace.</a:t>
            </a:r>
          </a:p>
        </p:txBody>
      </p:sp>
    </p:spTree>
    <p:extLst>
      <p:ext uri="{BB962C8B-B14F-4D97-AF65-F5344CB8AC3E}">
        <p14:creationId xmlns:p14="http://schemas.microsoft.com/office/powerpoint/2010/main" val="437594787"/>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320729A0-65A4-40CE-AAFC-4FE12F0EC7AD}"/>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The proposed saline twin</a:t>
            </a:r>
          </a:p>
        </p:txBody>
      </p:sp>
      <p:sp>
        <p:nvSpPr>
          <p:cNvPr id="2" name="section">
            <a:extLst xmlns:a="http://schemas.openxmlformats.org/drawingml/2006/main">
              <a:ext uri="{FF2B5EF4-FFF2-40B4-BE49-F238E27FC236}">
                <a16:creationId xmlns:a16="http://schemas.microsoft.com/office/drawing/2014/main" id="{0E67DFDF-AF27-413A-90DC-A6267AD0BF37}"/>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RIG AND MEASUREMENT</a:t>
            </a:r>
          </a:p>
        </p:txBody>
      </p:sp>
      <p:sp>
        <p:nvSpPr>
          <p:cNvPr id="3" name="footer">
            <a:extLst xmlns:a="http://schemas.openxmlformats.org/drawingml/2006/main">
              <a:ext uri="{FF2B5EF4-FFF2-40B4-BE49-F238E27FC236}">
                <a16:creationId xmlns:a16="http://schemas.microsoft.com/office/drawing/2014/main" id="{D00F415A-E3FB-43AC-A771-4C438D3A9CAD}"/>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CONCEPTUAL RIG   |   28 / 49</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42fd2db3a4994efa"/>
          <a:stretch xmlns:a="http://schemas.openxmlformats.org/drawingml/2006/main"/>
        </p:blipFill>
        <p:spPr>
          <a:xfrm xmlns:a="http://schemas.openxmlformats.org/drawingml/2006/main">
            <a:off x="2345267" y="1581150"/>
            <a:ext cx="7501467" cy="4219575"/>
          </a:xfrm>
          <a:prstGeom xmlns:a="http://schemas.openxmlformats.org/drawingml/2006/main" prst="rect">
            <a:avLst/>
          </a:prstGeom>
        </p:spPr>
      </p:pic>
      <p:sp>
        <p:nvSpPr>
          <p:cNvPr id="5" name="caption">
            <a:extLst xmlns:a="http://schemas.openxmlformats.org/drawingml/2006/main">
              <a:ext uri="{FF2B5EF4-FFF2-40B4-BE49-F238E27FC236}">
                <a16:creationId xmlns:a16="http://schemas.microsoft.com/office/drawing/2014/main" id="{C0397D34-BB35-49E5-A0B9-575225231A25}"/>
              </a:ext>
            </a:extLst>
          </p:cNvPr>
          <p:cNvSpPr>
            <a:spLocks xmlns:a="http://schemas.openxmlformats.org/drawingml/2006/main" noGrp="1"/>
          </p:cNvSpPr>
          <p:nvPr/>
        </p:nvSpPr>
        <p:spPr>
          <a:xfrm xmlns:a="http://schemas.openxmlformats.org/drawingml/2006/main">
            <a:off x="685800" y="5819775"/>
            <a:ext cx="108204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579"/>
                </a:solidFill>
                <a:latin typeface="Arial"/>
                <a:ea typeface="Arial"/>
                <a:cs typeface="Arial"/>
              </a:defRPr>
            </a:pPr>
            <a:r>
              <a:rPr sz="1350" b="0">
                <a:solidFill>
                  <a:srgbClr val="506579"/>
                </a:solidFill>
                <a:latin typeface="Arial"/>
                <a:ea typeface="Arial"/>
                <a:cs typeface="Arial"/>
              </a:rPr>
              <a:t>Concept geometry for explanation. Every physical performance estimate is pending.</a:t>
            </a:r>
          </a:p>
        </p:txBody>
      </p:sp>
      <p:sp>
        <p:nvSpPr>
          <p:cNvPr id="6" name="pending">
            <a:extLst xmlns:a="http://schemas.openxmlformats.org/drawingml/2006/main">
              <a:ext uri="{FF2B5EF4-FFF2-40B4-BE49-F238E27FC236}">
                <a16:creationId xmlns:a16="http://schemas.microsoft.com/office/drawing/2014/main" id="{BEA1BB9E-9452-4543-8A89-3DABF1E393BB}"/>
              </a:ext>
            </a:extLst>
          </p:cNvPr>
          <p:cNvSpPr>
            <a:spLocks xmlns:a="http://schemas.openxmlformats.org/drawingml/2006/main" noGrp="1"/>
          </p:cNvSpPr>
          <p:nvPr/>
        </p:nvSpPr>
        <p:spPr>
          <a:xfrm xmlns:a="http://schemas.openxmlformats.org/drawingml/2006/main">
            <a:off x="609600" y="6153150"/>
            <a:ext cx="10972800" cy="285750"/>
          </a:xfrm>
          <a:prstGeom xmlns:a="http://schemas.openxmlformats.org/drawingml/2006/main" prst="rect">
            <a:avLst/>
          </a:prstGeom>
          <a:solidFill xmlns:a="http://schemas.openxmlformats.org/drawingml/2006/main">
            <a:srgbClr val="FFF2CC"/>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6B4D00"/>
                </a:solidFill>
                <a:latin typeface="Arial"/>
                <a:ea typeface="Arial"/>
                <a:cs typeface="Arial"/>
              </a:defRPr>
            </a:pPr>
            <a:r>
              <a:rPr sz="1350" b="1">
                <a:solidFill>
                  <a:srgbClr val="6B4D00"/>
                </a:solidFill>
                <a:latin typeface="Arial"/>
                <a:ea typeface="Arial"/>
                <a:cs typeface="Arial"/>
              </a:rPr>
              <a:t>IIT Patna measurement pending</a:t>
            </a:r>
          </a:p>
        </p:txBody>
      </p:sp>
    </p:spTree>
    <p:extLst>
      <p:ext uri="{BB962C8B-B14F-4D97-AF65-F5344CB8AC3E}">
        <p14:creationId xmlns:p14="http://schemas.microsoft.com/office/powerpoint/2010/main" val="227120634"/>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D35322DF-22D7-4A52-9D97-9CC2A9FDFC89}"/>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The complete rig explanation</a:t>
            </a:r>
          </a:p>
        </p:txBody>
      </p:sp>
      <p:sp>
        <p:nvSpPr>
          <p:cNvPr id="2" name="section">
            <a:extLst xmlns:a="http://schemas.openxmlformats.org/drawingml/2006/main">
              <a:ext uri="{FF2B5EF4-FFF2-40B4-BE49-F238E27FC236}">
                <a16:creationId xmlns:a16="http://schemas.microsoft.com/office/drawing/2014/main" id="{983F6405-418B-43BD-9C0C-987718DF9939}"/>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RIG AND MEASUREMENT</a:t>
            </a:r>
          </a:p>
        </p:txBody>
      </p:sp>
      <p:sp>
        <p:nvSpPr>
          <p:cNvPr id="3" name="footer">
            <a:extLst xmlns:a="http://schemas.openxmlformats.org/drawingml/2006/main">
              <a:ext uri="{FF2B5EF4-FFF2-40B4-BE49-F238E27FC236}">
                <a16:creationId xmlns:a16="http://schemas.microsoft.com/office/drawing/2014/main" id="{A684A6EA-15C2-4F8A-8733-98D70C943E93}"/>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CONCEPTUAL RIG   |   29 / 49</a:t>
            </a:r>
          </a:p>
        </p:txBody>
      </p:sp>
      <p:sp>
        <p:nvSpPr>
          <p:cNvPr id="4" name="play-label">
            <a:extLst xmlns:a="http://schemas.openxmlformats.org/drawingml/2006/main">
              <a:ext uri="{FF2B5EF4-FFF2-40B4-BE49-F238E27FC236}">
                <a16:creationId xmlns:a16="http://schemas.microsoft.com/office/drawing/2014/main" id="{F4CE3668-7766-4EA0-9046-B60D02FBC009}"/>
              </a:ext>
            </a:extLst>
          </p:cNvPr>
          <p:cNvSpPr>
            <a:spLocks xmlns:a="http://schemas.openxmlformats.org/drawingml/2006/main" noGrp="1"/>
          </p:cNvSpPr>
          <p:nvPr/>
        </p:nvSpPr>
        <p:spPr>
          <a:xfrm xmlns:a="http://schemas.openxmlformats.org/drawingml/2006/main">
            <a:off x="8829675" y="1200150"/>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PLAY: TAB, THEN ENTER</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71c70d4dbd6a4583"/>
          <a:stretch xmlns:a="http://schemas.openxmlformats.org/drawingml/2006/main"/>
        </p:blipFill>
        <p:spPr>
          <a:xfrm xmlns:a="http://schemas.openxmlformats.org/drawingml/2006/main">
            <a:off x="2370667" y="1533525"/>
            <a:ext cx="7450667" cy="4191000"/>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742D375E-09E9-4AAD-B124-C4880BDC3308}"/>
              </a:ext>
            </a:extLst>
          </p:cNvPr>
          <p:cNvSpPr>
            <a:spLocks xmlns:a="http://schemas.openxmlformats.org/drawingml/2006/main" noGrp="1"/>
          </p:cNvSpPr>
          <p:nvPr/>
        </p:nvSpPr>
        <p:spPr>
          <a:xfrm xmlns:a="http://schemas.openxmlformats.org/drawingml/2006/main">
            <a:off x="685800" y="582930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579"/>
                </a:solidFill>
                <a:latin typeface="Arial"/>
                <a:ea typeface="Arial"/>
                <a:cs typeface="Arial"/>
              </a:defRPr>
            </a:pPr>
            <a:r>
              <a:rPr sz="1350" b="0">
                <a:solidFill>
                  <a:srgbClr val="506579"/>
                </a:solidFill>
                <a:latin typeface="Arial"/>
                <a:ea typeface="Arial"/>
                <a:cs typeface="Arial"/>
              </a:rPr>
              <a:t>8-minute narrated tour: components, evidence paths, objective measurement and recovery.</a:t>
            </a:r>
          </a:p>
        </p:txBody>
      </p:sp>
      <p:sp>
        <p:nvSpPr>
          <p:cNvPr id="7" name="pending">
            <a:extLst xmlns:a="http://schemas.openxmlformats.org/drawingml/2006/main">
              <a:ext uri="{FF2B5EF4-FFF2-40B4-BE49-F238E27FC236}">
                <a16:creationId xmlns:a16="http://schemas.microsoft.com/office/drawing/2014/main" id="{E24173A9-341F-4385-B32F-8C4888740EFF}"/>
              </a:ext>
            </a:extLst>
          </p:cNvPr>
          <p:cNvSpPr>
            <a:spLocks xmlns:a="http://schemas.openxmlformats.org/drawingml/2006/main" noGrp="1"/>
          </p:cNvSpPr>
          <p:nvPr/>
        </p:nvSpPr>
        <p:spPr>
          <a:xfrm xmlns:a="http://schemas.openxmlformats.org/drawingml/2006/main">
            <a:off x="609600" y="6153150"/>
            <a:ext cx="10972800" cy="285750"/>
          </a:xfrm>
          <a:prstGeom xmlns:a="http://schemas.openxmlformats.org/drawingml/2006/main" prst="rect">
            <a:avLst/>
          </a:prstGeom>
          <a:solidFill xmlns:a="http://schemas.openxmlformats.org/drawingml/2006/main">
            <a:srgbClr val="FFF2CC"/>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6B4D00"/>
                </a:solidFill>
                <a:latin typeface="Arial"/>
                <a:ea typeface="Arial"/>
                <a:cs typeface="Arial"/>
              </a:defRPr>
            </a:pPr>
            <a:r>
              <a:rPr sz="1350" b="1">
                <a:solidFill>
                  <a:srgbClr val="6B4D00"/>
                </a:solidFill>
                <a:latin typeface="Arial"/>
                <a:ea typeface="Arial"/>
                <a:cs typeface="Arial"/>
              </a:rPr>
              <a:t>IIT Patna measurement pending</a:t>
            </a:r>
          </a:p>
        </p:txBody>
      </p:sp>
    </p:spTree>
    <p:extLst>
      <p:ext uri="{BB962C8B-B14F-4D97-AF65-F5344CB8AC3E}">
        <p14:creationId xmlns:p14="http://schemas.microsoft.com/office/powerpoint/2010/main" val="552953198"/>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D872C9F3-A040-4A38-8372-383E2FA3D02F}"/>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Drive mechanism</a:t>
            </a:r>
          </a:p>
        </p:txBody>
      </p:sp>
      <p:sp>
        <p:nvSpPr>
          <p:cNvPr id="2" name="section">
            <a:extLst xmlns:a="http://schemas.openxmlformats.org/drawingml/2006/main">
              <a:ext uri="{FF2B5EF4-FFF2-40B4-BE49-F238E27FC236}">
                <a16:creationId xmlns:a16="http://schemas.microsoft.com/office/drawing/2014/main" id="{1AE29A5C-DCA6-4014-BEAE-443E323FE416}"/>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RIG AND MEASUREMENT</a:t>
            </a:r>
          </a:p>
        </p:txBody>
      </p:sp>
      <p:sp>
        <p:nvSpPr>
          <p:cNvPr id="3" name="footer">
            <a:extLst xmlns:a="http://schemas.openxmlformats.org/drawingml/2006/main">
              <a:ext uri="{FF2B5EF4-FFF2-40B4-BE49-F238E27FC236}">
                <a16:creationId xmlns:a16="http://schemas.microsoft.com/office/drawing/2014/main" id="{BBF1E8B0-D275-4486-9041-3FA911CB43C2}"/>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CONCEPTUAL RIG   |   30 / 49</a:t>
            </a:r>
          </a:p>
        </p:txBody>
      </p:sp>
      <p:sp>
        <p:nvSpPr>
          <p:cNvPr id="4" name="play-label">
            <a:extLst xmlns:a="http://schemas.openxmlformats.org/drawingml/2006/main">
              <a:ext uri="{FF2B5EF4-FFF2-40B4-BE49-F238E27FC236}">
                <a16:creationId xmlns:a16="http://schemas.microsoft.com/office/drawing/2014/main" id="{69847EB1-204F-4980-B348-C9F62B1F17E1}"/>
              </a:ext>
            </a:extLst>
          </p:cNvPr>
          <p:cNvSpPr>
            <a:spLocks xmlns:a="http://schemas.openxmlformats.org/drawingml/2006/main" noGrp="1"/>
          </p:cNvSpPr>
          <p:nvPr/>
        </p:nvSpPr>
        <p:spPr>
          <a:xfrm xmlns:a="http://schemas.openxmlformats.org/drawingml/2006/main">
            <a:off x="8829675" y="1200150"/>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PLAY: TAB, THEN ENTER</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0bcc8cb8e0d14627"/>
          <a:stretch xmlns:a="http://schemas.openxmlformats.org/drawingml/2006/main"/>
        </p:blipFill>
        <p:spPr>
          <a:xfrm xmlns:a="http://schemas.openxmlformats.org/drawingml/2006/main">
            <a:off x="2370667" y="1533525"/>
            <a:ext cx="7450667" cy="4191000"/>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8F65A8D4-612D-4D4F-8FEA-17B6C08DC610}"/>
              </a:ext>
            </a:extLst>
          </p:cNvPr>
          <p:cNvSpPr>
            <a:spLocks xmlns:a="http://schemas.openxmlformats.org/drawingml/2006/main" noGrp="1"/>
          </p:cNvSpPr>
          <p:nvPr/>
        </p:nvSpPr>
        <p:spPr>
          <a:xfrm xmlns:a="http://schemas.openxmlformats.org/drawingml/2006/main">
            <a:off x="685800" y="582930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579"/>
                </a:solidFill>
                <a:latin typeface="Arial"/>
                <a:ea typeface="Arial"/>
                <a:cs typeface="Arial"/>
              </a:defRPr>
            </a:pPr>
            <a:r>
              <a:rPr sz="1350" b="0">
                <a:solidFill>
                  <a:srgbClr val="506579"/>
                </a:solidFill>
                <a:latin typeface="Arial"/>
                <a:ea typeface="Arial"/>
                <a:cs typeface="Arial"/>
              </a:rPr>
              <a:t>Motor, coupling, lead screw, carriage and rail: verify actual travel and repeatability.</a:t>
            </a:r>
          </a:p>
        </p:txBody>
      </p:sp>
      <p:sp>
        <p:nvSpPr>
          <p:cNvPr id="7" name="pending">
            <a:extLst xmlns:a="http://schemas.openxmlformats.org/drawingml/2006/main">
              <a:ext uri="{FF2B5EF4-FFF2-40B4-BE49-F238E27FC236}">
                <a16:creationId xmlns:a16="http://schemas.microsoft.com/office/drawing/2014/main" id="{2A01F058-1E85-4199-853D-5014DEBEB8AC}"/>
              </a:ext>
            </a:extLst>
          </p:cNvPr>
          <p:cNvSpPr>
            <a:spLocks xmlns:a="http://schemas.openxmlformats.org/drawingml/2006/main" noGrp="1"/>
          </p:cNvSpPr>
          <p:nvPr/>
        </p:nvSpPr>
        <p:spPr>
          <a:xfrm xmlns:a="http://schemas.openxmlformats.org/drawingml/2006/main">
            <a:off x="609600" y="6153150"/>
            <a:ext cx="10972800" cy="285750"/>
          </a:xfrm>
          <a:prstGeom xmlns:a="http://schemas.openxmlformats.org/drawingml/2006/main" prst="rect">
            <a:avLst/>
          </a:prstGeom>
          <a:solidFill xmlns:a="http://schemas.openxmlformats.org/drawingml/2006/main">
            <a:srgbClr val="FFF2CC"/>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6B4D00"/>
                </a:solidFill>
                <a:latin typeface="Arial"/>
                <a:ea typeface="Arial"/>
                <a:cs typeface="Arial"/>
              </a:defRPr>
            </a:pPr>
            <a:r>
              <a:rPr sz="1350" b="1">
                <a:solidFill>
                  <a:srgbClr val="6B4D00"/>
                </a:solidFill>
                <a:latin typeface="Arial"/>
                <a:ea typeface="Arial"/>
                <a:cs typeface="Arial"/>
              </a:rPr>
              <a:t>IIT Patna measurement pending</a:t>
            </a:r>
          </a:p>
        </p:txBody>
      </p:sp>
    </p:spTree>
    <p:extLst>
      <p:ext uri="{BB962C8B-B14F-4D97-AF65-F5344CB8AC3E}">
        <p14:creationId xmlns:p14="http://schemas.microsoft.com/office/powerpoint/2010/main" val="3386970"/>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FDD77933-487B-4664-8907-A27C668943E6}"/>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Mass measurement</a:t>
            </a:r>
          </a:p>
        </p:txBody>
      </p:sp>
      <p:sp>
        <p:nvSpPr>
          <p:cNvPr id="2" name="section">
            <a:extLst xmlns:a="http://schemas.openxmlformats.org/drawingml/2006/main">
              <a:ext uri="{FF2B5EF4-FFF2-40B4-BE49-F238E27FC236}">
                <a16:creationId xmlns:a16="http://schemas.microsoft.com/office/drawing/2014/main" id="{A227D6DE-6542-4A9C-8B3F-659965FE0495}"/>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RIG AND MEASUREMENT</a:t>
            </a:r>
          </a:p>
        </p:txBody>
      </p:sp>
      <p:sp>
        <p:nvSpPr>
          <p:cNvPr id="3" name="footer">
            <a:extLst xmlns:a="http://schemas.openxmlformats.org/drawingml/2006/main">
              <a:ext uri="{FF2B5EF4-FFF2-40B4-BE49-F238E27FC236}">
                <a16:creationId xmlns:a16="http://schemas.microsoft.com/office/drawing/2014/main" id="{C4490CAB-ED29-42D6-9806-9F2E5E503437}"/>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CONCEPTUAL RIG   |   31 / 49</a:t>
            </a:r>
          </a:p>
        </p:txBody>
      </p:sp>
      <p:sp>
        <p:nvSpPr>
          <p:cNvPr id="4" name="play-label">
            <a:extLst xmlns:a="http://schemas.openxmlformats.org/drawingml/2006/main">
              <a:ext uri="{FF2B5EF4-FFF2-40B4-BE49-F238E27FC236}">
                <a16:creationId xmlns:a16="http://schemas.microsoft.com/office/drawing/2014/main" id="{B728A74C-4F41-4312-BA64-AB1F8A7FA980}"/>
              </a:ext>
            </a:extLst>
          </p:cNvPr>
          <p:cNvSpPr>
            <a:spLocks xmlns:a="http://schemas.openxmlformats.org/drawingml/2006/main" noGrp="1"/>
          </p:cNvSpPr>
          <p:nvPr/>
        </p:nvSpPr>
        <p:spPr>
          <a:xfrm xmlns:a="http://schemas.openxmlformats.org/drawingml/2006/main">
            <a:off x="8829675" y="1200150"/>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PLAY: TAB, THEN ENTER</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a0c06cf31108442b"/>
          <a:stretch xmlns:a="http://schemas.openxmlformats.org/drawingml/2006/main"/>
        </p:blipFill>
        <p:spPr>
          <a:xfrm xmlns:a="http://schemas.openxmlformats.org/drawingml/2006/main">
            <a:off x="2370667" y="1533525"/>
            <a:ext cx="7450667" cy="4191000"/>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6452425F-E0F9-46E4-9363-F2A90E68F81F}"/>
              </a:ext>
            </a:extLst>
          </p:cNvPr>
          <p:cNvSpPr>
            <a:spLocks xmlns:a="http://schemas.openxmlformats.org/drawingml/2006/main" noGrp="1"/>
          </p:cNvSpPr>
          <p:nvPr/>
        </p:nvSpPr>
        <p:spPr>
          <a:xfrm xmlns:a="http://schemas.openxmlformats.org/drawingml/2006/main">
            <a:off x="685800" y="582930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579"/>
                </a:solidFill>
                <a:latin typeface="Arial"/>
                <a:ea typeface="Arial"/>
                <a:cs typeface="Arial"/>
              </a:defRPr>
            </a:pPr>
            <a:r>
              <a:rPr sz="1350" b="0">
                <a:solidFill>
                  <a:srgbClr val="506579"/>
                </a:solidFill>
                <a:latin typeface="Arial"/>
                <a:ea typeface="Arial"/>
                <a:cs typeface="Arial"/>
              </a:rPr>
              <a:t>Receiver, load cell and independent reference: define the outlet and retain signed readings.</a:t>
            </a:r>
          </a:p>
        </p:txBody>
      </p:sp>
      <p:sp>
        <p:nvSpPr>
          <p:cNvPr id="7" name="pending">
            <a:extLst xmlns:a="http://schemas.openxmlformats.org/drawingml/2006/main">
              <a:ext uri="{FF2B5EF4-FFF2-40B4-BE49-F238E27FC236}">
                <a16:creationId xmlns:a16="http://schemas.microsoft.com/office/drawing/2014/main" id="{0014D7C0-600B-4BCF-BE9B-5EFEF70622F4}"/>
              </a:ext>
            </a:extLst>
          </p:cNvPr>
          <p:cNvSpPr>
            <a:spLocks xmlns:a="http://schemas.openxmlformats.org/drawingml/2006/main" noGrp="1"/>
          </p:cNvSpPr>
          <p:nvPr/>
        </p:nvSpPr>
        <p:spPr>
          <a:xfrm xmlns:a="http://schemas.openxmlformats.org/drawingml/2006/main">
            <a:off x="609600" y="6153150"/>
            <a:ext cx="10972800" cy="285750"/>
          </a:xfrm>
          <a:prstGeom xmlns:a="http://schemas.openxmlformats.org/drawingml/2006/main" prst="rect">
            <a:avLst/>
          </a:prstGeom>
          <a:solidFill xmlns:a="http://schemas.openxmlformats.org/drawingml/2006/main">
            <a:srgbClr val="FFF2CC"/>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6B4D00"/>
                </a:solidFill>
                <a:latin typeface="Arial"/>
                <a:ea typeface="Arial"/>
                <a:cs typeface="Arial"/>
              </a:defRPr>
            </a:pPr>
            <a:r>
              <a:rPr sz="1350" b="1">
                <a:solidFill>
                  <a:srgbClr val="6B4D00"/>
                </a:solidFill>
                <a:latin typeface="Arial"/>
                <a:ea typeface="Arial"/>
                <a:cs typeface="Arial"/>
              </a:rPr>
              <a:t>IIT Patna measurement pending</a:t>
            </a:r>
          </a:p>
        </p:txBody>
      </p:sp>
    </p:spTree>
    <p:extLst>
      <p:ext uri="{BB962C8B-B14F-4D97-AF65-F5344CB8AC3E}">
        <p14:creationId xmlns:p14="http://schemas.microsoft.com/office/powerpoint/2010/main" val="1249247956"/>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620235FF-F168-476D-A5D8-242BA08D3C65}"/>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Independent recording and clocks</a:t>
            </a:r>
          </a:p>
        </p:txBody>
      </p:sp>
      <p:sp>
        <p:nvSpPr>
          <p:cNvPr id="2" name="section">
            <a:extLst xmlns:a="http://schemas.openxmlformats.org/drawingml/2006/main">
              <a:ext uri="{FF2B5EF4-FFF2-40B4-BE49-F238E27FC236}">
                <a16:creationId xmlns:a16="http://schemas.microsoft.com/office/drawing/2014/main" id="{DBD7CB51-6699-4F85-BFFC-773982D8C20C}"/>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RIG AND MEASUREMENT</a:t>
            </a:r>
          </a:p>
        </p:txBody>
      </p:sp>
      <p:sp>
        <p:nvSpPr>
          <p:cNvPr id="3" name="footer">
            <a:extLst xmlns:a="http://schemas.openxmlformats.org/drawingml/2006/main">
              <a:ext uri="{FF2B5EF4-FFF2-40B4-BE49-F238E27FC236}">
                <a16:creationId xmlns:a16="http://schemas.microsoft.com/office/drawing/2014/main" id="{46A25C95-5055-4056-A332-FA08451E005B}"/>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CONCEPTUAL RIG   |   32 / 49</a:t>
            </a:r>
          </a:p>
        </p:txBody>
      </p:sp>
      <p:sp>
        <p:nvSpPr>
          <p:cNvPr id="4" name="play-label">
            <a:extLst xmlns:a="http://schemas.openxmlformats.org/drawingml/2006/main">
              <a:ext uri="{FF2B5EF4-FFF2-40B4-BE49-F238E27FC236}">
                <a16:creationId xmlns:a16="http://schemas.microsoft.com/office/drawing/2014/main" id="{4FFD389D-72D7-4056-981D-FAF0296CE7E7}"/>
              </a:ext>
            </a:extLst>
          </p:cNvPr>
          <p:cNvSpPr>
            <a:spLocks xmlns:a="http://schemas.openxmlformats.org/drawingml/2006/main" noGrp="1"/>
          </p:cNvSpPr>
          <p:nvPr/>
        </p:nvSpPr>
        <p:spPr>
          <a:xfrm xmlns:a="http://schemas.openxmlformats.org/drawingml/2006/main">
            <a:off x="8829675" y="1200150"/>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PLAY: TAB, THEN ENTER</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17ca61751eed4d38"/>
          <a:stretch xmlns:a="http://schemas.openxmlformats.org/drawingml/2006/main"/>
        </p:blipFill>
        <p:spPr>
          <a:xfrm xmlns:a="http://schemas.openxmlformats.org/drawingml/2006/main">
            <a:off x="2370667" y="1533525"/>
            <a:ext cx="7450667" cy="4191000"/>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0F735E43-62AC-4635-9A18-718CAF171CE3}"/>
              </a:ext>
            </a:extLst>
          </p:cNvPr>
          <p:cNvSpPr>
            <a:spLocks xmlns:a="http://schemas.openxmlformats.org/drawingml/2006/main" noGrp="1"/>
          </p:cNvSpPr>
          <p:nvPr/>
        </p:nvSpPr>
        <p:spPr>
          <a:xfrm xmlns:a="http://schemas.openxmlformats.org/drawingml/2006/main">
            <a:off x="685800" y="582930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579"/>
                </a:solidFill>
                <a:latin typeface="Arial"/>
                <a:ea typeface="Arial"/>
                <a:cs typeface="Arial"/>
              </a:defRPr>
            </a:pPr>
            <a:r>
              <a:rPr sz="1350" b="0">
                <a:solidFill>
                  <a:srgbClr val="506579"/>
                </a:solidFill>
                <a:latin typeface="Arial"/>
                <a:ea typeface="Arial"/>
                <a:cs typeface="Arial"/>
              </a:rPr>
              <a:t>Acquisition computer, camera and timing marker: align clocks with measured residual error.</a:t>
            </a:r>
          </a:p>
        </p:txBody>
      </p:sp>
      <p:sp>
        <p:nvSpPr>
          <p:cNvPr id="7" name="pending">
            <a:extLst xmlns:a="http://schemas.openxmlformats.org/drawingml/2006/main">
              <a:ext uri="{FF2B5EF4-FFF2-40B4-BE49-F238E27FC236}">
                <a16:creationId xmlns:a16="http://schemas.microsoft.com/office/drawing/2014/main" id="{6423AAE7-77D9-49C1-981C-A697AE452C3F}"/>
              </a:ext>
            </a:extLst>
          </p:cNvPr>
          <p:cNvSpPr>
            <a:spLocks xmlns:a="http://schemas.openxmlformats.org/drawingml/2006/main" noGrp="1"/>
          </p:cNvSpPr>
          <p:nvPr/>
        </p:nvSpPr>
        <p:spPr>
          <a:xfrm xmlns:a="http://schemas.openxmlformats.org/drawingml/2006/main">
            <a:off x="609600" y="6153150"/>
            <a:ext cx="10972800" cy="285750"/>
          </a:xfrm>
          <a:prstGeom xmlns:a="http://schemas.openxmlformats.org/drawingml/2006/main" prst="rect">
            <a:avLst/>
          </a:prstGeom>
          <a:solidFill xmlns:a="http://schemas.openxmlformats.org/drawingml/2006/main">
            <a:srgbClr val="FFF2CC"/>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6B4D00"/>
                </a:solidFill>
                <a:latin typeface="Arial"/>
                <a:ea typeface="Arial"/>
                <a:cs typeface="Arial"/>
              </a:defRPr>
            </a:pPr>
            <a:r>
              <a:rPr sz="1350" b="1">
                <a:solidFill>
                  <a:srgbClr val="6B4D00"/>
                </a:solidFill>
                <a:latin typeface="Arial"/>
                <a:ea typeface="Arial"/>
                <a:cs typeface="Arial"/>
              </a:rPr>
              <a:t>IIT Patna measurement pending</a:t>
            </a:r>
          </a:p>
        </p:txBody>
      </p:sp>
    </p:spTree>
    <p:extLst>
      <p:ext uri="{BB962C8B-B14F-4D97-AF65-F5344CB8AC3E}">
        <p14:creationId xmlns:p14="http://schemas.microsoft.com/office/powerpoint/2010/main" val="830232566"/>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7712481C-2A70-4EA9-9822-49F022380259}"/>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Local interruption</a:t>
            </a:r>
          </a:p>
        </p:txBody>
      </p:sp>
      <p:sp>
        <p:nvSpPr>
          <p:cNvPr id="2" name="section">
            <a:extLst xmlns:a="http://schemas.openxmlformats.org/drawingml/2006/main">
              <a:ext uri="{FF2B5EF4-FFF2-40B4-BE49-F238E27FC236}">
                <a16:creationId xmlns:a16="http://schemas.microsoft.com/office/drawing/2014/main" id="{C99DD82B-91FB-46F0-A1CD-113BA49F0077}"/>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RIG AND MEASUREMENT</a:t>
            </a:r>
          </a:p>
        </p:txBody>
      </p:sp>
      <p:sp>
        <p:nvSpPr>
          <p:cNvPr id="3" name="footer">
            <a:extLst xmlns:a="http://schemas.openxmlformats.org/drawingml/2006/main">
              <a:ext uri="{FF2B5EF4-FFF2-40B4-BE49-F238E27FC236}">
                <a16:creationId xmlns:a16="http://schemas.microsoft.com/office/drawing/2014/main" id="{3AA97555-5CB5-4BC4-BB1F-455B1B1AF05A}"/>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CONCEPTUAL RIG   |   33 / 49</a:t>
            </a:r>
          </a:p>
        </p:txBody>
      </p:sp>
      <p:sp>
        <p:nvSpPr>
          <p:cNvPr id="4" name="play-label">
            <a:extLst xmlns:a="http://schemas.openxmlformats.org/drawingml/2006/main">
              <a:ext uri="{FF2B5EF4-FFF2-40B4-BE49-F238E27FC236}">
                <a16:creationId xmlns:a16="http://schemas.microsoft.com/office/drawing/2014/main" id="{47F8E2BF-8DBF-4BFE-A4D1-97922F5D1CE9}"/>
              </a:ext>
            </a:extLst>
          </p:cNvPr>
          <p:cNvSpPr>
            <a:spLocks xmlns:a="http://schemas.openxmlformats.org/drawingml/2006/main" noGrp="1"/>
          </p:cNvSpPr>
          <p:nvPr/>
        </p:nvSpPr>
        <p:spPr>
          <a:xfrm xmlns:a="http://schemas.openxmlformats.org/drawingml/2006/main">
            <a:off x="8829675" y="1200150"/>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PLAY: TAB, THEN ENTER</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15ab940dab184815"/>
          <a:stretch xmlns:a="http://schemas.openxmlformats.org/drawingml/2006/main"/>
        </p:blipFill>
        <p:spPr>
          <a:xfrm xmlns:a="http://schemas.openxmlformats.org/drawingml/2006/main">
            <a:off x="2370667" y="1533525"/>
            <a:ext cx="7450667" cy="4191000"/>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6663BE1E-A3F4-4111-B3B3-47D64D79B573}"/>
              </a:ext>
            </a:extLst>
          </p:cNvPr>
          <p:cNvSpPr>
            <a:spLocks xmlns:a="http://schemas.openxmlformats.org/drawingml/2006/main" noGrp="1"/>
          </p:cNvSpPr>
          <p:nvPr/>
        </p:nvSpPr>
        <p:spPr>
          <a:xfrm xmlns:a="http://schemas.openxmlformats.org/drawingml/2006/main">
            <a:off x="685800" y="582930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579"/>
                </a:solidFill>
                <a:latin typeface="Arial"/>
                <a:ea typeface="Arial"/>
                <a:cs typeface="Arial"/>
              </a:defRPr>
            </a:pPr>
            <a:r>
              <a:rPr sz="1350" b="0">
                <a:solidFill>
                  <a:srgbClr val="506579"/>
                </a:solidFill>
                <a:latin typeface="Arial"/>
                <a:ea typeface="Arial"/>
                <a:cs typeface="Arial"/>
              </a:rPr>
              <a:t>Trip command, actuator disable and outlet cessation are separate observable events.</a:t>
            </a:r>
          </a:p>
        </p:txBody>
      </p:sp>
      <p:sp>
        <p:nvSpPr>
          <p:cNvPr id="7" name="pending">
            <a:extLst xmlns:a="http://schemas.openxmlformats.org/drawingml/2006/main">
              <a:ext uri="{FF2B5EF4-FFF2-40B4-BE49-F238E27FC236}">
                <a16:creationId xmlns:a16="http://schemas.microsoft.com/office/drawing/2014/main" id="{EAA00BAE-6D6E-4FA6-B7BD-F405698ACE98}"/>
              </a:ext>
            </a:extLst>
          </p:cNvPr>
          <p:cNvSpPr>
            <a:spLocks xmlns:a="http://schemas.openxmlformats.org/drawingml/2006/main" noGrp="1"/>
          </p:cNvSpPr>
          <p:nvPr/>
        </p:nvSpPr>
        <p:spPr>
          <a:xfrm xmlns:a="http://schemas.openxmlformats.org/drawingml/2006/main">
            <a:off x="609600" y="6153150"/>
            <a:ext cx="10972800" cy="285750"/>
          </a:xfrm>
          <a:prstGeom xmlns:a="http://schemas.openxmlformats.org/drawingml/2006/main" prst="rect">
            <a:avLst/>
          </a:prstGeom>
          <a:solidFill xmlns:a="http://schemas.openxmlformats.org/drawingml/2006/main">
            <a:srgbClr val="FFF2CC"/>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6B4D00"/>
                </a:solidFill>
                <a:latin typeface="Arial"/>
                <a:ea typeface="Arial"/>
                <a:cs typeface="Arial"/>
              </a:defRPr>
            </a:pPr>
            <a:r>
              <a:rPr sz="1350" b="1">
                <a:solidFill>
                  <a:srgbClr val="6B4D00"/>
                </a:solidFill>
                <a:latin typeface="Arial"/>
                <a:ea typeface="Arial"/>
                <a:cs typeface="Arial"/>
              </a:rPr>
              <a:t>IIT Patna measurement pending</a:t>
            </a:r>
          </a:p>
        </p:txBody>
      </p:sp>
    </p:spTree>
    <p:extLst>
      <p:ext uri="{BB962C8B-B14F-4D97-AF65-F5344CB8AC3E}">
        <p14:creationId xmlns:p14="http://schemas.microsoft.com/office/powerpoint/2010/main" val="2075397888"/>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itle">
            <a:extLst xmlns:a="http://schemas.openxmlformats.org/drawingml/2006/main">
              <a:ext uri="{FF2B5EF4-FFF2-40B4-BE49-F238E27FC236}">
                <a16:creationId xmlns:a16="http://schemas.microsoft.com/office/drawing/2014/main" id="{7EC660B2-355F-4DDA-BF4F-22566D2ECC3F}"/>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From indication to a measurement</a:t>
            </a:r>
          </a:p>
        </p:txBody>
      </p:sp>
      <p:sp>
        <p:nvSpPr>
          <p:cNvPr id="2" name="section">
            <a:extLst xmlns:a="http://schemas.openxmlformats.org/drawingml/2006/main">
              <a:ext uri="{FF2B5EF4-FFF2-40B4-BE49-F238E27FC236}">
                <a16:creationId xmlns:a16="http://schemas.microsoft.com/office/drawing/2014/main" id="{D10E945A-100F-4ACB-AB07-A0863D482ADB}"/>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RIG AND MEASUREMENT</a:t>
            </a:r>
          </a:p>
        </p:txBody>
      </p:sp>
      <p:sp>
        <p:nvSpPr>
          <p:cNvPr id="3" name="footer">
            <a:extLst xmlns:a="http://schemas.openxmlformats.org/drawingml/2006/main">
              <a:ext uri="{FF2B5EF4-FFF2-40B4-BE49-F238E27FC236}">
                <a16:creationId xmlns:a16="http://schemas.microsoft.com/office/drawing/2014/main" id="{FDE208C5-4918-4EE4-A9FC-39A383C49356}"/>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PHYSICAL PROTOCOL   |   34 / 49</a:t>
            </a:r>
          </a:p>
        </p:txBody>
      </p:sp>
      <p:sp>
        <p:nvSpPr>
          <p:cNvPr id="4" name="">
            <a:extLst xmlns:a="http://schemas.openxmlformats.org/drawingml/2006/main">
              <a:ext uri="{FF2B5EF4-FFF2-40B4-BE49-F238E27FC236}">
                <a16:creationId xmlns:a16="http://schemas.microsoft.com/office/drawing/2014/main" id="{009BAA1A-86A2-43DA-B8B7-54E7CBA97A5D}"/>
              </a:ext>
            </a:extLst>
          </p:cNvPr>
          <p:cNvSpPr>
            <a:spLocks xmlns:a="http://schemas.openxmlformats.org/drawingml/2006/main" noGrp="1"/>
          </p:cNvSpPr>
          <p:nvPr/>
        </p:nvSpPr>
        <p:spPr>
          <a:xfrm xmlns:a="http://schemas.openxmlformats.org/drawingml/2006/main">
            <a:off x="685800" y="2095500"/>
            <a:ext cx="3190875" cy="1143000"/>
          </a:xfrm>
          <a:prstGeom xmlns:a="http://schemas.openxmlformats.org/drawingml/2006/main" prst="rect">
            <a:avLst/>
          </a:prstGeom>
          <a:solidFill xmlns:a="http://schemas.openxmlformats.org/drawingml/2006/main">
            <a:srgbClr val="FFFFFF"/>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Raw balance indication</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signed mass + time</a:t>
            </a:r>
          </a:p>
        </p:txBody>
      </p:sp>
      <p:sp>
        <p:nvSpPr>
          <p:cNvPr id="5" name="">
            <a:extLst xmlns:a="http://schemas.openxmlformats.org/drawingml/2006/main">
              <a:ext uri="{FF2B5EF4-FFF2-40B4-BE49-F238E27FC236}">
                <a16:creationId xmlns:a16="http://schemas.microsoft.com/office/drawing/2014/main" id="{5242B1D9-759E-4489-980E-78E01CD48495}"/>
              </a:ext>
            </a:extLst>
          </p:cNvPr>
          <p:cNvSpPr>
            <a:spLocks xmlns:a="http://schemas.openxmlformats.org/drawingml/2006/main" noGrp="1"/>
          </p:cNvSpPr>
          <p:nvPr/>
        </p:nvSpPr>
        <p:spPr>
          <a:xfrm xmlns:a="http://schemas.openxmlformats.org/drawingml/2006/main">
            <a:off x="4495800" y="2095500"/>
            <a:ext cx="3190875" cy="1143000"/>
          </a:xfrm>
          <a:prstGeom xmlns:a="http://schemas.openxmlformats.org/drawingml/2006/main" prst="rect">
            <a:avLst/>
          </a:prstGeom>
          <a:solidFill xmlns:a="http://schemas.openxmlformats.org/drawingml/2006/main">
            <a:srgbClr val="FFFFFF"/>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Calibration evidence</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reference and traceability</a:t>
            </a:r>
          </a:p>
        </p:txBody>
      </p:sp>
      <p:sp>
        <p:nvSpPr>
          <p:cNvPr id="6" name="">
            <a:extLst xmlns:a="http://schemas.openxmlformats.org/drawingml/2006/main">
              <a:ext uri="{FF2B5EF4-FFF2-40B4-BE49-F238E27FC236}">
                <a16:creationId xmlns:a16="http://schemas.microsoft.com/office/drawing/2014/main" id="{D5B92682-2DEA-44D7-AA17-4B45D711C784}"/>
              </a:ext>
            </a:extLst>
          </p:cNvPr>
          <p:cNvSpPr>
            <a:spLocks xmlns:a="http://schemas.openxmlformats.org/drawingml/2006/main" noGrp="1"/>
          </p:cNvSpPr>
          <p:nvPr/>
        </p:nvSpPr>
        <p:spPr>
          <a:xfrm xmlns:a="http://schemas.openxmlformats.org/drawingml/2006/main">
            <a:off x="8305800" y="2095500"/>
            <a:ext cx="3190875" cy="1143000"/>
          </a:xfrm>
          <a:prstGeom xmlns:a="http://schemas.openxmlformats.org/drawingml/2006/main" prst="rect">
            <a:avLst/>
          </a:prstGeom>
          <a:solidFill xmlns:a="http://schemas.openxmlformats.org/drawingml/2006/main">
            <a:srgbClr val="FFFFFF"/>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Corrections</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drift, evaporation, buoyancy</a:t>
            </a:r>
          </a:p>
        </p:txBody>
      </p:sp>
      <p:sp>
        <p:nvSpPr>
          <p:cNvPr id="7" name="">
            <a:extLst xmlns:a="http://schemas.openxmlformats.org/drawingml/2006/main">
              <a:ext uri="{FF2B5EF4-FFF2-40B4-BE49-F238E27FC236}">
                <a16:creationId xmlns:a16="http://schemas.microsoft.com/office/drawing/2014/main" id="{7CAE71B2-18D8-482B-8CC0-DFEE7DDCA2ED}"/>
              </a:ext>
            </a:extLst>
          </p:cNvPr>
          <p:cNvSpPr>
            <a:spLocks xmlns:a="http://schemas.openxmlformats.org/drawingml/2006/main" noGrp="1"/>
          </p:cNvSpPr>
          <p:nvPr/>
        </p:nvSpPr>
        <p:spPr>
          <a:xfrm xmlns:a="http://schemas.openxmlformats.org/drawingml/2006/main">
            <a:off x="8305800" y="3762375"/>
            <a:ext cx="3190875" cy="1143000"/>
          </a:xfrm>
          <a:prstGeom xmlns:a="http://schemas.openxmlformats.org/drawingml/2006/main" prst="rect">
            <a:avLst/>
          </a:prstGeom>
          <a:solidFill xmlns:a="http://schemas.openxmlformats.org/drawingml/2006/main">
            <a:srgbClr val="FFFFFF"/>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Density and temperature</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fluid-specific evidence</a:t>
            </a:r>
          </a:p>
        </p:txBody>
      </p:sp>
      <p:sp>
        <p:nvSpPr>
          <p:cNvPr id="8" name="">
            <a:extLst xmlns:a="http://schemas.openxmlformats.org/drawingml/2006/main">
              <a:ext uri="{FF2B5EF4-FFF2-40B4-BE49-F238E27FC236}">
                <a16:creationId xmlns:a16="http://schemas.microsoft.com/office/drawing/2014/main" id="{3CD391BC-2267-4CD9-BFF7-BBFB166A93F6}"/>
              </a:ext>
            </a:extLst>
          </p:cNvPr>
          <p:cNvSpPr>
            <a:spLocks xmlns:a="http://schemas.openxmlformats.org/drawingml/2006/main" noGrp="1"/>
          </p:cNvSpPr>
          <p:nvPr/>
        </p:nvSpPr>
        <p:spPr>
          <a:xfrm xmlns:a="http://schemas.openxmlformats.org/drawingml/2006/main">
            <a:off x="4495800" y="3762375"/>
            <a:ext cx="3190875" cy="1143000"/>
          </a:xfrm>
          <a:prstGeom xmlns:a="http://schemas.openxmlformats.org/drawingml/2006/main" prst="rect">
            <a:avLst/>
          </a:prstGeom>
          <a:solidFill xmlns:a="http://schemas.openxmlformats.org/drawingml/2006/main">
            <a:srgbClr val="EEF4F6"/>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Interval volume or flow</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explicit averaging window</a:t>
            </a:r>
          </a:p>
        </p:txBody>
      </p:sp>
      <p:sp>
        <p:nvSpPr>
          <p:cNvPr id="9" name="">
            <a:extLst xmlns:a="http://schemas.openxmlformats.org/drawingml/2006/main">
              <a:ext uri="{FF2B5EF4-FFF2-40B4-BE49-F238E27FC236}">
                <a16:creationId xmlns:a16="http://schemas.microsoft.com/office/drawing/2014/main" id="{824635BD-05C9-4B3C-BD1B-F250363E10DA}"/>
              </a:ext>
            </a:extLst>
          </p:cNvPr>
          <p:cNvSpPr>
            <a:spLocks xmlns:a="http://schemas.openxmlformats.org/drawingml/2006/main" noGrp="1"/>
          </p:cNvSpPr>
          <p:nvPr/>
        </p:nvSpPr>
        <p:spPr>
          <a:xfrm xmlns:a="http://schemas.openxmlformats.org/drawingml/2006/main">
            <a:off x="685800" y="3762375"/>
            <a:ext cx="3190875" cy="1143000"/>
          </a:xfrm>
          <a:prstGeom xmlns:a="http://schemas.openxmlformats.org/drawingml/2006/main" prst="rect">
            <a:avLst/>
          </a:prstGeom>
          <a:solidFill xmlns:a="http://schemas.openxmlformats.org/drawingml/2006/main">
            <a:srgbClr val="EEF4F6"/>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Uncertainty statement</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method + coverage</a:t>
            </a:r>
          </a:p>
        </p:txBody>
      </p:sp>
      <p:cxnSp>
        <p:nvCxnSpPr>
          <p:cNvPr id="26" name=""/>
          <p:cNvCxnSpPr>
            <a:stCxn xmlns:a="http://schemas.openxmlformats.org/drawingml/2006/main" id="4" idx="3"/>
            <a:endCxn xmlns:a="http://schemas.openxmlformats.org/drawingml/2006/main" id="5" idx="1"/>
          </p:cNvCxnSpPr>
          <p:nvPr/>
        </p:nvCxnSpPr>
        <p:spPr>
          <a:xfrm xmlns:a="http://schemas.openxmlformats.org/drawingml/2006/main">
            <a:off x="3876675" y="2667000"/>
            <a:ext cx="619125" cy="0"/>
          </a:xfrm>
          <a:prstGeom xmlns:a="http://schemas.openxmlformats.org/drawingml/2006/main" prst="straightConnector1">
            <a:avLst/>
          </a:prstGeom>
          <a:ln xmlns:a="http://schemas.openxmlformats.org/drawingml/2006/main" w="19050">
            <a:solidFill>
              <a:srgbClr val="168B8D"/>
            </a:solidFill>
            <a:tailEnd type="arrow" w="med" len="med"/>
          </a:ln>
        </p:spPr>
      </p:cxnSp>
      <p:cxnSp>
        <p:nvCxnSpPr>
          <p:cNvPr id="27" name=""/>
          <p:cNvCxnSpPr>
            <a:stCxn xmlns:a="http://schemas.openxmlformats.org/drawingml/2006/main" id="5" idx="3"/>
            <a:endCxn xmlns:a="http://schemas.openxmlformats.org/drawingml/2006/main" id="6" idx="1"/>
          </p:cNvCxnSpPr>
          <p:nvPr/>
        </p:nvCxnSpPr>
        <p:spPr>
          <a:xfrm xmlns:a="http://schemas.openxmlformats.org/drawingml/2006/main">
            <a:off x="7686675" y="2667000"/>
            <a:ext cx="619125" cy="0"/>
          </a:xfrm>
          <a:prstGeom xmlns:a="http://schemas.openxmlformats.org/drawingml/2006/main" prst="straightConnector1">
            <a:avLst/>
          </a:prstGeom>
          <a:ln xmlns:a="http://schemas.openxmlformats.org/drawingml/2006/main" w="19050">
            <a:solidFill>
              <a:srgbClr val="168B8D"/>
            </a:solidFill>
            <a:tailEnd type="arrow" w="med" len="med"/>
          </a:ln>
        </p:spPr>
      </p:cxnSp>
      <p:cxnSp>
        <p:nvCxnSpPr>
          <p:cNvPr id="28" name=""/>
          <p:cNvCxnSpPr>
            <a:stCxn xmlns:a="http://schemas.openxmlformats.org/drawingml/2006/main" id="6" idx="2"/>
            <a:endCxn xmlns:a="http://schemas.openxmlformats.org/drawingml/2006/main" id="7" idx="0"/>
          </p:cNvCxnSpPr>
          <p:nvPr/>
        </p:nvCxnSpPr>
        <p:spPr>
          <a:xfrm xmlns:a="http://schemas.openxmlformats.org/drawingml/2006/main">
            <a:off x="9901238" y="3238500"/>
            <a:ext cx="0" cy="523875"/>
          </a:xfrm>
          <a:prstGeom xmlns:a="http://schemas.openxmlformats.org/drawingml/2006/main" prst="straightConnector1">
            <a:avLst/>
          </a:prstGeom>
          <a:ln xmlns:a="http://schemas.openxmlformats.org/drawingml/2006/main" w="19050">
            <a:solidFill>
              <a:srgbClr val="168B8D"/>
            </a:solidFill>
            <a:tailEnd type="arrow" w="med" len="med"/>
          </a:ln>
        </p:spPr>
      </p:cxnSp>
      <p:cxnSp>
        <p:nvCxnSpPr>
          <p:cNvPr id="29" name=""/>
          <p:cNvCxnSpPr>
            <a:stCxn xmlns:a="http://schemas.openxmlformats.org/drawingml/2006/main" id="7" idx="1"/>
            <a:endCxn xmlns:a="http://schemas.openxmlformats.org/drawingml/2006/main" id="8" idx="3"/>
          </p:cNvCxnSpPr>
          <p:nvPr/>
        </p:nvCxnSpPr>
        <p:spPr>
          <a:xfrm xmlns:a="http://schemas.openxmlformats.org/drawingml/2006/main" flipH="1">
            <a:off x="7686675" y="4333875"/>
            <a:ext cx="619125" cy="0"/>
          </a:xfrm>
          <a:prstGeom xmlns:a="http://schemas.openxmlformats.org/drawingml/2006/main" prst="straightConnector1">
            <a:avLst/>
          </a:prstGeom>
          <a:ln xmlns:a="http://schemas.openxmlformats.org/drawingml/2006/main" w="19050">
            <a:solidFill>
              <a:srgbClr val="168B8D"/>
            </a:solidFill>
            <a:tailEnd type="arrow" w="med" len="med"/>
          </a:ln>
        </p:spPr>
      </p:cxnSp>
      <p:cxnSp>
        <p:nvCxnSpPr>
          <p:cNvPr id="30" name=""/>
          <p:cNvCxnSpPr>
            <a:stCxn xmlns:a="http://schemas.openxmlformats.org/drawingml/2006/main" id="8" idx="1"/>
            <a:endCxn xmlns:a="http://schemas.openxmlformats.org/drawingml/2006/main" id="9" idx="3"/>
          </p:cNvCxnSpPr>
          <p:nvPr/>
        </p:nvCxnSpPr>
        <p:spPr>
          <a:xfrm xmlns:a="http://schemas.openxmlformats.org/drawingml/2006/main" flipH="1">
            <a:off x="3876675" y="4333875"/>
            <a:ext cx="619125" cy="0"/>
          </a:xfrm>
          <a:prstGeom xmlns:a="http://schemas.openxmlformats.org/drawingml/2006/main" prst="straightConnector1">
            <a:avLst/>
          </a:prstGeom>
          <a:ln xmlns:a="http://schemas.openxmlformats.org/drawingml/2006/main" w="19050">
            <a:solidFill>
              <a:srgbClr val="168B8D"/>
            </a:solidFill>
            <a:tailEnd type="arrow" w="med" len="med"/>
          </a:ln>
        </p:spPr>
      </p:cxnSp>
      <p:sp>
        <p:nvSpPr>
          <p:cNvPr id="15" name="caption">
            <a:extLst xmlns:a="http://schemas.openxmlformats.org/drawingml/2006/main">
              <a:ext uri="{FF2B5EF4-FFF2-40B4-BE49-F238E27FC236}">
                <a16:creationId xmlns:a16="http://schemas.microsoft.com/office/drawing/2014/main" id="{B9AEBDF4-A3DD-4270-959F-A3FD40B160AF}"/>
              </a:ext>
            </a:extLst>
          </p:cNvPr>
          <p:cNvSpPr>
            <a:spLocks xmlns:a="http://schemas.openxmlformats.org/drawingml/2006/main" noGrp="1"/>
          </p:cNvSpPr>
          <p:nvPr/>
        </p:nvSpPr>
        <p:spPr>
          <a:xfrm xmlns:a="http://schemas.openxmlformats.org/drawingml/2006/main">
            <a:off x="685800" y="5343525"/>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06579"/>
                </a:solidFill>
                <a:latin typeface="Arial"/>
                <a:ea typeface="Arial"/>
                <a:cs typeface="Arial"/>
              </a:defRPr>
            </a:pPr>
            <a:r>
              <a:rPr sz="1800" b="0">
                <a:solidFill>
                  <a:srgbClr val="506579"/>
                </a:solidFill>
                <a:latin typeface="Arial"/>
                <a:ea typeface="Arial"/>
                <a:cs typeface="Arial"/>
              </a:rPr>
              <a:t>Never convert every negative mass change to zero. It biases low-flow estimates.</a:t>
            </a:r>
          </a:p>
        </p:txBody>
      </p:sp>
      <p:sp>
        <p:nvSpPr>
          <p:cNvPr id="16" name="pending">
            <a:extLst xmlns:a="http://schemas.openxmlformats.org/drawingml/2006/main">
              <a:ext uri="{FF2B5EF4-FFF2-40B4-BE49-F238E27FC236}">
                <a16:creationId xmlns:a16="http://schemas.microsoft.com/office/drawing/2014/main" id="{A639A046-FE54-4116-9CDF-2F22633F8515}"/>
              </a:ext>
            </a:extLst>
          </p:cNvPr>
          <p:cNvSpPr>
            <a:spLocks xmlns:a="http://schemas.openxmlformats.org/drawingml/2006/main" noGrp="1"/>
          </p:cNvSpPr>
          <p:nvPr/>
        </p:nvSpPr>
        <p:spPr>
          <a:xfrm xmlns:a="http://schemas.openxmlformats.org/drawingml/2006/main">
            <a:off x="609600" y="6153150"/>
            <a:ext cx="10972800" cy="285750"/>
          </a:xfrm>
          <a:prstGeom xmlns:a="http://schemas.openxmlformats.org/drawingml/2006/main" prst="rect">
            <a:avLst/>
          </a:prstGeom>
          <a:solidFill xmlns:a="http://schemas.openxmlformats.org/drawingml/2006/main">
            <a:srgbClr val="FFF2CC"/>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6B4D00"/>
                </a:solidFill>
                <a:latin typeface="Arial"/>
                <a:ea typeface="Arial"/>
                <a:cs typeface="Arial"/>
              </a:defRPr>
            </a:pPr>
            <a:r>
              <a:rPr sz="1350" b="1">
                <a:solidFill>
                  <a:srgbClr val="6B4D00"/>
                </a:solidFill>
                <a:latin typeface="Arial"/>
                <a:ea typeface="Arial"/>
                <a:cs typeface="Arial"/>
              </a:rPr>
              <a:t>IIT Patna measurement pending</a:t>
            </a:r>
          </a:p>
        </p:txBody>
      </p:sp>
    </p:spTree>
    <p:extLst>
      <p:ext uri="{BB962C8B-B14F-4D97-AF65-F5344CB8AC3E}">
        <p14:creationId xmlns:p14="http://schemas.microsoft.com/office/powerpoint/2010/main" val="919537399"/>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A6951503-B518-46B2-BFFF-3DA019CD5E1C}"/>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Objective measurements at IIT Patna</a:t>
            </a:r>
          </a:p>
        </p:txBody>
      </p:sp>
      <p:sp>
        <p:nvSpPr>
          <p:cNvPr id="2" name="section">
            <a:extLst xmlns:a="http://schemas.openxmlformats.org/drawingml/2006/main">
              <a:ext uri="{FF2B5EF4-FFF2-40B4-BE49-F238E27FC236}">
                <a16:creationId xmlns:a16="http://schemas.microsoft.com/office/drawing/2014/main" id="{EFDCB1F1-6939-4AC4-B038-60A1ACDE9B01}"/>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RIG AND MEASUREMENT</a:t>
            </a:r>
          </a:p>
        </p:txBody>
      </p:sp>
      <p:sp>
        <p:nvSpPr>
          <p:cNvPr id="3" name="footer">
            <a:extLst xmlns:a="http://schemas.openxmlformats.org/drawingml/2006/main">
              <a:ext uri="{FF2B5EF4-FFF2-40B4-BE49-F238E27FC236}">
                <a16:creationId xmlns:a16="http://schemas.microsoft.com/office/drawing/2014/main" id="{198D4AB1-667B-4085-8C83-A936E3B2353E}"/>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PHYSICAL PROTOCOL   |   35 / 49</a:t>
            </a:r>
          </a:p>
        </p:txBody>
      </p:sp>
      <p:graphicFrame>
        <p:nvGraphicFramePr>
          <p:cNvPr id="9" name=""/>
          <p:cNvGraphicFramePr/>
          <p:nvPr/>
        </p:nvGraphicFramePr>
        <p:xfrm>
          <a:off xmlns:a="http://schemas.openxmlformats.org/drawingml/2006/main" x="685800" y="1743075"/>
          <a:ext xmlns:a="http://schemas.openxmlformats.org/drawingml/2006/main" cx="10820400" cy="3543300"/>
        </p:xfrm>
        <a:graphic xmlns:a="http://schemas.openxmlformats.org/drawingml/2006/main">
          <a:graphicData uri="http://schemas.openxmlformats.org/drawingml/2006/table">
            <a:tbl>
              <a:tblPr/>
              <a:tblGrid>
                <a:gridCol w="3238500"/>
                <a:gridCol w="3810000"/>
                <a:gridCol w="3771900"/>
              </a:tblGrid>
              <a:tr h="590550">
                <a:tc>
                  <a:txBody>
                    <a:bodyPr>
                      <a:noAutofit/>
                    </a:bodyPr>
                    <a:lstStyle/>
                    <a:p>
                      <a:r>
                        <a:rPr sz="1725" b="1">
                          <a:solidFill>
                            <a:srgbClr val="FFFFFF"/>
                          </a:solidFill>
                          <a:latin typeface="Arial"/>
                          <a:ea typeface="Arial"/>
                          <a:cs typeface="Arial"/>
                        </a:rPr>
                        <a:t>Quantity</a:t>
                      </a:r>
                    </a:p>
                  </a:txBody>
                  <a:tcPr marL="91440" marR="91440" marT="45720" marB="45720">
                    <a:solidFill>
                      <a:srgbClr val="132E40"/>
                    </a:solidFill>
                  </a:tcPr>
                </a:tc>
                <a:tc>
                  <a:txBody>
                    <a:bodyPr>
                      <a:noAutofit/>
                    </a:bodyPr>
                    <a:lstStyle/>
                    <a:p>
                      <a:r>
                        <a:rPr sz="1725" b="1">
                          <a:solidFill>
                            <a:srgbClr val="FFFFFF"/>
                          </a:solidFill>
                          <a:latin typeface="Arial"/>
                          <a:ea typeface="Arial"/>
                          <a:cs typeface="Arial"/>
                        </a:rPr>
                        <a:t>Independent evidence</a:t>
                      </a:r>
                    </a:p>
                  </a:txBody>
                  <a:tcPr marL="91440" marR="91440" marT="45720" marB="45720">
                    <a:solidFill>
                      <a:srgbClr val="132E40"/>
                    </a:solidFill>
                  </a:tcPr>
                </a:tc>
                <a:tc>
                  <a:txBody>
                    <a:bodyPr>
                      <a:noAutofit/>
                    </a:bodyPr>
                    <a:lstStyle/>
                    <a:p>
                      <a:r>
                        <a:rPr sz="1725" b="1">
                          <a:solidFill>
                            <a:srgbClr val="FFFFFF"/>
                          </a:solidFill>
                          <a:latin typeface="Arial"/>
                          <a:ea typeface="Arial"/>
                          <a:cs typeface="Arial"/>
                        </a:rPr>
                        <a:t>Report with estimate</a:t>
                      </a:r>
                    </a:p>
                  </a:txBody>
                  <a:tcPr marL="91440" marR="91440" marT="45720" marB="45720">
                    <a:solidFill>
                      <a:srgbClr val="132E40"/>
                    </a:solidFill>
                  </a:tcPr>
                </a:tc>
              </a:tr>
              <a:tr h="590550">
                <a:tc>
                  <a:txBody>
                    <a:bodyPr>
                      <a:noAutofit/>
                    </a:bodyPr>
                    <a:lstStyle/>
                    <a:p>
                      <a:r>
                        <a:rPr sz="1725" b="0">
                          <a:solidFill>
                            <a:srgbClr val="132E40"/>
                          </a:solidFill>
                          <a:latin typeface="Arial"/>
                          <a:ea typeface="Arial"/>
                          <a:cs typeface="Arial"/>
                        </a:rPr>
                        <a:t>Cumulative delivery</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Calibrated gravimetric reference</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Bias, repeatability, uncertainty</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Low-flow response</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Long interval capture; drift/evaporation runs</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Window length and detection limit</a:t>
                      </a:r>
                    </a:p>
                  </a:txBody>
                  <a:tcPr marL="91440" marR="91440" marT="45720" marB="45720">
                    <a:solidFill>
                      <a:srgbClr val="EEF4F6"/>
                    </a:solidFill>
                  </a:tcPr>
                </a:tc>
              </a:tr>
              <a:tr h="590550">
                <a:tc>
                  <a:txBody>
                    <a:bodyPr>
                      <a:noAutofit/>
                    </a:bodyPr>
                    <a:lstStyle/>
                    <a:p>
                      <a:r>
                        <a:rPr sz="1725" b="0">
                          <a:solidFill>
                            <a:srgbClr val="132E40"/>
                          </a:solidFill>
                          <a:latin typeface="Arial"/>
                          <a:ea typeface="Arial"/>
                          <a:cs typeface="Arial"/>
                        </a:rPr>
                        <a:t>Trip-to-disable latency</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Aligned command and electrical event logs</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Clock offset, residual error, interval</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Outlet cessation / residual fluid</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Defined outlet trace + video if validated</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Cessation criterion, tail mass, uncertainty</a:t>
                      </a:r>
                    </a:p>
                  </a:txBody>
                  <a:tcPr marL="91440" marR="91440" marT="45720" marB="45720">
                    <a:solidFill>
                      <a:srgbClr val="EEF4F6"/>
                    </a:solidFill>
                  </a:tcPr>
                </a:tc>
              </a:tr>
              <a:tr h="590550">
                <a:tc>
                  <a:txBody>
                    <a:bodyPr>
                      <a:noAutofit/>
                    </a:bodyPr>
                    <a:lstStyle/>
                    <a:p>
                      <a:r>
                        <a:rPr sz="1725" b="0">
                          <a:solidFill>
                            <a:srgbClr val="132E40"/>
                          </a:solidFill>
                          <a:latin typeface="Arial"/>
                          <a:ea typeface="Arial"/>
                          <a:cs typeface="Arial"/>
                        </a:rPr>
                        <a:t>Recovery</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Probe, emission and state records</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Deficit, failed restart, confirmation time</a:t>
                      </a:r>
                    </a:p>
                  </a:txBody>
                  <a:tcPr marL="91440" marR="91440" marT="45720" marB="45720">
                    <a:solidFill>
                      <a:srgbClr val="FFFFFF"/>
                    </a:solidFill>
                  </a:tcPr>
                </a:tc>
              </a:tr>
            </a:tbl>
          </a:graphicData>
        </a:graphic>
      </p:graphicFrame>
      <p:sp>
        <p:nvSpPr>
          <p:cNvPr id="5" name="pending">
            <a:extLst xmlns:a="http://schemas.openxmlformats.org/drawingml/2006/main">
              <a:ext uri="{FF2B5EF4-FFF2-40B4-BE49-F238E27FC236}">
                <a16:creationId xmlns:a16="http://schemas.microsoft.com/office/drawing/2014/main" id="{7542676E-BFCD-412C-91FE-AEAA8F01851F}"/>
              </a:ext>
            </a:extLst>
          </p:cNvPr>
          <p:cNvSpPr>
            <a:spLocks xmlns:a="http://schemas.openxmlformats.org/drawingml/2006/main" noGrp="1"/>
          </p:cNvSpPr>
          <p:nvPr/>
        </p:nvSpPr>
        <p:spPr>
          <a:xfrm xmlns:a="http://schemas.openxmlformats.org/drawingml/2006/main">
            <a:off x="609600" y="6153150"/>
            <a:ext cx="10972800" cy="285750"/>
          </a:xfrm>
          <a:prstGeom xmlns:a="http://schemas.openxmlformats.org/drawingml/2006/main" prst="rect">
            <a:avLst/>
          </a:prstGeom>
          <a:solidFill xmlns:a="http://schemas.openxmlformats.org/drawingml/2006/main">
            <a:srgbClr val="FFF2CC"/>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6B4D00"/>
                </a:solidFill>
                <a:latin typeface="Arial"/>
                <a:ea typeface="Arial"/>
                <a:cs typeface="Arial"/>
              </a:defRPr>
            </a:pPr>
            <a:r>
              <a:rPr sz="1350" b="1">
                <a:solidFill>
                  <a:srgbClr val="6B4D00"/>
                </a:solidFill>
                <a:latin typeface="Arial"/>
                <a:ea typeface="Arial"/>
                <a:cs typeface="Arial"/>
              </a:rPr>
              <a:t>IIT Patna measurement pending</a:t>
            </a:r>
          </a:p>
        </p:txBody>
      </p:sp>
    </p:spTree>
    <p:extLst>
      <p:ext uri="{BB962C8B-B14F-4D97-AF65-F5344CB8AC3E}">
        <p14:creationId xmlns:p14="http://schemas.microsoft.com/office/powerpoint/2010/main" val="1139835164"/>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A9279767-81C2-41A3-83EE-6FF5B1AE77AE}"/>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Calibration and temperature</a:t>
            </a:r>
          </a:p>
        </p:txBody>
      </p:sp>
      <p:sp>
        <p:nvSpPr>
          <p:cNvPr id="2" name="section">
            <a:extLst xmlns:a="http://schemas.openxmlformats.org/drawingml/2006/main">
              <a:ext uri="{FF2B5EF4-FFF2-40B4-BE49-F238E27FC236}">
                <a16:creationId xmlns:a16="http://schemas.microsoft.com/office/drawing/2014/main" id="{02BD3D30-F5B1-47FD-A596-FE9B06785A82}"/>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RIG AND MEASUREMENT</a:t>
            </a:r>
          </a:p>
        </p:txBody>
      </p:sp>
      <p:sp>
        <p:nvSpPr>
          <p:cNvPr id="3" name="footer">
            <a:extLst xmlns:a="http://schemas.openxmlformats.org/drawingml/2006/main">
              <a:ext uri="{FF2B5EF4-FFF2-40B4-BE49-F238E27FC236}">
                <a16:creationId xmlns:a16="http://schemas.microsoft.com/office/drawing/2014/main" id="{EA178906-9C2F-4A64-805B-2063AC5C269A}"/>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CONCEPTUAL RIG   |   36 / 49</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805782ab101a4b0d"/>
          <a:stretch xmlns:a="http://schemas.openxmlformats.org/drawingml/2006/main"/>
        </p:blipFill>
        <p:spPr>
          <a:xfrm xmlns:a="http://schemas.openxmlformats.org/drawingml/2006/main">
            <a:off x="2345267" y="1581150"/>
            <a:ext cx="7501467" cy="4219575"/>
          </a:xfrm>
          <a:prstGeom xmlns:a="http://schemas.openxmlformats.org/drawingml/2006/main" prst="rect">
            <a:avLst/>
          </a:prstGeom>
        </p:spPr>
      </p:pic>
      <p:sp>
        <p:nvSpPr>
          <p:cNvPr id="5" name="caption">
            <a:extLst xmlns:a="http://schemas.openxmlformats.org/drawingml/2006/main">
              <a:ext uri="{FF2B5EF4-FFF2-40B4-BE49-F238E27FC236}">
                <a16:creationId xmlns:a16="http://schemas.microsoft.com/office/drawing/2014/main" id="{A2637F6A-5242-4C56-A113-5588AF79BF50}"/>
              </a:ext>
            </a:extLst>
          </p:cNvPr>
          <p:cNvSpPr>
            <a:spLocks xmlns:a="http://schemas.openxmlformats.org/drawingml/2006/main" noGrp="1"/>
          </p:cNvSpPr>
          <p:nvPr/>
        </p:nvSpPr>
        <p:spPr>
          <a:xfrm xmlns:a="http://schemas.openxmlformats.org/drawingml/2006/main">
            <a:off x="685800" y="5819775"/>
            <a:ext cx="108204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579"/>
                </a:solidFill>
                <a:latin typeface="Arial"/>
                <a:ea typeface="Arial"/>
                <a:cs typeface="Arial"/>
              </a:defRPr>
            </a:pPr>
            <a:r>
              <a:rPr sz="1350" b="0">
                <a:solidFill>
                  <a:srgbClr val="506579"/>
                </a:solidFill>
                <a:latin typeface="Arial"/>
                <a:ea typeface="Arial"/>
                <a:cs typeface="Arial"/>
              </a:rPr>
              <a:t>Reference masses and a separate fluid-temperature sample illustrate required evidence.</a:t>
            </a:r>
          </a:p>
        </p:txBody>
      </p:sp>
      <p:sp>
        <p:nvSpPr>
          <p:cNvPr id="6" name="pending">
            <a:extLst xmlns:a="http://schemas.openxmlformats.org/drawingml/2006/main">
              <a:ext uri="{FF2B5EF4-FFF2-40B4-BE49-F238E27FC236}">
                <a16:creationId xmlns:a16="http://schemas.microsoft.com/office/drawing/2014/main" id="{709704DB-1033-4256-89B0-50408352079C}"/>
              </a:ext>
            </a:extLst>
          </p:cNvPr>
          <p:cNvSpPr>
            <a:spLocks xmlns:a="http://schemas.openxmlformats.org/drawingml/2006/main" noGrp="1"/>
          </p:cNvSpPr>
          <p:nvPr/>
        </p:nvSpPr>
        <p:spPr>
          <a:xfrm xmlns:a="http://schemas.openxmlformats.org/drawingml/2006/main">
            <a:off x="609600" y="6153150"/>
            <a:ext cx="10972800" cy="285750"/>
          </a:xfrm>
          <a:prstGeom xmlns:a="http://schemas.openxmlformats.org/drawingml/2006/main" prst="rect">
            <a:avLst/>
          </a:prstGeom>
          <a:solidFill xmlns:a="http://schemas.openxmlformats.org/drawingml/2006/main">
            <a:srgbClr val="FFF2CC"/>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6B4D00"/>
                </a:solidFill>
                <a:latin typeface="Arial"/>
                <a:ea typeface="Arial"/>
                <a:cs typeface="Arial"/>
              </a:defRPr>
            </a:pPr>
            <a:r>
              <a:rPr sz="1350" b="1">
                <a:solidFill>
                  <a:srgbClr val="6B4D00"/>
                </a:solidFill>
                <a:latin typeface="Arial"/>
                <a:ea typeface="Arial"/>
                <a:cs typeface="Arial"/>
              </a:rPr>
              <a:t>IIT Patna measurement pending</a:t>
            </a:r>
          </a:p>
        </p:txBody>
      </p:sp>
    </p:spTree>
    <p:extLst>
      <p:ext uri="{BB962C8B-B14F-4D97-AF65-F5344CB8AC3E}">
        <p14:creationId xmlns:p14="http://schemas.microsoft.com/office/powerpoint/2010/main" val="106758886"/>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itle">
            <a:extLst xmlns:a="http://schemas.openxmlformats.org/drawingml/2006/main">
              <a:ext uri="{FF2B5EF4-FFF2-40B4-BE49-F238E27FC236}">
                <a16:creationId xmlns:a16="http://schemas.microsoft.com/office/drawing/2014/main" id="{53023D30-D9DE-48D5-A26D-D48CEE968045}"/>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An immutable acquisition record</a:t>
            </a:r>
          </a:p>
        </p:txBody>
      </p:sp>
      <p:sp>
        <p:nvSpPr>
          <p:cNvPr id="2" name="section">
            <a:extLst xmlns:a="http://schemas.openxmlformats.org/drawingml/2006/main">
              <a:ext uri="{FF2B5EF4-FFF2-40B4-BE49-F238E27FC236}">
                <a16:creationId xmlns:a16="http://schemas.microsoft.com/office/drawing/2014/main" id="{72F2E3B6-2799-4714-A8E2-4B10E566BB70}"/>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IIT PATNA HANDOFF</a:t>
            </a:r>
          </a:p>
        </p:txBody>
      </p:sp>
      <p:sp>
        <p:nvSpPr>
          <p:cNvPr id="3" name="footer">
            <a:extLst xmlns:a="http://schemas.openxmlformats.org/drawingml/2006/main">
              <a:ext uri="{FF2B5EF4-FFF2-40B4-BE49-F238E27FC236}">
                <a16:creationId xmlns:a16="http://schemas.microsoft.com/office/drawing/2014/main" id="{361CB737-1DBC-4849-AD9C-19470B8C3E99}"/>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PHYSICAL PROTOCOL   |   37 / 49</a:t>
            </a:r>
          </a:p>
        </p:txBody>
      </p:sp>
      <p:sp>
        <p:nvSpPr>
          <p:cNvPr id="4" name="">
            <a:extLst xmlns:a="http://schemas.openxmlformats.org/drawingml/2006/main">
              <a:ext uri="{FF2B5EF4-FFF2-40B4-BE49-F238E27FC236}">
                <a16:creationId xmlns:a16="http://schemas.microsoft.com/office/drawing/2014/main" id="{6616DBAA-ACC9-46D7-9AB5-2604DC1EB444}"/>
              </a:ext>
            </a:extLst>
          </p:cNvPr>
          <p:cNvSpPr>
            <a:spLocks xmlns:a="http://schemas.openxmlformats.org/drawingml/2006/main" noGrp="1"/>
          </p:cNvSpPr>
          <p:nvPr/>
        </p:nvSpPr>
        <p:spPr>
          <a:xfrm xmlns:a="http://schemas.openxmlformats.org/drawingml/2006/main">
            <a:off x="685800" y="2095500"/>
            <a:ext cx="3190875" cy="1143000"/>
          </a:xfrm>
          <a:prstGeom xmlns:a="http://schemas.openxmlformats.org/drawingml/2006/main" prst="rect">
            <a:avLst/>
          </a:prstGeom>
          <a:solidFill xmlns:a="http://schemas.openxmlformats.org/drawingml/2006/main">
            <a:srgbClr val="FFFFFF"/>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Trial identity</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fluid + rig revision</a:t>
            </a:r>
          </a:p>
        </p:txBody>
      </p:sp>
      <p:sp>
        <p:nvSpPr>
          <p:cNvPr id="5" name="">
            <a:extLst xmlns:a="http://schemas.openxmlformats.org/drawingml/2006/main">
              <a:ext uri="{FF2B5EF4-FFF2-40B4-BE49-F238E27FC236}">
                <a16:creationId xmlns:a16="http://schemas.microsoft.com/office/drawing/2014/main" id="{299F0406-927C-4C6C-9FE0-DCD930C0A9A0}"/>
              </a:ext>
            </a:extLst>
          </p:cNvPr>
          <p:cNvSpPr>
            <a:spLocks xmlns:a="http://schemas.openxmlformats.org/drawingml/2006/main" noGrp="1"/>
          </p:cNvSpPr>
          <p:nvPr/>
        </p:nvSpPr>
        <p:spPr>
          <a:xfrm xmlns:a="http://schemas.openxmlformats.org/drawingml/2006/main">
            <a:off x="4495800" y="2095500"/>
            <a:ext cx="3190875" cy="1143000"/>
          </a:xfrm>
          <a:prstGeom xmlns:a="http://schemas.openxmlformats.org/drawingml/2006/main" prst="rect">
            <a:avLst/>
          </a:prstGeom>
          <a:solidFill xmlns:a="http://schemas.openxmlformats.org/drawingml/2006/main">
            <a:srgbClr val="FFFFFF"/>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Instrument evidence</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calibration + units</a:t>
            </a:r>
          </a:p>
        </p:txBody>
      </p:sp>
      <p:sp>
        <p:nvSpPr>
          <p:cNvPr id="6" name="">
            <a:extLst xmlns:a="http://schemas.openxmlformats.org/drawingml/2006/main">
              <a:ext uri="{FF2B5EF4-FFF2-40B4-BE49-F238E27FC236}">
                <a16:creationId xmlns:a16="http://schemas.microsoft.com/office/drawing/2014/main" id="{D7DC76D1-315E-4A93-95F9-216D3376DDF4}"/>
              </a:ext>
            </a:extLst>
          </p:cNvPr>
          <p:cNvSpPr>
            <a:spLocks xmlns:a="http://schemas.openxmlformats.org/drawingml/2006/main" noGrp="1"/>
          </p:cNvSpPr>
          <p:nvPr/>
        </p:nvSpPr>
        <p:spPr>
          <a:xfrm xmlns:a="http://schemas.openxmlformats.org/drawingml/2006/main">
            <a:off x="8305800" y="2095500"/>
            <a:ext cx="3190875" cy="1143000"/>
          </a:xfrm>
          <a:prstGeom xmlns:a="http://schemas.openxmlformats.org/drawingml/2006/main" prst="rect">
            <a:avLst/>
          </a:prstGeom>
          <a:solidFill xmlns:a="http://schemas.openxmlformats.org/drawingml/2006/main">
            <a:srgbClr val="FFFFFF"/>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Raw samples</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sequence + time + status</a:t>
            </a:r>
          </a:p>
        </p:txBody>
      </p:sp>
      <p:sp>
        <p:nvSpPr>
          <p:cNvPr id="7" name="">
            <a:extLst xmlns:a="http://schemas.openxmlformats.org/drawingml/2006/main">
              <a:ext uri="{FF2B5EF4-FFF2-40B4-BE49-F238E27FC236}">
                <a16:creationId xmlns:a16="http://schemas.microsoft.com/office/drawing/2014/main" id="{31C766CE-024F-470B-AFA7-8E351A4751DA}"/>
              </a:ext>
            </a:extLst>
          </p:cNvPr>
          <p:cNvSpPr>
            <a:spLocks xmlns:a="http://schemas.openxmlformats.org/drawingml/2006/main" noGrp="1"/>
          </p:cNvSpPr>
          <p:nvPr/>
        </p:nvSpPr>
        <p:spPr>
          <a:xfrm xmlns:a="http://schemas.openxmlformats.org/drawingml/2006/main">
            <a:off x="8305800" y="3762375"/>
            <a:ext cx="3190875" cy="1143000"/>
          </a:xfrm>
          <a:prstGeom xmlns:a="http://schemas.openxmlformats.org/drawingml/2006/main" prst="rect">
            <a:avLst/>
          </a:prstGeom>
          <a:solidFill xmlns:a="http://schemas.openxmlformats.org/drawingml/2006/main">
            <a:srgbClr val="FFFFFF"/>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Clock transformation</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method + residuals</a:t>
            </a:r>
          </a:p>
        </p:txBody>
      </p:sp>
      <p:sp>
        <p:nvSpPr>
          <p:cNvPr id="8" name="">
            <a:extLst xmlns:a="http://schemas.openxmlformats.org/drawingml/2006/main">
              <a:ext uri="{FF2B5EF4-FFF2-40B4-BE49-F238E27FC236}">
                <a16:creationId xmlns:a16="http://schemas.microsoft.com/office/drawing/2014/main" id="{353ABF33-46AF-4EAE-AF7D-145DBA620FC9}"/>
              </a:ext>
            </a:extLst>
          </p:cNvPr>
          <p:cNvSpPr>
            <a:spLocks xmlns:a="http://schemas.openxmlformats.org/drawingml/2006/main" noGrp="1"/>
          </p:cNvSpPr>
          <p:nvPr/>
        </p:nvSpPr>
        <p:spPr>
          <a:xfrm xmlns:a="http://schemas.openxmlformats.org/drawingml/2006/main">
            <a:off x="4495800" y="3762375"/>
            <a:ext cx="3190875" cy="1143000"/>
          </a:xfrm>
          <a:prstGeom xmlns:a="http://schemas.openxmlformats.org/drawingml/2006/main" prst="rect">
            <a:avLst/>
          </a:prstGeom>
          <a:solidFill xmlns:a="http://schemas.openxmlformats.org/drawingml/2006/main">
            <a:srgbClr val="EEF4F6"/>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Derived estimates</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source hashes + method</a:t>
            </a:r>
          </a:p>
        </p:txBody>
      </p:sp>
      <p:sp>
        <p:nvSpPr>
          <p:cNvPr id="9" name="">
            <a:extLst xmlns:a="http://schemas.openxmlformats.org/drawingml/2006/main">
              <a:ext uri="{FF2B5EF4-FFF2-40B4-BE49-F238E27FC236}">
                <a16:creationId xmlns:a16="http://schemas.microsoft.com/office/drawing/2014/main" id="{E922B29E-CC34-41A8-93BF-386F75E76B2C}"/>
              </a:ext>
            </a:extLst>
          </p:cNvPr>
          <p:cNvSpPr>
            <a:spLocks xmlns:a="http://schemas.openxmlformats.org/drawingml/2006/main" noGrp="1"/>
          </p:cNvSpPr>
          <p:nvPr/>
        </p:nvSpPr>
        <p:spPr>
          <a:xfrm xmlns:a="http://schemas.openxmlformats.org/drawingml/2006/main">
            <a:off x="685800" y="3762375"/>
            <a:ext cx="3190875" cy="1143000"/>
          </a:xfrm>
          <a:prstGeom xmlns:a="http://schemas.openxmlformats.org/drawingml/2006/main" prst="rect">
            <a:avLst/>
          </a:prstGeom>
          <a:solidFill xmlns:a="http://schemas.openxmlformats.org/drawingml/2006/main">
            <a:srgbClr val="EEF4F6"/>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Independent review</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accept, reject or repeat</a:t>
            </a:r>
          </a:p>
        </p:txBody>
      </p:sp>
      <p:cxnSp>
        <p:nvCxnSpPr>
          <p:cNvPr id="26" name=""/>
          <p:cNvCxnSpPr>
            <a:stCxn xmlns:a="http://schemas.openxmlformats.org/drawingml/2006/main" id="4" idx="3"/>
            <a:endCxn xmlns:a="http://schemas.openxmlformats.org/drawingml/2006/main" id="5" idx="1"/>
          </p:cNvCxnSpPr>
          <p:nvPr/>
        </p:nvCxnSpPr>
        <p:spPr>
          <a:xfrm xmlns:a="http://schemas.openxmlformats.org/drawingml/2006/main">
            <a:off x="3876675" y="2667000"/>
            <a:ext cx="619125" cy="0"/>
          </a:xfrm>
          <a:prstGeom xmlns:a="http://schemas.openxmlformats.org/drawingml/2006/main" prst="straightConnector1">
            <a:avLst/>
          </a:prstGeom>
          <a:ln xmlns:a="http://schemas.openxmlformats.org/drawingml/2006/main" w="19050">
            <a:solidFill>
              <a:srgbClr val="168B8D"/>
            </a:solidFill>
            <a:tailEnd type="arrow" w="med" len="med"/>
          </a:ln>
        </p:spPr>
      </p:cxnSp>
      <p:cxnSp>
        <p:nvCxnSpPr>
          <p:cNvPr id="27" name=""/>
          <p:cNvCxnSpPr>
            <a:stCxn xmlns:a="http://schemas.openxmlformats.org/drawingml/2006/main" id="5" idx="3"/>
            <a:endCxn xmlns:a="http://schemas.openxmlformats.org/drawingml/2006/main" id="6" idx="1"/>
          </p:cNvCxnSpPr>
          <p:nvPr/>
        </p:nvCxnSpPr>
        <p:spPr>
          <a:xfrm xmlns:a="http://schemas.openxmlformats.org/drawingml/2006/main">
            <a:off x="7686675" y="2667000"/>
            <a:ext cx="619125" cy="0"/>
          </a:xfrm>
          <a:prstGeom xmlns:a="http://schemas.openxmlformats.org/drawingml/2006/main" prst="straightConnector1">
            <a:avLst/>
          </a:prstGeom>
          <a:ln xmlns:a="http://schemas.openxmlformats.org/drawingml/2006/main" w="19050">
            <a:solidFill>
              <a:srgbClr val="168B8D"/>
            </a:solidFill>
            <a:tailEnd type="arrow" w="med" len="med"/>
          </a:ln>
        </p:spPr>
      </p:cxnSp>
      <p:cxnSp>
        <p:nvCxnSpPr>
          <p:cNvPr id="28" name=""/>
          <p:cNvCxnSpPr>
            <a:stCxn xmlns:a="http://schemas.openxmlformats.org/drawingml/2006/main" id="6" idx="2"/>
            <a:endCxn xmlns:a="http://schemas.openxmlformats.org/drawingml/2006/main" id="7" idx="0"/>
          </p:cNvCxnSpPr>
          <p:nvPr/>
        </p:nvCxnSpPr>
        <p:spPr>
          <a:xfrm xmlns:a="http://schemas.openxmlformats.org/drawingml/2006/main">
            <a:off x="9901238" y="3238500"/>
            <a:ext cx="0" cy="523875"/>
          </a:xfrm>
          <a:prstGeom xmlns:a="http://schemas.openxmlformats.org/drawingml/2006/main" prst="straightConnector1">
            <a:avLst/>
          </a:prstGeom>
          <a:ln xmlns:a="http://schemas.openxmlformats.org/drawingml/2006/main" w="19050">
            <a:solidFill>
              <a:srgbClr val="168B8D"/>
            </a:solidFill>
            <a:tailEnd type="arrow" w="med" len="med"/>
          </a:ln>
        </p:spPr>
      </p:cxnSp>
      <p:cxnSp>
        <p:nvCxnSpPr>
          <p:cNvPr id="29" name=""/>
          <p:cNvCxnSpPr>
            <a:stCxn xmlns:a="http://schemas.openxmlformats.org/drawingml/2006/main" id="7" idx="1"/>
            <a:endCxn xmlns:a="http://schemas.openxmlformats.org/drawingml/2006/main" id="8" idx="3"/>
          </p:cNvCxnSpPr>
          <p:nvPr/>
        </p:nvCxnSpPr>
        <p:spPr>
          <a:xfrm xmlns:a="http://schemas.openxmlformats.org/drawingml/2006/main" flipH="1">
            <a:off x="7686675" y="4333875"/>
            <a:ext cx="619125" cy="0"/>
          </a:xfrm>
          <a:prstGeom xmlns:a="http://schemas.openxmlformats.org/drawingml/2006/main" prst="straightConnector1">
            <a:avLst/>
          </a:prstGeom>
          <a:ln xmlns:a="http://schemas.openxmlformats.org/drawingml/2006/main" w="19050">
            <a:solidFill>
              <a:srgbClr val="168B8D"/>
            </a:solidFill>
            <a:tailEnd type="arrow" w="med" len="med"/>
          </a:ln>
        </p:spPr>
      </p:cxnSp>
      <p:cxnSp>
        <p:nvCxnSpPr>
          <p:cNvPr id="30" name=""/>
          <p:cNvCxnSpPr>
            <a:stCxn xmlns:a="http://schemas.openxmlformats.org/drawingml/2006/main" id="8" idx="1"/>
            <a:endCxn xmlns:a="http://schemas.openxmlformats.org/drawingml/2006/main" id="9" idx="3"/>
          </p:cNvCxnSpPr>
          <p:nvPr/>
        </p:nvCxnSpPr>
        <p:spPr>
          <a:xfrm xmlns:a="http://schemas.openxmlformats.org/drawingml/2006/main" flipH="1">
            <a:off x="3876675" y="4333875"/>
            <a:ext cx="619125" cy="0"/>
          </a:xfrm>
          <a:prstGeom xmlns:a="http://schemas.openxmlformats.org/drawingml/2006/main" prst="straightConnector1">
            <a:avLst/>
          </a:prstGeom>
          <a:ln xmlns:a="http://schemas.openxmlformats.org/drawingml/2006/main" w="19050">
            <a:solidFill>
              <a:srgbClr val="168B8D"/>
            </a:solidFill>
            <a:tailEnd type="arrow" w="med" len="med"/>
          </a:ln>
        </p:spPr>
      </p:cxnSp>
      <p:sp>
        <p:nvSpPr>
          <p:cNvPr id="15" name="caption">
            <a:extLst xmlns:a="http://schemas.openxmlformats.org/drawingml/2006/main">
              <a:ext uri="{FF2B5EF4-FFF2-40B4-BE49-F238E27FC236}">
                <a16:creationId xmlns:a16="http://schemas.microsoft.com/office/drawing/2014/main" id="{37EFA075-DB03-4184-BCE7-F200FC15198C}"/>
              </a:ext>
            </a:extLst>
          </p:cNvPr>
          <p:cNvSpPr>
            <a:spLocks xmlns:a="http://schemas.openxmlformats.org/drawingml/2006/main" noGrp="1"/>
          </p:cNvSpPr>
          <p:nvPr/>
        </p:nvSpPr>
        <p:spPr>
          <a:xfrm xmlns:a="http://schemas.openxmlformats.org/drawingml/2006/main">
            <a:off x="685800" y="5343525"/>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06579"/>
                </a:solidFill>
                <a:latin typeface="Arial"/>
                <a:ea typeface="Arial"/>
                <a:cs typeface="Arial"/>
              </a:defRPr>
            </a:pPr>
            <a:r>
              <a:rPr sz="1800" b="0">
                <a:solidFill>
                  <a:srgbClr val="506579"/>
                </a:solidFill>
                <a:latin typeface="Arial"/>
                <a:ea typeface="Arial"/>
                <a:cs typeface="Arial"/>
              </a:rPr>
              <a:t>Blank templates remain blank until measured. The offline validator rejects missing evidence.</a:t>
            </a:r>
          </a:p>
        </p:txBody>
      </p:sp>
      <p:sp>
        <p:nvSpPr>
          <p:cNvPr id="16" name="pending">
            <a:extLst xmlns:a="http://schemas.openxmlformats.org/drawingml/2006/main">
              <a:ext uri="{FF2B5EF4-FFF2-40B4-BE49-F238E27FC236}">
                <a16:creationId xmlns:a16="http://schemas.microsoft.com/office/drawing/2014/main" id="{B19F01E4-59D2-411F-A4FE-36262C70E77E}"/>
              </a:ext>
            </a:extLst>
          </p:cNvPr>
          <p:cNvSpPr>
            <a:spLocks xmlns:a="http://schemas.openxmlformats.org/drawingml/2006/main" noGrp="1"/>
          </p:cNvSpPr>
          <p:nvPr/>
        </p:nvSpPr>
        <p:spPr>
          <a:xfrm xmlns:a="http://schemas.openxmlformats.org/drawingml/2006/main">
            <a:off x="609600" y="6153150"/>
            <a:ext cx="10972800" cy="285750"/>
          </a:xfrm>
          <a:prstGeom xmlns:a="http://schemas.openxmlformats.org/drawingml/2006/main" prst="rect">
            <a:avLst/>
          </a:prstGeom>
          <a:solidFill xmlns:a="http://schemas.openxmlformats.org/drawingml/2006/main">
            <a:srgbClr val="FFF2CC"/>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6B4D00"/>
                </a:solidFill>
                <a:latin typeface="Arial"/>
                <a:ea typeface="Arial"/>
                <a:cs typeface="Arial"/>
              </a:defRPr>
            </a:pPr>
            <a:r>
              <a:rPr sz="1350" b="1">
                <a:solidFill>
                  <a:srgbClr val="6B4D00"/>
                </a:solidFill>
                <a:latin typeface="Arial"/>
                <a:ea typeface="Arial"/>
                <a:cs typeface="Arial"/>
              </a:rPr>
              <a:t>IIT Patna measurement pending</a:t>
            </a:r>
          </a:p>
        </p:txBody>
      </p:sp>
    </p:spTree>
    <p:extLst>
      <p:ext uri="{BB962C8B-B14F-4D97-AF65-F5344CB8AC3E}">
        <p14:creationId xmlns:p14="http://schemas.microsoft.com/office/powerpoint/2010/main" val="57285517"/>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6C9D0DC3-4817-46B6-A8B1-2A79918F202D}"/>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Paper fields to fill after the build</a:t>
            </a:r>
          </a:p>
        </p:txBody>
      </p:sp>
      <p:sp>
        <p:nvSpPr>
          <p:cNvPr id="2" name="section">
            <a:extLst xmlns:a="http://schemas.openxmlformats.org/drawingml/2006/main">
              <a:ext uri="{FF2B5EF4-FFF2-40B4-BE49-F238E27FC236}">
                <a16:creationId xmlns:a16="http://schemas.microsoft.com/office/drawing/2014/main" id="{7D002690-9AFF-4231-8C60-AA7D7A0B51B8}"/>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IIT PATNA HANDOFF</a:t>
            </a:r>
          </a:p>
        </p:txBody>
      </p:sp>
      <p:sp>
        <p:nvSpPr>
          <p:cNvPr id="3" name="footer">
            <a:extLst xmlns:a="http://schemas.openxmlformats.org/drawingml/2006/main">
              <a:ext uri="{FF2B5EF4-FFF2-40B4-BE49-F238E27FC236}">
                <a16:creationId xmlns:a16="http://schemas.microsoft.com/office/drawing/2014/main" id="{98E55C9E-AF9C-43B0-A4AD-F8FC011C9E15}"/>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PHYSICAL PROTOCOL   |   38 / 49</a:t>
            </a:r>
          </a:p>
        </p:txBody>
      </p:sp>
      <p:graphicFrame>
        <p:nvGraphicFramePr>
          <p:cNvPr id="10" name=""/>
          <p:cNvGraphicFramePr/>
          <p:nvPr/>
        </p:nvGraphicFramePr>
        <p:xfrm>
          <a:off xmlns:a="http://schemas.openxmlformats.org/drawingml/2006/main" x="685800" y="1743075"/>
          <a:ext xmlns:a="http://schemas.openxmlformats.org/drawingml/2006/main" cx="10820400" cy="3543300"/>
        </p:xfrm>
        <a:graphic xmlns:a="http://schemas.openxmlformats.org/drawingml/2006/main">
          <a:graphicData uri="http://schemas.openxmlformats.org/drawingml/2006/table">
            <a:tbl>
              <a:tblPr/>
              <a:tblGrid>
                <a:gridCol w="3143250"/>
                <a:gridCol w="7677150"/>
              </a:tblGrid>
              <a:tr h="590550">
                <a:tc>
                  <a:txBody>
                    <a:bodyPr>
                      <a:noAutofit/>
                    </a:bodyPr>
                    <a:lstStyle/>
                    <a:p>
                      <a:r>
                        <a:rPr sz="1725" b="1">
                          <a:solidFill>
                            <a:srgbClr val="FFFFFF"/>
                          </a:solidFill>
                          <a:latin typeface="Arial"/>
                          <a:ea typeface="Arial"/>
                          <a:cs typeface="Arial"/>
                        </a:rPr>
                        <a:t>Physical result section</a:t>
                      </a:r>
                    </a:p>
                  </a:txBody>
                  <a:tcPr marL="91440" marR="91440" marT="45720" marB="45720">
                    <a:solidFill>
                      <a:srgbClr val="132E40"/>
                    </a:solidFill>
                  </a:tcPr>
                </a:tc>
                <a:tc>
                  <a:txBody>
                    <a:bodyPr>
                      <a:noAutofit/>
                    </a:bodyPr>
                    <a:lstStyle/>
                    <a:p>
                      <a:r>
                        <a:rPr sz="1725" b="1">
                          <a:solidFill>
                            <a:srgbClr val="FFFFFF"/>
                          </a:solidFill>
                          <a:latin typeface="Arial"/>
                          <a:ea typeface="Arial"/>
                          <a:cs typeface="Arial"/>
                        </a:rPr>
                        <a:t>IIT Patna must supply</a:t>
                      </a:r>
                    </a:p>
                  </a:txBody>
                  <a:tcPr marL="91440" marR="91440" marT="45720" marB="45720">
                    <a:solidFill>
                      <a:srgbClr val="132E40"/>
                    </a:solidFill>
                  </a:tcPr>
                </a:tc>
              </a:tr>
              <a:tr h="590550">
                <a:tc>
                  <a:txBody>
                    <a:bodyPr>
                      <a:noAutofit/>
                    </a:bodyPr>
                    <a:lstStyle/>
                    <a:p>
                      <a:r>
                        <a:rPr sz="1725" b="0">
                          <a:solidFill>
                            <a:srgbClr val="132E40"/>
                          </a:solidFill>
                          <a:latin typeface="Arial"/>
                          <a:ea typeface="Arial"/>
                          <a:cs typeface="Arial"/>
                        </a:rPr>
                        <a:t>Rig and instrumentation</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As-built dimensions, parts, fluid, calibration evidence</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Measurement performance</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Mass/volume bias, repeatability, low-flow behavior</a:t>
                      </a:r>
                    </a:p>
                  </a:txBody>
                  <a:tcPr marL="91440" marR="91440" marT="45720" marB="45720">
                    <a:solidFill>
                      <a:srgbClr val="EEF4F6"/>
                    </a:solidFill>
                  </a:tcPr>
                </a:tc>
              </a:tr>
              <a:tr h="590550">
                <a:tc>
                  <a:txBody>
                    <a:bodyPr>
                      <a:noAutofit/>
                    </a:bodyPr>
                    <a:lstStyle/>
                    <a:p>
                      <a:r>
                        <a:rPr sz="1725" b="0">
                          <a:solidFill>
                            <a:srgbClr val="132E40"/>
                          </a:solidFill>
                          <a:latin typeface="Arial"/>
                          <a:ea typeface="Arial"/>
                          <a:cs typeface="Arial"/>
                        </a:rPr>
                        <a:t>Timing and stopping</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Clock alignment, disable latency, outlet cessation, residual mass</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Failure and recovery</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Excess, deficit, long interruption, failed and successful restart</a:t>
                      </a:r>
                    </a:p>
                  </a:txBody>
                  <a:tcPr marL="91440" marR="91440" marT="45720" marB="45720">
                    <a:solidFill>
                      <a:srgbClr val="EEF4F6"/>
                    </a:solidFill>
                  </a:tcPr>
                </a:tc>
              </a:tr>
              <a:tr h="590550">
                <a:tc>
                  <a:txBody>
                    <a:bodyPr>
                      <a:noAutofit/>
                    </a:bodyPr>
                    <a:lstStyle/>
                    <a:p>
                      <a:r>
                        <a:rPr sz="1725" b="0">
                          <a:solidFill>
                            <a:srgbClr val="132E40"/>
                          </a:solidFill>
                          <a:latin typeface="Arial"/>
                          <a:ea typeface="Arial"/>
                          <a:cs typeface="Arial"/>
                        </a:rPr>
                        <a:t>Transfer and reproducibility</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Measured-data replay, model discrepancy, raw traces and analysis</a:t>
                      </a:r>
                    </a:p>
                  </a:txBody>
                  <a:tcPr marL="91440" marR="91440" marT="45720" marB="45720">
                    <a:solidFill>
                      <a:srgbClr val="FFFFFF"/>
                    </a:solidFill>
                  </a:tcPr>
                </a:tc>
              </a:tr>
            </a:tbl>
          </a:graphicData>
        </a:graphic>
      </p:graphicFrame>
      <p:sp>
        <p:nvSpPr>
          <p:cNvPr id="5" name="caption">
            <a:extLst xmlns:a="http://schemas.openxmlformats.org/drawingml/2006/main">
              <a:ext uri="{FF2B5EF4-FFF2-40B4-BE49-F238E27FC236}">
                <a16:creationId xmlns:a16="http://schemas.microsoft.com/office/drawing/2014/main" id="{DE9150E5-F69F-452E-93F8-F8F3FCEA792A}"/>
              </a:ext>
            </a:extLst>
          </p:cNvPr>
          <p:cNvSpPr>
            <a:spLocks xmlns:a="http://schemas.openxmlformats.org/drawingml/2006/main" noGrp="1"/>
          </p:cNvSpPr>
          <p:nvPr/>
        </p:nvSpPr>
        <p:spPr>
          <a:xfrm xmlns:a="http://schemas.openxmlformats.org/drawingml/2006/main">
            <a:off x="685800" y="581025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579"/>
                </a:solidFill>
                <a:latin typeface="Arial"/>
                <a:ea typeface="Arial"/>
                <a:cs typeface="Arial"/>
              </a:defRPr>
            </a:pPr>
            <a:r>
              <a:rPr sz="1350" b="0">
                <a:solidFill>
                  <a:srgbClr val="506579"/>
                </a:solidFill>
                <a:latin typeface="Arial"/>
                <a:ea typeface="Arial"/>
                <a:cs typeface="Arial"/>
              </a:rPr>
              <a:t>Amber text and tables in the manuscript mark these pending claims beside the relevant discussion.</a:t>
            </a:r>
          </a:p>
        </p:txBody>
      </p:sp>
      <p:sp>
        <p:nvSpPr>
          <p:cNvPr id="6" name="pending">
            <a:extLst xmlns:a="http://schemas.openxmlformats.org/drawingml/2006/main">
              <a:ext uri="{FF2B5EF4-FFF2-40B4-BE49-F238E27FC236}">
                <a16:creationId xmlns:a16="http://schemas.microsoft.com/office/drawing/2014/main" id="{424E7D7D-FB26-427F-B360-C23E8FC0AB35}"/>
              </a:ext>
            </a:extLst>
          </p:cNvPr>
          <p:cNvSpPr>
            <a:spLocks xmlns:a="http://schemas.openxmlformats.org/drawingml/2006/main" noGrp="1"/>
          </p:cNvSpPr>
          <p:nvPr/>
        </p:nvSpPr>
        <p:spPr>
          <a:xfrm xmlns:a="http://schemas.openxmlformats.org/drawingml/2006/main">
            <a:off x="609600" y="6153150"/>
            <a:ext cx="10972800" cy="285750"/>
          </a:xfrm>
          <a:prstGeom xmlns:a="http://schemas.openxmlformats.org/drawingml/2006/main" prst="rect">
            <a:avLst/>
          </a:prstGeom>
          <a:solidFill xmlns:a="http://schemas.openxmlformats.org/drawingml/2006/main">
            <a:srgbClr val="FFF2CC"/>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6B4D00"/>
                </a:solidFill>
                <a:latin typeface="Arial"/>
                <a:ea typeface="Arial"/>
                <a:cs typeface="Arial"/>
              </a:defRPr>
            </a:pPr>
            <a:r>
              <a:rPr sz="1350" b="1">
                <a:solidFill>
                  <a:srgbClr val="6B4D00"/>
                </a:solidFill>
                <a:latin typeface="Arial"/>
                <a:ea typeface="Arial"/>
                <a:cs typeface="Arial"/>
              </a:rPr>
              <a:t>IIT Patna measurement pending</a:t>
            </a:r>
          </a:p>
        </p:txBody>
      </p:sp>
    </p:spTree>
    <p:extLst>
      <p:ext uri="{BB962C8B-B14F-4D97-AF65-F5344CB8AC3E}">
        <p14:creationId xmlns:p14="http://schemas.microsoft.com/office/powerpoint/2010/main" val="1354604970"/>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975BF5A4-BE04-4191-B12C-92BD701CC929}"/>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M01–M08: apparatus and metrology</a:t>
            </a:r>
          </a:p>
        </p:txBody>
      </p:sp>
      <p:sp>
        <p:nvSpPr>
          <p:cNvPr id="2" name="section">
            <a:extLst xmlns:a="http://schemas.openxmlformats.org/drawingml/2006/main">
              <a:ext uri="{FF2B5EF4-FFF2-40B4-BE49-F238E27FC236}">
                <a16:creationId xmlns:a16="http://schemas.microsoft.com/office/drawing/2014/main" id="{10C392F0-52D8-4113-A3B0-3C31EA98ADFC}"/>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IIT PATNA HANDOFF</a:t>
            </a:r>
          </a:p>
        </p:txBody>
      </p:sp>
      <p:sp>
        <p:nvSpPr>
          <p:cNvPr id="3" name="footer">
            <a:extLst xmlns:a="http://schemas.openxmlformats.org/drawingml/2006/main">
              <a:ext uri="{FF2B5EF4-FFF2-40B4-BE49-F238E27FC236}">
                <a16:creationId xmlns:a16="http://schemas.microsoft.com/office/drawing/2014/main" id="{F7A28E2C-6A3F-4989-85B6-351D7F5DD278}"/>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PHYSICAL PROTOCOL   |   39 / 49</a:t>
            </a:r>
          </a:p>
        </p:txBody>
      </p:sp>
      <p:graphicFrame>
        <p:nvGraphicFramePr>
          <p:cNvPr id="9" name=""/>
          <p:cNvGraphicFramePr/>
          <p:nvPr/>
        </p:nvGraphicFramePr>
        <p:xfrm>
          <a:off xmlns:a="http://schemas.openxmlformats.org/drawingml/2006/main" x="685800" y="1743075"/>
          <a:ext xmlns:a="http://schemas.openxmlformats.org/drawingml/2006/main" cx="10820400" cy="2952750"/>
        </p:xfrm>
        <a:graphic xmlns:a="http://schemas.openxmlformats.org/drawingml/2006/main">
          <a:graphicData uri="http://schemas.openxmlformats.org/drawingml/2006/table">
            <a:tbl>
              <a:tblPr/>
              <a:tblGrid>
                <a:gridCol w="3143250"/>
                <a:gridCol w="7677150"/>
              </a:tblGrid>
              <a:tr h="590550">
                <a:tc>
                  <a:txBody>
                    <a:bodyPr>
                      <a:noAutofit/>
                    </a:bodyPr>
                    <a:lstStyle/>
                    <a:p>
                      <a:r>
                        <a:rPr sz="1725" b="1">
                          <a:solidFill>
                            <a:srgbClr val="FFFFFF"/>
                          </a:solidFill>
                          <a:latin typeface="Arial"/>
                          <a:ea typeface="Arial"/>
                          <a:cs typeface="Arial"/>
                        </a:rPr>
                        <a:t>ID</a:t>
                      </a:r>
                    </a:p>
                  </a:txBody>
                  <a:tcPr marL="91440" marR="91440" marT="45720" marB="45720">
                    <a:solidFill>
                      <a:srgbClr val="132E40"/>
                    </a:solidFill>
                  </a:tcPr>
                </a:tc>
                <a:tc>
                  <a:txBody>
                    <a:bodyPr>
                      <a:noAutofit/>
                    </a:bodyPr>
                    <a:lstStyle/>
                    <a:p>
                      <a:r>
                        <a:rPr sz="1725" b="1">
                          <a:solidFill>
                            <a:srgbClr val="FFFFFF"/>
                          </a:solidFill>
                          <a:latin typeface="Arial"/>
                          <a:ea typeface="Arial"/>
                          <a:cs typeface="Arial"/>
                        </a:rPr>
                        <a:t>Evidence to complete</a:t>
                      </a:r>
                    </a:p>
                  </a:txBody>
                  <a:tcPr marL="91440" marR="91440" marT="45720" marB="45720">
                    <a:solidFill>
                      <a:srgbClr val="132E40"/>
                    </a:solidFill>
                  </a:tcPr>
                </a:tc>
              </a:tr>
              <a:tr h="590550">
                <a:tc>
                  <a:txBody>
                    <a:bodyPr>
                      <a:noAutofit/>
                    </a:bodyPr>
                    <a:lstStyle/>
                    <a:p>
                      <a:r>
                        <a:rPr sz="1725" b="0">
                          <a:solidFill>
                            <a:srgbClr val="132E40"/>
                          </a:solidFill>
                          <a:latin typeface="Arial"/>
                          <a:ea typeface="Arial"/>
                          <a:cs typeface="Arial"/>
                        </a:rPr>
                        <a:t>M01–M02</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As-built apparatus; outlet and acquisition boundary</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M03–M04</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Traceable balance calibration; fluid temperature and density</a:t>
                      </a:r>
                    </a:p>
                  </a:txBody>
                  <a:tcPr marL="91440" marR="91440" marT="45720" marB="45720">
                    <a:solidFill>
                      <a:srgbClr val="EEF4F6"/>
                    </a:solidFill>
                  </a:tcPr>
                </a:tc>
              </a:tr>
              <a:tr h="590550">
                <a:tc>
                  <a:txBody>
                    <a:bodyPr>
                      <a:noAutofit/>
                    </a:bodyPr>
                    <a:lstStyle/>
                    <a:p>
                      <a:r>
                        <a:rPr sz="1725" b="0">
                          <a:solidFill>
                            <a:srgbClr val="132E40"/>
                          </a:solidFill>
                          <a:latin typeface="Arial"/>
                          <a:ea typeface="Arial"/>
                          <a:cs typeface="Arial"/>
                        </a:rPr>
                        <a:t>M05–M06</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Evaporation/environment; mechanical force isolation</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M07–M08</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Independent reference; reconstruction and zero-flow bias</a:t>
                      </a:r>
                    </a:p>
                  </a:txBody>
                  <a:tcPr marL="91440" marR="91440" marT="45720" marB="45720">
                    <a:solidFill>
                      <a:srgbClr val="EEF4F6"/>
                    </a:solidFill>
                  </a:tcPr>
                </a:tc>
              </a:tr>
            </a:tbl>
          </a:graphicData>
        </a:graphic>
      </p:graphicFrame>
      <p:sp>
        <p:nvSpPr>
          <p:cNvPr id="5" name="pending">
            <a:extLst xmlns:a="http://schemas.openxmlformats.org/drawingml/2006/main">
              <a:ext uri="{FF2B5EF4-FFF2-40B4-BE49-F238E27FC236}">
                <a16:creationId xmlns:a16="http://schemas.microsoft.com/office/drawing/2014/main" id="{A9BA85F2-E73C-4551-A802-D865B276F48D}"/>
              </a:ext>
            </a:extLst>
          </p:cNvPr>
          <p:cNvSpPr>
            <a:spLocks xmlns:a="http://schemas.openxmlformats.org/drawingml/2006/main" noGrp="1"/>
          </p:cNvSpPr>
          <p:nvPr/>
        </p:nvSpPr>
        <p:spPr>
          <a:xfrm xmlns:a="http://schemas.openxmlformats.org/drawingml/2006/main">
            <a:off x="609600" y="6153150"/>
            <a:ext cx="10972800" cy="285750"/>
          </a:xfrm>
          <a:prstGeom xmlns:a="http://schemas.openxmlformats.org/drawingml/2006/main" prst="rect">
            <a:avLst/>
          </a:prstGeom>
          <a:solidFill xmlns:a="http://schemas.openxmlformats.org/drawingml/2006/main">
            <a:srgbClr val="FFF2CC"/>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6B4D00"/>
                </a:solidFill>
                <a:latin typeface="Arial"/>
                <a:ea typeface="Arial"/>
                <a:cs typeface="Arial"/>
              </a:defRPr>
            </a:pPr>
            <a:r>
              <a:rPr sz="1350" b="1">
                <a:solidFill>
                  <a:srgbClr val="6B4D00"/>
                </a:solidFill>
                <a:latin typeface="Arial"/>
                <a:ea typeface="Arial"/>
                <a:cs typeface="Arial"/>
              </a:rPr>
              <a:t>IIT Patna measurement pending</a:t>
            </a:r>
          </a:p>
        </p:txBody>
      </p:sp>
    </p:spTree>
    <p:extLst>
      <p:ext uri="{BB962C8B-B14F-4D97-AF65-F5344CB8AC3E}">
        <p14:creationId xmlns:p14="http://schemas.microsoft.com/office/powerpoint/2010/main" val="2000777544"/>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6A137428-C4B7-4FFD-8AC1-BFDA974BA682}"/>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M09–M16: interruption and transfer</a:t>
            </a:r>
          </a:p>
        </p:txBody>
      </p:sp>
      <p:sp>
        <p:nvSpPr>
          <p:cNvPr id="2" name="section">
            <a:extLst xmlns:a="http://schemas.openxmlformats.org/drawingml/2006/main">
              <a:ext uri="{FF2B5EF4-FFF2-40B4-BE49-F238E27FC236}">
                <a16:creationId xmlns:a16="http://schemas.microsoft.com/office/drawing/2014/main" id="{AC12FA3E-58E2-490F-9B13-2478012C8785}"/>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IIT PATNA HANDOFF</a:t>
            </a:r>
          </a:p>
        </p:txBody>
      </p:sp>
      <p:sp>
        <p:nvSpPr>
          <p:cNvPr id="3" name="footer">
            <a:extLst xmlns:a="http://schemas.openxmlformats.org/drawingml/2006/main">
              <a:ext uri="{FF2B5EF4-FFF2-40B4-BE49-F238E27FC236}">
                <a16:creationId xmlns:a16="http://schemas.microsoft.com/office/drawing/2014/main" id="{628FA12A-0092-494C-B79A-CA6A2695D982}"/>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PHYSICAL PROTOCOL   |   40 / 49</a:t>
            </a:r>
          </a:p>
        </p:txBody>
      </p:sp>
      <p:graphicFrame>
        <p:nvGraphicFramePr>
          <p:cNvPr id="9" name=""/>
          <p:cNvGraphicFramePr/>
          <p:nvPr/>
        </p:nvGraphicFramePr>
        <p:xfrm>
          <a:off xmlns:a="http://schemas.openxmlformats.org/drawingml/2006/main" x="685800" y="1743075"/>
          <a:ext xmlns:a="http://schemas.openxmlformats.org/drawingml/2006/main" cx="10820400" cy="2952750"/>
        </p:xfrm>
        <a:graphic xmlns:a="http://schemas.openxmlformats.org/drawingml/2006/main">
          <a:graphicData uri="http://schemas.openxmlformats.org/drawingml/2006/table">
            <a:tbl>
              <a:tblPr/>
              <a:tblGrid>
                <a:gridCol w="3143250"/>
                <a:gridCol w="7677150"/>
              </a:tblGrid>
              <a:tr h="590550">
                <a:tc>
                  <a:txBody>
                    <a:bodyPr>
                      <a:noAutofit/>
                    </a:bodyPr>
                    <a:lstStyle/>
                    <a:p>
                      <a:r>
                        <a:rPr sz="1725" b="1">
                          <a:solidFill>
                            <a:srgbClr val="FFFFFF"/>
                          </a:solidFill>
                          <a:latin typeface="Arial"/>
                          <a:ea typeface="Arial"/>
                          <a:cs typeface="Arial"/>
                        </a:rPr>
                        <a:t>ID</a:t>
                      </a:r>
                    </a:p>
                  </a:txBody>
                  <a:tcPr marL="91440" marR="91440" marT="45720" marB="45720">
                    <a:solidFill>
                      <a:srgbClr val="132E40"/>
                    </a:solidFill>
                  </a:tcPr>
                </a:tc>
                <a:tc>
                  <a:txBody>
                    <a:bodyPr>
                      <a:noAutofit/>
                    </a:bodyPr>
                    <a:lstStyle/>
                    <a:p>
                      <a:r>
                        <a:rPr sz="1725" b="1">
                          <a:solidFill>
                            <a:srgbClr val="FFFFFF"/>
                          </a:solidFill>
                          <a:latin typeface="Arial"/>
                          <a:ea typeface="Arial"/>
                          <a:cs typeface="Arial"/>
                        </a:rPr>
                        <a:t>Evidence to complete</a:t>
                      </a:r>
                    </a:p>
                  </a:txBody>
                  <a:tcPr marL="91440" marR="91440" marT="45720" marB="45720">
                    <a:solidFill>
                      <a:srgbClr val="132E40"/>
                    </a:solidFill>
                  </a:tcPr>
                </a:tc>
              </a:tr>
              <a:tr h="590550">
                <a:tc>
                  <a:txBody>
                    <a:bodyPr>
                      <a:noAutofit/>
                    </a:bodyPr>
                    <a:lstStyle/>
                    <a:p>
                      <a:r>
                        <a:rPr sz="1725" b="0">
                          <a:solidFill>
                            <a:srgbClr val="132E40"/>
                          </a:solidFill>
                          <a:latin typeface="Arial"/>
                          <a:ea typeface="Arial"/>
                          <a:cs typeface="Arial"/>
                        </a:rPr>
                        <a:t>M09–M10</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Delivery accuracy and timing; acquisition synchronization</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M11–M12</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Stop response; post-stop residual flow</a:t>
                      </a:r>
                    </a:p>
                  </a:txBody>
                  <a:tcPr marL="91440" marR="91440" marT="45720" marB="45720">
                    <a:solidFill>
                      <a:srgbClr val="EEF4F6"/>
                    </a:solidFill>
                  </a:tcPr>
                </a:tc>
              </a:tr>
              <a:tr h="590550">
                <a:tc>
                  <a:txBody>
                    <a:bodyPr>
                      <a:noAutofit/>
                    </a:bodyPr>
                    <a:lstStyle/>
                    <a:p>
                      <a:r>
                        <a:rPr sz="1725" b="0">
                          <a:solidFill>
                            <a:srgbClr val="132E40"/>
                          </a:solidFill>
                          <a:latin typeface="Arial"/>
                          <a:ea typeface="Arial"/>
                          <a:cs typeface="Arial"/>
                        </a:rPr>
                        <a:t>M13–M14</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Stop-path independence; nuisance alarms and misses</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M15–M16</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Restart and recovery; locked physical study and records</a:t>
                      </a:r>
                    </a:p>
                  </a:txBody>
                  <a:tcPr marL="91440" marR="91440" marT="45720" marB="45720">
                    <a:solidFill>
                      <a:srgbClr val="EEF4F6"/>
                    </a:solidFill>
                  </a:tcPr>
                </a:tc>
              </a:tr>
            </a:tbl>
          </a:graphicData>
        </a:graphic>
      </p:graphicFrame>
      <p:sp>
        <p:nvSpPr>
          <p:cNvPr id="5" name="pending">
            <a:extLst xmlns:a="http://schemas.openxmlformats.org/drawingml/2006/main">
              <a:ext uri="{FF2B5EF4-FFF2-40B4-BE49-F238E27FC236}">
                <a16:creationId xmlns:a16="http://schemas.microsoft.com/office/drawing/2014/main" id="{C80BBF61-592D-4D86-98B0-DB163F03EBE9}"/>
              </a:ext>
            </a:extLst>
          </p:cNvPr>
          <p:cNvSpPr>
            <a:spLocks xmlns:a="http://schemas.openxmlformats.org/drawingml/2006/main" noGrp="1"/>
          </p:cNvSpPr>
          <p:nvPr/>
        </p:nvSpPr>
        <p:spPr>
          <a:xfrm xmlns:a="http://schemas.openxmlformats.org/drawingml/2006/main">
            <a:off x="609600" y="6153150"/>
            <a:ext cx="10972800" cy="285750"/>
          </a:xfrm>
          <a:prstGeom xmlns:a="http://schemas.openxmlformats.org/drawingml/2006/main" prst="rect">
            <a:avLst/>
          </a:prstGeom>
          <a:solidFill xmlns:a="http://schemas.openxmlformats.org/drawingml/2006/main">
            <a:srgbClr val="FFF2CC"/>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6B4D00"/>
                </a:solidFill>
                <a:latin typeface="Arial"/>
                <a:ea typeface="Arial"/>
                <a:cs typeface="Arial"/>
              </a:defRPr>
            </a:pPr>
            <a:r>
              <a:rPr sz="1350" b="1">
                <a:solidFill>
                  <a:srgbClr val="6B4D00"/>
                </a:solidFill>
                <a:latin typeface="Arial"/>
                <a:ea typeface="Arial"/>
                <a:cs typeface="Arial"/>
              </a:rPr>
              <a:t>IIT Patna measurement pending</a:t>
            </a:r>
          </a:p>
        </p:txBody>
      </p:sp>
    </p:spTree>
    <p:extLst>
      <p:ext uri="{BB962C8B-B14F-4D97-AF65-F5344CB8AC3E}">
        <p14:creationId xmlns:p14="http://schemas.microsoft.com/office/powerpoint/2010/main" val="1730917760"/>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FFA45DEE-0D6A-48FE-B45B-CB1106ECD330}"/>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What can be claimed now</a:t>
            </a:r>
          </a:p>
        </p:txBody>
      </p:sp>
      <p:sp>
        <p:nvSpPr>
          <p:cNvPr id="2" name="section">
            <a:extLst xmlns:a="http://schemas.openxmlformats.org/drawingml/2006/main">
              <a:ext uri="{FF2B5EF4-FFF2-40B4-BE49-F238E27FC236}">
                <a16:creationId xmlns:a16="http://schemas.microsoft.com/office/drawing/2014/main" id="{E06391B7-CDD0-426D-BB84-E1E0F78563B4}"/>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CONCLUSION</a:t>
            </a:r>
          </a:p>
        </p:txBody>
      </p:sp>
      <p:sp>
        <p:nvSpPr>
          <p:cNvPr id="3" name="footer">
            <a:extLst xmlns:a="http://schemas.openxmlformats.org/drawingml/2006/main">
              <a:ext uri="{FF2B5EF4-FFF2-40B4-BE49-F238E27FC236}">
                <a16:creationId xmlns:a16="http://schemas.microsoft.com/office/drawing/2014/main" id="{5598E0FA-CF3C-4AEA-B1DC-EA401F8396A5}"/>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41 / 49</a:t>
            </a:r>
          </a:p>
        </p:txBody>
      </p:sp>
      <p:sp>
        <p:nvSpPr>
          <p:cNvPr id="4" name="body0">
            <a:extLst xmlns:a="http://schemas.openxmlformats.org/drawingml/2006/main">
              <a:ext uri="{FF2B5EF4-FFF2-40B4-BE49-F238E27FC236}">
                <a16:creationId xmlns:a16="http://schemas.microsoft.com/office/drawing/2014/main" id="{AA942A60-F985-41EF-971D-526FE5CE8452}"/>
              </a:ext>
            </a:extLst>
          </p:cNvPr>
          <p:cNvSpPr>
            <a:spLocks xmlns:a="http://schemas.openxmlformats.org/drawingml/2006/main" noGrp="1"/>
          </p:cNvSpPr>
          <p:nvPr/>
        </p:nvSpPr>
        <p:spPr>
          <a:xfrm xmlns:a="http://schemas.openxmlformats.org/drawingml/2006/main">
            <a:off x="685800" y="1866900"/>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32E40"/>
                </a:solidFill>
                <a:latin typeface="Arial"/>
                <a:ea typeface="Arial"/>
                <a:cs typeface="Arial"/>
              </a:defRPr>
            </a:pPr>
            <a:r>
              <a:rPr sz="2175" b="1">
                <a:solidFill>
                  <a:srgbClr val="132E40"/>
                </a:solidFill>
                <a:latin typeface="Arial"/>
                <a:ea typeface="Arial"/>
                <a:cs typeface="Arial"/>
              </a:rPr>
              <a:t>A reproducible simulation and methods contribution with explicit evidence boundaries.</a:t>
            </a:r>
          </a:p>
        </p:txBody>
      </p:sp>
      <p:sp>
        <p:nvSpPr>
          <p:cNvPr id="5" name="body1">
            <a:extLst xmlns:a="http://schemas.openxmlformats.org/drawingml/2006/main">
              <a:ext uri="{FF2B5EF4-FFF2-40B4-BE49-F238E27FC236}">
                <a16:creationId xmlns:a16="http://schemas.microsoft.com/office/drawing/2014/main" id="{AC6646E3-866F-4099-A283-9C5E348E2A85}"/>
              </a:ext>
            </a:extLst>
          </p:cNvPr>
          <p:cNvSpPr>
            <a:spLocks xmlns:a="http://schemas.openxmlformats.org/drawingml/2006/main" noGrp="1"/>
          </p:cNvSpPr>
          <p:nvPr/>
        </p:nvSpPr>
        <p:spPr>
          <a:xfrm xmlns:a="http://schemas.openxmlformats.org/drawingml/2006/main">
            <a:off x="685800" y="3019425"/>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06579"/>
                </a:solidFill>
                <a:latin typeface="Arial"/>
                <a:ea typeface="Arial"/>
                <a:cs typeface="Arial"/>
              </a:defRPr>
            </a:pPr>
            <a:r>
              <a:rPr sz="2175" b="0">
                <a:solidFill>
                  <a:srgbClr val="506579"/>
                </a:solidFill>
                <a:latin typeface="Arial"/>
                <a:ea typeface="Arial"/>
                <a:cs typeface="Arial"/>
              </a:rPr>
              <a:t>A corrected prediction comparison that favors simpler candidates on these records.</a:t>
            </a:r>
          </a:p>
        </p:txBody>
      </p:sp>
      <p:sp>
        <p:nvSpPr>
          <p:cNvPr id="6" name="body2">
            <a:extLst xmlns:a="http://schemas.openxmlformats.org/drawingml/2006/main">
              <a:ext uri="{FF2B5EF4-FFF2-40B4-BE49-F238E27FC236}">
                <a16:creationId xmlns:a16="http://schemas.microsoft.com/office/drawing/2014/main" id="{48F0A005-9FC5-45FB-BAE6-2C7D1BA00229}"/>
              </a:ext>
            </a:extLst>
          </p:cNvPr>
          <p:cNvSpPr>
            <a:spLocks xmlns:a="http://schemas.openxmlformats.org/drawingml/2006/main" noGrp="1"/>
          </p:cNvSpPr>
          <p:nvPr/>
        </p:nvSpPr>
        <p:spPr>
          <a:xfrm xmlns:a="http://schemas.openxmlformats.org/drawingml/2006/main">
            <a:off x="685800" y="4171950"/>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06579"/>
                </a:solidFill>
                <a:latin typeface="Arial"/>
                <a:ea typeface="Arial"/>
                <a:cs typeface="Arial"/>
              </a:defRPr>
            </a:pPr>
            <a:r>
              <a:rPr sz="2175" b="0">
                <a:solidFill>
                  <a:srgbClr val="506579"/>
                </a:solidFill>
                <a:latin typeface="Arial"/>
                <a:ea typeface="Arial"/>
                <a:cs typeface="Arial"/>
              </a:rPr>
              <a:t>A documented intervention tradeoff and a physical validation protocol ready for the team.</a:t>
            </a:r>
          </a:p>
        </p:txBody>
      </p:sp>
    </p:spTree>
    <p:extLst>
      <p:ext uri="{BB962C8B-B14F-4D97-AF65-F5344CB8AC3E}">
        <p14:creationId xmlns:p14="http://schemas.microsoft.com/office/powerpoint/2010/main" val="933918543"/>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EFA30693-8B91-4079-A381-34C44538751A}"/>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What remains before submission</a:t>
            </a:r>
          </a:p>
        </p:txBody>
      </p:sp>
      <p:sp>
        <p:nvSpPr>
          <p:cNvPr id="2" name="section">
            <a:extLst xmlns:a="http://schemas.openxmlformats.org/drawingml/2006/main">
              <a:ext uri="{FF2B5EF4-FFF2-40B4-BE49-F238E27FC236}">
                <a16:creationId xmlns:a16="http://schemas.microsoft.com/office/drawing/2014/main" id="{4D46BDDF-2039-49AA-98DB-4478BB4C302E}"/>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CONCLUSION</a:t>
            </a:r>
          </a:p>
        </p:txBody>
      </p:sp>
      <p:sp>
        <p:nvSpPr>
          <p:cNvPr id="3" name="footer">
            <a:extLst xmlns:a="http://schemas.openxmlformats.org/drawingml/2006/main">
              <a:ext uri="{FF2B5EF4-FFF2-40B4-BE49-F238E27FC236}">
                <a16:creationId xmlns:a16="http://schemas.microsoft.com/office/drawing/2014/main" id="{B570A9BD-6101-4721-B853-A8344FC56D7B}"/>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42 / 49</a:t>
            </a:r>
          </a:p>
        </p:txBody>
      </p:sp>
      <p:sp>
        <p:nvSpPr>
          <p:cNvPr id="4" name="body0">
            <a:extLst xmlns:a="http://schemas.openxmlformats.org/drawingml/2006/main">
              <a:ext uri="{FF2B5EF4-FFF2-40B4-BE49-F238E27FC236}">
                <a16:creationId xmlns:a16="http://schemas.microsoft.com/office/drawing/2014/main" id="{695CA4D2-5CBA-4827-BF20-0E773AD05CFF}"/>
              </a:ext>
            </a:extLst>
          </p:cNvPr>
          <p:cNvSpPr>
            <a:spLocks xmlns:a="http://schemas.openxmlformats.org/drawingml/2006/main" noGrp="1"/>
          </p:cNvSpPr>
          <p:nvPr/>
        </p:nvSpPr>
        <p:spPr>
          <a:xfrm xmlns:a="http://schemas.openxmlformats.org/drawingml/2006/main">
            <a:off x="685800" y="1866900"/>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32E40"/>
                </a:solidFill>
                <a:latin typeface="Arial"/>
                <a:ea typeface="Arial"/>
                <a:cs typeface="Arial"/>
              </a:defRPr>
            </a:pPr>
            <a:r>
              <a:rPr sz="2175" b="1">
                <a:solidFill>
                  <a:srgbClr val="132E40"/>
                </a:solidFill>
                <a:latin typeface="Arial"/>
                <a:ea typeface="Arial"/>
                <a:cs typeface="Arial"/>
              </a:rPr>
              <a:t>Authors must approve the claims, contributions, references and assistance disclosure.</a:t>
            </a:r>
          </a:p>
        </p:txBody>
      </p:sp>
      <p:sp>
        <p:nvSpPr>
          <p:cNvPr id="5" name="body1">
            <a:extLst xmlns:a="http://schemas.openxmlformats.org/drawingml/2006/main">
              <a:ext uri="{FF2B5EF4-FFF2-40B4-BE49-F238E27FC236}">
                <a16:creationId xmlns:a16="http://schemas.microsoft.com/office/drawing/2014/main" id="{792F4B79-7715-4B94-8ADF-4AFA02F085F2}"/>
              </a:ext>
            </a:extLst>
          </p:cNvPr>
          <p:cNvSpPr>
            <a:spLocks xmlns:a="http://schemas.openxmlformats.org/drawingml/2006/main" noGrp="1"/>
          </p:cNvSpPr>
          <p:nvPr/>
        </p:nvSpPr>
        <p:spPr>
          <a:xfrm xmlns:a="http://schemas.openxmlformats.org/drawingml/2006/main">
            <a:off x="685800" y="3019425"/>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06579"/>
                </a:solidFill>
                <a:latin typeface="Arial"/>
                <a:ea typeface="Arial"/>
                <a:cs typeface="Arial"/>
              </a:defRPr>
            </a:pPr>
            <a:r>
              <a:rPr sz="2175" b="0">
                <a:solidFill>
                  <a:srgbClr val="506579"/>
                </a:solidFill>
                <a:latin typeface="Arial"/>
                <a:ea typeface="Arial"/>
                <a:cs typeface="Arial"/>
              </a:rPr>
              <a:t>Choose the IEEE venue, then apply its exact scope, length and submission requirements.</a:t>
            </a:r>
          </a:p>
        </p:txBody>
      </p:sp>
      <p:sp>
        <p:nvSpPr>
          <p:cNvPr id="6" name="body2">
            <a:extLst xmlns:a="http://schemas.openxmlformats.org/drawingml/2006/main">
              <a:ext uri="{FF2B5EF4-FFF2-40B4-BE49-F238E27FC236}">
                <a16:creationId xmlns:a16="http://schemas.microsoft.com/office/drawing/2014/main" id="{CC93E9B8-7AB7-4345-833F-ACD432E8B146}"/>
              </a:ext>
            </a:extLst>
          </p:cNvPr>
          <p:cNvSpPr>
            <a:spLocks xmlns:a="http://schemas.openxmlformats.org/drawingml/2006/main" noGrp="1"/>
          </p:cNvSpPr>
          <p:nvPr/>
        </p:nvSpPr>
        <p:spPr>
          <a:xfrm xmlns:a="http://schemas.openxmlformats.org/drawingml/2006/main">
            <a:off x="685800" y="4171950"/>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06579"/>
                </a:solidFill>
                <a:latin typeface="Arial"/>
                <a:ea typeface="Arial"/>
                <a:cs typeface="Arial"/>
              </a:defRPr>
            </a:pPr>
            <a:r>
              <a:rPr sz="2175" b="0">
                <a:solidFill>
                  <a:srgbClr val="506579"/>
                </a:solidFill>
                <a:latin typeface="Arial"/>
                <a:ea typeface="Arial"/>
                <a:cs typeface="Arial"/>
              </a:rPr>
              <a:t>Physical measurement claims remain amber until IIT Patna supplies reviewed evidence.</a:t>
            </a:r>
          </a:p>
        </p:txBody>
      </p:sp>
    </p:spTree>
    <p:extLst>
      <p:ext uri="{BB962C8B-B14F-4D97-AF65-F5344CB8AC3E}">
        <p14:creationId xmlns:p14="http://schemas.microsoft.com/office/powerpoint/2010/main" val="372091277"/>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267C51F2-498E-4FBC-9914-3B5C4F6AE6F7}"/>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The research story</a:t>
            </a:r>
          </a:p>
        </p:txBody>
      </p:sp>
      <p:sp>
        <p:nvSpPr>
          <p:cNvPr id="2" name="section">
            <a:extLst xmlns:a="http://schemas.openxmlformats.org/drawingml/2006/main">
              <a:ext uri="{FF2B5EF4-FFF2-40B4-BE49-F238E27FC236}">
                <a16:creationId xmlns:a16="http://schemas.microsoft.com/office/drawing/2014/main" id="{5514A23B-18B1-4C44-9E3B-9DD9C80324A5}"/>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CONCLUSION</a:t>
            </a:r>
          </a:p>
        </p:txBody>
      </p:sp>
      <p:sp>
        <p:nvSpPr>
          <p:cNvPr id="3" name="footer">
            <a:extLst xmlns:a="http://schemas.openxmlformats.org/drawingml/2006/main">
              <a:ext uri="{FF2B5EF4-FFF2-40B4-BE49-F238E27FC236}">
                <a16:creationId xmlns:a16="http://schemas.microsoft.com/office/drawing/2014/main" id="{83AD5651-BB7A-4667-A8D9-A9BDA9A99445}"/>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43 / 49</a:t>
            </a:r>
          </a:p>
        </p:txBody>
      </p:sp>
      <p:sp>
        <p:nvSpPr>
          <p:cNvPr id="4" name="body0">
            <a:extLst xmlns:a="http://schemas.openxmlformats.org/drawingml/2006/main">
              <a:ext uri="{FF2B5EF4-FFF2-40B4-BE49-F238E27FC236}">
                <a16:creationId xmlns:a16="http://schemas.microsoft.com/office/drawing/2014/main" id="{A5AC7FAD-B11F-49A1-8F7D-EBB2AC81186A}"/>
              </a:ext>
            </a:extLst>
          </p:cNvPr>
          <p:cNvSpPr>
            <a:spLocks xmlns:a="http://schemas.openxmlformats.org/drawingml/2006/main" noGrp="1"/>
          </p:cNvSpPr>
          <p:nvPr/>
        </p:nvSpPr>
        <p:spPr>
          <a:xfrm xmlns:a="http://schemas.openxmlformats.org/drawingml/2006/main">
            <a:off x="685800" y="1866900"/>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32E40"/>
                </a:solidFill>
                <a:latin typeface="Arial"/>
                <a:ea typeface="Arial"/>
                <a:cs typeface="Arial"/>
              </a:defRPr>
            </a:pPr>
            <a:r>
              <a:rPr sz="2175" b="1">
                <a:solidFill>
                  <a:srgbClr val="132E40"/>
                </a:solidFill>
                <a:latin typeface="Arial"/>
                <a:ea typeface="Arial"/>
                <a:cs typeface="Arial"/>
              </a:rPr>
              <a:t>We asked whether a monitor can connect permission with credible delivery evidence.</a:t>
            </a:r>
          </a:p>
        </p:txBody>
      </p:sp>
      <p:sp>
        <p:nvSpPr>
          <p:cNvPr id="5" name="body1">
            <a:extLst xmlns:a="http://schemas.openxmlformats.org/drawingml/2006/main">
              <a:ext uri="{FF2B5EF4-FFF2-40B4-BE49-F238E27FC236}">
                <a16:creationId xmlns:a16="http://schemas.microsoft.com/office/drawing/2014/main" id="{67CF5B00-5084-4F2F-9818-FD6F83388AED}"/>
              </a:ext>
            </a:extLst>
          </p:cNvPr>
          <p:cNvSpPr>
            <a:spLocks xmlns:a="http://schemas.openxmlformats.org/drawingml/2006/main" noGrp="1"/>
          </p:cNvSpPr>
          <p:nvPr/>
        </p:nvSpPr>
        <p:spPr>
          <a:xfrm xmlns:a="http://schemas.openxmlformats.org/drawingml/2006/main">
            <a:off x="685800" y="3019425"/>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06579"/>
                </a:solidFill>
                <a:latin typeface="Arial"/>
                <a:ea typeface="Arial"/>
                <a:cs typeface="Arial"/>
              </a:defRPr>
            </a:pPr>
            <a:r>
              <a:rPr sz="2175" b="0">
                <a:solidFill>
                  <a:srgbClr val="506579"/>
                </a:solidFill>
                <a:latin typeface="Arial"/>
                <a:ea typeface="Arial"/>
                <a:cs typeface="Arial"/>
              </a:rPr>
              <a:t>We repaired the testable implementation and challenged it against simpler alternatives.</a:t>
            </a:r>
          </a:p>
        </p:txBody>
      </p:sp>
      <p:sp>
        <p:nvSpPr>
          <p:cNvPr id="6" name="body2">
            <a:extLst xmlns:a="http://schemas.openxmlformats.org/drawingml/2006/main">
              <a:ext uri="{FF2B5EF4-FFF2-40B4-BE49-F238E27FC236}">
                <a16:creationId xmlns:a16="http://schemas.microsoft.com/office/drawing/2014/main" id="{966D1A6A-DC13-47A3-BABB-A31130CC0D48}"/>
              </a:ext>
            </a:extLst>
          </p:cNvPr>
          <p:cNvSpPr>
            <a:spLocks xmlns:a="http://schemas.openxmlformats.org/drawingml/2006/main" noGrp="1"/>
          </p:cNvSpPr>
          <p:nvPr/>
        </p:nvSpPr>
        <p:spPr>
          <a:xfrm xmlns:a="http://schemas.openxmlformats.org/drawingml/2006/main">
            <a:off x="685800" y="4171950"/>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06579"/>
                </a:solidFill>
                <a:latin typeface="Arial"/>
                <a:ea typeface="Arial"/>
                <a:cs typeface="Arial"/>
              </a:defRPr>
            </a:pPr>
            <a:r>
              <a:rPr sz="2175" b="0">
                <a:solidFill>
                  <a:srgbClr val="506579"/>
                </a:solidFill>
                <a:latin typeface="Arial"/>
                <a:ea typeface="Arial"/>
                <a:cs typeface="Arial"/>
              </a:rPr>
              <a:t>The strongest result is a transparent method, a bounded claim and a concrete next experiment.</a:t>
            </a:r>
          </a:p>
        </p:txBody>
      </p:sp>
    </p:spTree>
    <p:extLst>
      <p:ext uri="{BB962C8B-B14F-4D97-AF65-F5344CB8AC3E}">
        <p14:creationId xmlns:p14="http://schemas.microsoft.com/office/powerpoint/2010/main" val="2136515260"/>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C584F09-A5B9-4C8B-BE27-F5F27DF69124}"/>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Technical: prediction and calibration</a:t>
            </a:r>
          </a:p>
        </p:txBody>
      </p:sp>
      <p:sp>
        <p:nvSpPr>
          <p:cNvPr id="2" name="section">
            <a:extLst xmlns:a="http://schemas.openxmlformats.org/drawingml/2006/main">
              <a:ext uri="{FF2B5EF4-FFF2-40B4-BE49-F238E27FC236}">
                <a16:creationId xmlns:a16="http://schemas.microsoft.com/office/drawing/2014/main" id="{830A9E1D-17DD-4495-BD0A-DD11BC48F296}"/>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TECHNICAL APPENDIX</a:t>
            </a:r>
          </a:p>
        </p:txBody>
      </p:sp>
      <p:sp>
        <p:nvSpPr>
          <p:cNvPr id="3" name="footer">
            <a:extLst xmlns:a="http://schemas.openxmlformats.org/drawingml/2006/main">
              <a:ext uri="{FF2B5EF4-FFF2-40B4-BE49-F238E27FC236}">
                <a16:creationId xmlns:a16="http://schemas.microsoft.com/office/drawing/2014/main" id="{1413191A-A065-4DCA-8AEE-1E98265514CE}"/>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44 / 49</a:t>
            </a:r>
          </a:p>
        </p:txBody>
      </p:sp>
      <p:graphicFrame>
        <p:nvGraphicFramePr>
          <p:cNvPr id="8" name=""/>
          <p:cNvGraphicFramePr/>
          <p:nvPr/>
        </p:nvGraphicFramePr>
        <p:xfrm>
          <a:off xmlns:a="http://schemas.openxmlformats.org/drawingml/2006/main" x="685800" y="1743075"/>
          <a:ext xmlns:a="http://schemas.openxmlformats.org/drawingml/2006/main" cx="10820400" cy="3543300"/>
        </p:xfrm>
        <a:graphic xmlns:a="http://schemas.openxmlformats.org/drawingml/2006/main">
          <a:graphicData uri="http://schemas.openxmlformats.org/drawingml/2006/table">
            <a:tbl>
              <a:tblPr/>
              <a:tblGrid>
                <a:gridCol w="3143250"/>
                <a:gridCol w="7677150"/>
              </a:tblGrid>
              <a:tr h="590550">
                <a:tc>
                  <a:txBody>
                    <a:bodyPr>
                      <a:noAutofit/>
                    </a:bodyPr>
                    <a:lstStyle/>
                    <a:p>
                      <a:r>
                        <a:rPr sz="1725" b="1">
                          <a:solidFill>
                            <a:srgbClr val="FFFFFF"/>
                          </a:solidFill>
                          <a:latin typeface="Arial"/>
                          <a:ea typeface="Arial"/>
                          <a:cs typeface="Arial"/>
                        </a:rPr>
                        <a:t>Item</a:t>
                      </a:r>
                    </a:p>
                  </a:txBody>
                  <a:tcPr marL="91440" marR="91440" marT="45720" marB="45720">
                    <a:solidFill>
                      <a:srgbClr val="132E40"/>
                    </a:solidFill>
                  </a:tcPr>
                </a:tc>
                <a:tc>
                  <a:txBody>
                    <a:bodyPr>
                      <a:noAutofit/>
                    </a:bodyPr>
                    <a:lstStyle/>
                    <a:p>
                      <a:r>
                        <a:rPr sz="1725" b="1">
                          <a:solidFill>
                            <a:srgbClr val="FFFFFF"/>
                          </a:solidFill>
                          <a:latin typeface="Arial"/>
                          <a:ea typeface="Arial"/>
                          <a:cs typeface="Arial"/>
                        </a:rPr>
                        <a:t>Definition or limit</a:t>
                      </a:r>
                    </a:p>
                  </a:txBody>
                  <a:tcPr marL="91440" marR="91440" marT="45720" marB="45720">
                    <a:solidFill>
                      <a:srgbClr val="132E40"/>
                    </a:solidFill>
                  </a:tcPr>
                </a:tc>
              </a:tr>
              <a:tr h="590550">
                <a:tc>
                  <a:txBody>
                    <a:bodyPr>
                      <a:noAutofit/>
                    </a:bodyPr>
                    <a:lstStyle/>
                    <a:p>
                      <a:r>
                        <a:rPr sz="1725" b="0">
                          <a:solidFill>
                            <a:srgbClr val="132E40"/>
                          </a:solidFill>
                          <a:latin typeface="Arial"/>
                          <a:ea typeface="Arial"/>
                          <a:cs typeface="Arial"/>
                        </a:rPr>
                        <a:t>Innovation normalization</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Inflation scales alarm normalization, not nominal measurement covariance</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Forecast candidates</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Mechanistic, persistence, bounded causal trend</a:t>
                      </a:r>
                    </a:p>
                  </a:txBody>
                  <a:tcPr marL="91440" marR="91440" marT="45720" marB="45720">
                    <a:solidFill>
                      <a:srgbClr val="EEF4F6"/>
                    </a:solidFill>
                  </a:tcPr>
                </a:tc>
              </a:tr>
              <a:tr h="590550">
                <a:tc>
                  <a:txBody>
                    <a:bodyPr>
                      <a:noAutofit/>
                    </a:bodyPr>
                    <a:lstStyle/>
                    <a:p>
                      <a:r>
                        <a:rPr sz="1725" b="0">
                          <a:solidFill>
                            <a:srgbClr val="132E40"/>
                          </a:solidFill>
                          <a:latin typeface="Arial"/>
                          <a:ea typeface="Arial"/>
                          <a:cs typeface="Arial"/>
                        </a:rPr>
                        <a:t>Gap handling</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Filter memory reset after prolonged missing observations</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Coverage</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Empirical symmetric ±1.96-scale coverage; participant range</a:t>
                      </a:r>
                    </a:p>
                  </a:txBody>
                  <a:tcPr marL="91440" marR="91440" marT="45720" marB="45720">
                    <a:solidFill>
                      <a:srgbClr val="EEF4F6"/>
                    </a:solidFill>
                  </a:tcPr>
                </a:tc>
              </a:tr>
              <a:tr h="590550">
                <a:tc>
                  <a:txBody>
                    <a:bodyPr>
                      <a:noAutofit/>
                    </a:bodyPr>
                    <a:lstStyle/>
                    <a:p>
                      <a:r>
                        <a:rPr sz="1725" b="0">
                          <a:solidFill>
                            <a:srgbClr val="132E40"/>
                          </a:solidFill>
                          <a:latin typeface="Arial"/>
                          <a:ea typeface="Arial"/>
                          <a:cs typeface="Arial"/>
                        </a:rPr>
                        <a:t>Optimization</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Bounded fit; near-bound solutions are not identifiability evidence</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715429661"/>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0828794-D28B-4B0A-91B3-E1FE55BF6313}"/>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Technical: model assumptions</a:t>
            </a:r>
          </a:p>
        </p:txBody>
      </p:sp>
      <p:sp>
        <p:nvSpPr>
          <p:cNvPr id="2" name="section">
            <a:extLst xmlns:a="http://schemas.openxmlformats.org/drawingml/2006/main">
              <a:ext uri="{FF2B5EF4-FFF2-40B4-BE49-F238E27FC236}">
                <a16:creationId xmlns:a16="http://schemas.microsoft.com/office/drawing/2014/main" id="{4F1C19EF-6EA6-45AB-B3E2-7823F17D2DE3}"/>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TECHNICAL APPENDIX</a:t>
            </a:r>
          </a:p>
        </p:txBody>
      </p:sp>
      <p:sp>
        <p:nvSpPr>
          <p:cNvPr id="3" name="footer">
            <a:extLst xmlns:a="http://schemas.openxmlformats.org/drawingml/2006/main">
              <a:ext uri="{FF2B5EF4-FFF2-40B4-BE49-F238E27FC236}">
                <a16:creationId xmlns:a16="http://schemas.microsoft.com/office/drawing/2014/main" id="{E8049256-89FB-40DF-A88D-5586FFD70A67}"/>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45 / 49</a:t>
            </a:r>
          </a:p>
        </p:txBody>
      </p:sp>
      <p:graphicFrame>
        <p:nvGraphicFramePr>
          <p:cNvPr id="8" name=""/>
          <p:cNvGraphicFramePr/>
          <p:nvPr/>
        </p:nvGraphicFramePr>
        <p:xfrm>
          <a:off xmlns:a="http://schemas.openxmlformats.org/drawingml/2006/main" x="685800" y="1743075"/>
          <a:ext xmlns:a="http://schemas.openxmlformats.org/drawingml/2006/main" cx="10820400" cy="3543300"/>
        </p:xfrm>
        <a:graphic xmlns:a="http://schemas.openxmlformats.org/drawingml/2006/main">
          <a:graphicData uri="http://schemas.openxmlformats.org/drawingml/2006/table">
            <a:tbl>
              <a:tblPr/>
              <a:tblGrid>
                <a:gridCol w="3143250"/>
                <a:gridCol w="7677150"/>
              </a:tblGrid>
              <a:tr h="590550">
                <a:tc>
                  <a:txBody>
                    <a:bodyPr>
                      <a:noAutofit/>
                    </a:bodyPr>
                    <a:lstStyle/>
                    <a:p>
                      <a:r>
                        <a:rPr sz="1725" b="1">
                          <a:solidFill>
                            <a:srgbClr val="FFFFFF"/>
                          </a:solidFill>
                          <a:latin typeface="Arial"/>
                          <a:ea typeface="Arial"/>
                          <a:cs typeface="Arial"/>
                        </a:rPr>
                        <a:t>Item</a:t>
                      </a:r>
                    </a:p>
                  </a:txBody>
                  <a:tcPr marL="91440" marR="91440" marT="45720" marB="45720">
                    <a:solidFill>
                      <a:srgbClr val="132E40"/>
                    </a:solidFill>
                  </a:tcPr>
                </a:tc>
                <a:tc>
                  <a:txBody>
                    <a:bodyPr>
                      <a:noAutofit/>
                    </a:bodyPr>
                    <a:lstStyle/>
                    <a:p>
                      <a:r>
                        <a:rPr sz="1725" b="1">
                          <a:solidFill>
                            <a:srgbClr val="FFFFFF"/>
                          </a:solidFill>
                          <a:latin typeface="Arial"/>
                          <a:ea typeface="Arial"/>
                          <a:cs typeface="Arial"/>
                        </a:rPr>
                        <a:t>Frozen illustrative value</a:t>
                      </a:r>
                    </a:p>
                  </a:txBody>
                  <a:tcPr marL="91440" marR="91440" marT="45720" marB="45720">
                    <a:solidFill>
                      <a:srgbClr val="132E40"/>
                    </a:solidFill>
                  </a:tcPr>
                </a:tc>
              </a:tr>
              <a:tr h="590550">
                <a:tc>
                  <a:txBody>
                    <a:bodyPr>
                      <a:noAutofit/>
                    </a:bodyPr>
                    <a:lstStyle/>
                    <a:p>
                      <a:r>
                        <a:rPr sz="1725" b="0">
                          <a:solidFill>
                            <a:srgbClr val="132E40"/>
                          </a:solidFill>
                          <a:latin typeface="Arial"/>
                          <a:ea typeface="Arial"/>
                          <a:cs typeface="Arial"/>
                        </a:rPr>
                        <a:t>Sampling and horizon</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5 min; 576 intervals over 48 h</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Dose-to-mass mapping</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0.1005 g per research U</a:t>
                      </a:r>
                    </a:p>
                  </a:txBody>
                  <a:tcPr marL="91440" marR="91440" marT="45720" marB="45720">
                    <a:solidFill>
                      <a:srgbClr val="EEF4F6"/>
                    </a:solidFill>
                  </a:tcPr>
                </a:tc>
              </a:tr>
              <a:tr h="590550">
                <a:tc>
                  <a:txBody>
                    <a:bodyPr>
                      <a:noAutofit/>
                    </a:bodyPr>
                    <a:lstStyle/>
                    <a:p>
                      <a:r>
                        <a:rPr sz="1725" b="0">
                          <a:solidFill>
                            <a:srgbClr val="132E40"/>
                          </a:solidFill>
                          <a:latin typeface="Arial"/>
                          <a:ea typeface="Arial"/>
                          <a:cs typeface="Arial"/>
                        </a:rPr>
                        <a:t>Actuator</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200 steps/U; gain 1.015; positive-command dribble 0.0015 g</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Balance</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0.01 g quantization; median of 5; 0.003 g sample noise</a:t>
                      </a:r>
                    </a:p>
                  </a:txBody>
                  <a:tcPr marL="91440" marR="91440" marT="45720" marB="45720">
                    <a:solidFill>
                      <a:srgbClr val="EEF4F6"/>
                    </a:solidFill>
                  </a:tcPr>
                </a:tc>
              </a:tr>
              <a:tr h="590550">
                <a:tc>
                  <a:txBody>
                    <a:bodyPr>
                      <a:noAutofit/>
                    </a:bodyPr>
                    <a:lstStyle/>
                    <a:p>
                      <a:r>
                        <a:rPr sz="1725" b="0">
                          <a:solidFill>
                            <a:srgbClr val="132E40"/>
                          </a:solidFill>
                          <a:latin typeface="Arial"/>
                          <a:ea typeface="Arial"/>
                          <a:cs typeface="Arial"/>
                        </a:rPr>
                        <a:t>Mass residual scale</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0.0051435068 g; supplied numerical calibration</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030796103"/>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A0389B2-AF46-4AD5-A3C0-C148E87F88E7}"/>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Technical: uncertainty and pairing</a:t>
            </a:r>
          </a:p>
        </p:txBody>
      </p:sp>
      <p:sp>
        <p:nvSpPr>
          <p:cNvPr id="2" name="section">
            <a:extLst xmlns:a="http://schemas.openxmlformats.org/drawingml/2006/main">
              <a:ext uri="{FF2B5EF4-FFF2-40B4-BE49-F238E27FC236}">
                <a16:creationId xmlns:a16="http://schemas.microsoft.com/office/drawing/2014/main" id="{91E9DCDF-0104-4CF8-BD7F-40A74EF60A19}"/>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TECHNICAL APPENDIX</a:t>
            </a:r>
          </a:p>
        </p:txBody>
      </p:sp>
      <p:sp>
        <p:nvSpPr>
          <p:cNvPr id="3" name="footer">
            <a:extLst xmlns:a="http://schemas.openxmlformats.org/drawingml/2006/main">
              <a:ext uri="{FF2B5EF4-FFF2-40B4-BE49-F238E27FC236}">
                <a16:creationId xmlns:a16="http://schemas.microsoft.com/office/drawing/2014/main" id="{085608BA-2161-4711-B361-E2F43D8C6E0D}"/>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46 / 49</a:t>
            </a:r>
          </a:p>
        </p:txBody>
      </p:sp>
      <p:graphicFrame>
        <p:nvGraphicFramePr>
          <p:cNvPr id="8" name=""/>
          <p:cNvGraphicFramePr/>
          <p:nvPr/>
        </p:nvGraphicFramePr>
        <p:xfrm>
          <a:off xmlns:a="http://schemas.openxmlformats.org/drawingml/2006/main" x="685800" y="1743075"/>
          <a:ext xmlns:a="http://schemas.openxmlformats.org/drawingml/2006/main" cx="10820400" cy="3543300"/>
        </p:xfrm>
        <a:graphic xmlns:a="http://schemas.openxmlformats.org/drawingml/2006/main">
          <a:graphicData uri="http://schemas.openxmlformats.org/drawingml/2006/table">
            <a:tbl>
              <a:tblPr/>
              <a:tblGrid>
                <a:gridCol w="3143250"/>
                <a:gridCol w="7677150"/>
              </a:tblGrid>
              <a:tr h="590550">
                <a:tc>
                  <a:txBody>
                    <a:bodyPr>
                      <a:noAutofit/>
                    </a:bodyPr>
                    <a:lstStyle/>
                    <a:p>
                      <a:r>
                        <a:rPr sz="1725" b="1">
                          <a:solidFill>
                            <a:srgbClr val="FFFFFF"/>
                          </a:solidFill>
                          <a:latin typeface="Arial"/>
                          <a:ea typeface="Arial"/>
                          <a:cs typeface="Arial"/>
                        </a:rPr>
                        <a:t>Analysis</a:t>
                      </a:r>
                    </a:p>
                  </a:txBody>
                  <a:tcPr marL="91440" marR="91440" marT="45720" marB="45720">
                    <a:solidFill>
                      <a:srgbClr val="132E40"/>
                    </a:solidFill>
                  </a:tcPr>
                </a:tc>
                <a:tc>
                  <a:txBody>
                    <a:bodyPr>
                      <a:noAutofit/>
                    </a:bodyPr>
                    <a:lstStyle/>
                    <a:p>
                      <a:r>
                        <a:rPr sz="1725" b="1">
                          <a:solidFill>
                            <a:srgbClr val="FFFFFF"/>
                          </a:solidFill>
                          <a:latin typeface="Arial"/>
                          <a:ea typeface="Arial"/>
                          <a:cs typeface="Arial"/>
                        </a:rPr>
                        <a:t>Unit and meaning</a:t>
                      </a:r>
                    </a:p>
                  </a:txBody>
                  <a:tcPr marL="91440" marR="91440" marT="45720" marB="45720">
                    <a:solidFill>
                      <a:srgbClr val="132E40"/>
                    </a:solidFill>
                  </a:tcPr>
                </a:tc>
              </a:tr>
              <a:tr h="590550">
                <a:tc>
                  <a:txBody>
                    <a:bodyPr>
                      <a:noAutofit/>
                    </a:bodyPr>
                    <a:lstStyle/>
                    <a:p>
                      <a:r>
                        <a:rPr sz="1725" b="0">
                          <a:solidFill>
                            <a:srgbClr val="132E40"/>
                          </a:solidFill>
                          <a:latin typeface="Arial"/>
                          <a:ea typeface="Arial"/>
                          <a:cs typeface="Arial"/>
                        </a:rPr>
                        <a:t>Forecast contrast</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Participant paired difference; 10,000 bootstrap resamples</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Intervention contrast</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Parameter-vector mean over paired seeds; vector bootstrap</a:t>
                      </a:r>
                    </a:p>
                  </a:txBody>
                  <a:tcPr marL="91440" marR="91440" marT="45720" marB="45720">
                    <a:solidFill>
                      <a:srgbClr val="EEF4F6"/>
                    </a:solidFill>
                  </a:tcPr>
                </a:tc>
              </a:tr>
              <a:tr h="590550">
                <a:tc>
                  <a:txBody>
                    <a:bodyPr>
                      <a:noAutofit/>
                    </a:bodyPr>
                    <a:lstStyle/>
                    <a:p>
                      <a:r>
                        <a:rPr sz="1725" b="0">
                          <a:solidFill>
                            <a:srgbClr val="132E40"/>
                          </a:solidFill>
                          <a:latin typeface="Arial"/>
                          <a:ea typeface="Arial"/>
                          <a:cs typeface="Arial"/>
                        </a:rPr>
                        <a:t>Clean comparison</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Shared request tape and clean reference emission</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Recovery censoring</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Reported separately; failed recovery is not a finite time</a:t>
                      </a:r>
                    </a:p>
                  </a:txBody>
                  <a:tcPr marL="91440" marR="91440" marT="45720" marB="45720">
                    <a:solidFill>
                      <a:srgbClr val="EEF4F6"/>
                    </a:solidFill>
                  </a:tcPr>
                </a:tc>
              </a:tr>
              <a:tr h="590550">
                <a:tc>
                  <a:txBody>
                    <a:bodyPr>
                      <a:noAutofit/>
                    </a:bodyPr>
                    <a:lstStyle/>
                    <a:p>
                      <a:r>
                        <a:rPr sz="1725" b="0">
                          <a:solidFill>
                            <a:srgbClr val="132E40"/>
                          </a:solidFill>
                          <a:latin typeface="Arial"/>
                          <a:ea typeface="Arial"/>
                          <a:cs typeface="Arial"/>
                        </a:rPr>
                        <a:t>Multiplicity</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Descriptive contrasts; no universal superiority conclusion</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920188122"/>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5C21E33-47D4-41A9-B0FA-3D051D4B4DA8}"/>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Technical: prior work and distinction</a:t>
            </a:r>
          </a:p>
        </p:txBody>
      </p:sp>
      <p:sp>
        <p:nvSpPr>
          <p:cNvPr id="2" name="section">
            <a:extLst xmlns:a="http://schemas.openxmlformats.org/drawingml/2006/main">
              <a:ext uri="{FF2B5EF4-FFF2-40B4-BE49-F238E27FC236}">
                <a16:creationId xmlns:a16="http://schemas.microsoft.com/office/drawing/2014/main" id="{03ECD911-6D99-47A9-BDE8-108D8CCC06BF}"/>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TECHNICAL APPENDIX</a:t>
            </a:r>
          </a:p>
        </p:txBody>
      </p:sp>
      <p:sp>
        <p:nvSpPr>
          <p:cNvPr id="3" name="footer">
            <a:extLst xmlns:a="http://schemas.openxmlformats.org/drawingml/2006/main">
              <a:ext uri="{FF2B5EF4-FFF2-40B4-BE49-F238E27FC236}">
                <a16:creationId xmlns:a16="http://schemas.microsoft.com/office/drawing/2014/main" id="{9C67199C-7C71-43E8-9182-AB6891535C3F}"/>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47 / 49</a:t>
            </a:r>
          </a:p>
        </p:txBody>
      </p:sp>
      <p:graphicFrame>
        <p:nvGraphicFramePr>
          <p:cNvPr id="8" name=""/>
          <p:cNvGraphicFramePr/>
          <p:nvPr/>
        </p:nvGraphicFramePr>
        <p:xfrm>
          <a:off xmlns:a="http://schemas.openxmlformats.org/drawingml/2006/main" x="685800" y="1743075"/>
          <a:ext xmlns:a="http://schemas.openxmlformats.org/drawingml/2006/main" cx="10820400" cy="2952750"/>
        </p:xfrm>
        <a:graphic xmlns:a="http://schemas.openxmlformats.org/drawingml/2006/main">
          <a:graphicData uri="http://schemas.openxmlformats.org/drawingml/2006/table">
            <a:tbl>
              <a:tblPr/>
              <a:tblGrid>
                <a:gridCol w="3238500"/>
                <a:gridCol w="3810000"/>
                <a:gridCol w="3771900"/>
              </a:tblGrid>
              <a:tr h="590550">
                <a:tc>
                  <a:txBody>
                    <a:bodyPr>
                      <a:noAutofit/>
                    </a:bodyPr>
                    <a:lstStyle/>
                    <a:p>
                      <a:r>
                        <a:rPr sz="1725" b="1">
                          <a:solidFill>
                            <a:srgbClr val="FFFFFF"/>
                          </a:solidFill>
                          <a:latin typeface="Arial"/>
                          <a:ea typeface="Arial"/>
                          <a:cs typeface="Arial"/>
                        </a:rPr>
                        <a:t>Source family</a:t>
                      </a:r>
                    </a:p>
                  </a:txBody>
                  <a:tcPr marL="91440" marR="91440" marT="45720" marB="45720">
                    <a:solidFill>
                      <a:srgbClr val="132E40"/>
                    </a:solidFill>
                  </a:tcPr>
                </a:tc>
                <a:tc>
                  <a:txBody>
                    <a:bodyPr>
                      <a:noAutofit/>
                    </a:bodyPr>
                    <a:lstStyle/>
                    <a:p>
                      <a:r>
                        <a:rPr sz="1725" b="1">
                          <a:solidFill>
                            <a:srgbClr val="FFFFFF"/>
                          </a:solidFill>
                          <a:latin typeface="Arial"/>
                          <a:ea typeface="Arial"/>
                          <a:cs typeface="Arial"/>
                        </a:rPr>
                        <a:t>What it contributes</a:t>
                      </a:r>
                    </a:p>
                  </a:txBody>
                  <a:tcPr marL="91440" marR="91440" marT="45720" marB="45720">
                    <a:solidFill>
                      <a:srgbClr val="132E40"/>
                    </a:solidFill>
                  </a:tcPr>
                </a:tc>
                <a:tc>
                  <a:txBody>
                    <a:bodyPr>
                      <a:noAutofit/>
                    </a:bodyPr>
                    <a:lstStyle/>
                    <a:p>
                      <a:r>
                        <a:rPr sz="1725" b="1">
                          <a:solidFill>
                            <a:srgbClr val="FFFFFF"/>
                          </a:solidFill>
                          <a:latin typeface="Arial"/>
                          <a:ea typeface="Arial"/>
                          <a:cs typeface="Arial"/>
                        </a:rPr>
                        <a:t>GECOv6 boundary</a:t>
                      </a:r>
                    </a:p>
                  </a:txBody>
                  <a:tcPr marL="91440" marR="91440" marT="45720" marB="45720">
                    <a:solidFill>
                      <a:srgbClr val="132E40"/>
                    </a:solidFill>
                  </a:tcPr>
                </a:tc>
              </a:tr>
              <a:tr h="590550">
                <a:tc>
                  <a:txBody>
                    <a:bodyPr>
                      <a:noAutofit/>
                    </a:bodyPr>
                    <a:lstStyle/>
                    <a:p>
                      <a:r>
                        <a:rPr sz="1725" b="0">
                          <a:solidFill>
                            <a:srgbClr val="132E40"/>
                          </a:solidFill>
                          <a:latin typeface="Arial"/>
                          <a:ea typeface="Arial"/>
                          <a:cs typeface="Arial"/>
                        </a:rPr>
                        <a:t>GlucOS; KnowSafe</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Safety monitoring and runtime decisions</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No first-monitor claim</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Hovorka 2004; prediction literature</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Physiology and forecasting context</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Not clinical model validation</a:t>
                      </a:r>
                    </a:p>
                  </a:txBody>
                  <a:tcPr marL="91440" marR="91440" marT="45720" marB="45720">
                    <a:solidFill>
                      <a:srgbClr val="EEF4F6"/>
                    </a:solidFill>
                  </a:tcPr>
                </a:tc>
              </a:tr>
              <a:tr h="590550">
                <a:tc>
                  <a:txBody>
                    <a:bodyPr>
                      <a:noAutofit/>
                    </a:bodyPr>
                    <a:lstStyle/>
                    <a:p>
                      <a:r>
                        <a:rPr sz="1725" b="0">
                          <a:solidFill>
                            <a:srgbClr val="132E40"/>
                          </a:solidFill>
                          <a:latin typeface="Arial"/>
                          <a:ea typeface="Arial"/>
                          <a:cs typeface="Arial"/>
                        </a:rPr>
                        <a:t>Gravimetric pump metrology</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Measurement and uncertainty methods</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No transferred instrument accuracy</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IEEE author guidance</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Format and assistance disclosure</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No acceptance or affiliation claim</a:t>
                      </a:r>
                    </a:p>
                  </a:txBody>
                  <a:tcPr marL="91440" marR="91440" marT="45720" marB="45720">
                    <a:solidFill>
                      <a:srgbClr val="EEF4F6"/>
                    </a:solidFill>
                  </a:tcPr>
                </a:tc>
              </a:tr>
            </a:tbl>
          </a:graphicData>
        </a:graphic>
      </p:graphicFrame>
    </p:spTree>
    <p:extLst>
      <p:ext uri="{BB962C8B-B14F-4D97-AF65-F5344CB8AC3E}">
        <p14:creationId xmlns:p14="http://schemas.microsoft.com/office/powerpoint/2010/main" val="58865936"/>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3C929674-7DE7-4FE5-AAD9-A6D75FFCB4EB}"/>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Technical: originality and provenance</a:t>
            </a:r>
          </a:p>
        </p:txBody>
      </p:sp>
      <p:sp>
        <p:nvSpPr>
          <p:cNvPr id="2" name="section">
            <a:extLst xmlns:a="http://schemas.openxmlformats.org/drawingml/2006/main">
              <a:ext uri="{FF2B5EF4-FFF2-40B4-BE49-F238E27FC236}">
                <a16:creationId xmlns:a16="http://schemas.microsoft.com/office/drawing/2014/main" id="{53692966-2A06-4D0D-958F-DBE8317B7552}"/>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TECHNICAL APPENDIX</a:t>
            </a:r>
          </a:p>
        </p:txBody>
      </p:sp>
      <p:sp>
        <p:nvSpPr>
          <p:cNvPr id="3" name="footer">
            <a:extLst xmlns:a="http://schemas.openxmlformats.org/drawingml/2006/main">
              <a:ext uri="{FF2B5EF4-FFF2-40B4-BE49-F238E27FC236}">
                <a16:creationId xmlns:a16="http://schemas.microsoft.com/office/drawing/2014/main" id="{E8F2D0E9-3DE8-4EC3-AA06-E2EEBB0D13A3}"/>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48 / 49</a:t>
            </a:r>
          </a:p>
        </p:txBody>
      </p:sp>
      <p:sp>
        <p:nvSpPr>
          <p:cNvPr id="4" name="body0">
            <a:extLst xmlns:a="http://schemas.openxmlformats.org/drawingml/2006/main">
              <a:ext uri="{FF2B5EF4-FFF2-40B4-BE49-F238E27FC236}">
                <a16:creationId xmlns:a16="http://schemas.microsoft.com/office/drawing/2014/main" id="{9FFB9109-E492-4755-ACA7-93531CAABC8B}"/>
              </a:ext>
            </a:extLst>
          </p:cNvPr>
          <p:cNvSpPr>
            <a:spLocks xmlns:a="http://schemas.openxmlformats.org/drawingml/2006/main" noGrp="1"/>
          </p:cNvSpPr>
          <p:nvPr/>
        </p:nvSpPr>
        <p:spPr>
          <a:xfrm xmlns:a="http://schemas.openxmlformats.org/drawingml/2006/main">
            <a:off x="685800" y="1866900"/>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32E40"/>
                </a:solidFill>
                <a:latin typeface="Arial"/>
                <a:ea typeface="Arial"/>
                <a:cs typeface="Arial"/>
              </a:defRPr>
            </a:pPr>
            <a:r>
              <a:rPr sz="2175" b="1">
                <a:solidFill>
                  <a:srgbClr val="132E40"/>
                </a:solidFill>
                <a:latin typeface="Arial"/>
                <a:ea typeface="Arial"/>
                <a:cs typeface="Arial"/>
              </a:rPr>
              <a:t>Scientific review precedes writing and similarity diagnostics.</a:t>
            </a:r>
          </a:p>
        </p:txBody>
      </p:sp>
      <p:sp>
        <p:nvSpPr>
          <p:cNvPr id="5" name="body1">
            <a:extLst xmlns:a="http://schemas.openxmlformats.org/drawingml/2006/main">
              <a:ext uri="{FF2B5EF4-FFF2-40B4-BE49-F238E27FC236}">
                <a16:creationId xmlns:a16="http://schemas.microsoft.com/office/drawing/2014/main" id="{D03071D7-4F5A-42F4-8049-6411513099FE}"/>
              </a:ext>
            </a:extLst>
          </p:cNvPr>
          <p:cNvSpPr>
            <a:spLocks xmlns:a="http://schemas.openxmlformats.org/drawingml/2006/main" noGrp="1"/>
          </p:cNvSpPr>
          <p:nvPr/>
        </p:nvSpPr>
        <p:spPr>
          <a:xfrm xmlns:a="http://schemas.openxmlformats.org/drawingml/2006/main">
            <a:off x="685800" y="3019425"/>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06579"/>
                </a:solidFill>
                <a:latin typeface="Arial"/>
                <a:ea typeface="Arial"/>
                <a:cs typeface="Arial"/>
              </a:defRPr>
            </a:pPr>
            <a:r>
              <a:rPr sz="2175" b="0">
                <a:solidFill>
                  <a:srgbClr val="506579"/>
                </a:solidFill>
                <a:latin typeface="Arial"/>
                <a:ea typeface="Arial"/>
                <a:cs typeface="Arial"/>
              </a:rPr>
              <a:t>The bounded local overlap check is evidence about the supplied corpus only.</a:t>
            </a:r>
          </a:p>
        </p:txBody>
      </p:sp>
      <p:sp>
        <p:nvSpPr>
          <p:cNvPr id="6" name="body2">
            <a:extLst xmlns:a="http://schemas.openxmlformats.org/drawingml/2006/main">
              <a:ext uri="{FF2B5EF4-FFF2-40B4-BE49-F238E27FC236}">
                <a16:creationId xmlns:a16="http://schemas.microsoft.com/office/drawing/2014/main" id="{45155CED-178E-4AA4-A739-64298343E993}"/>
              </a:ext>
            </a:extLst>
          </p:cNvPr>
          <p:cNvSpPr>
            <a:spLocks xmlns:a="http://schemas.openxmlformats.org/drawingml/2006/main" noGrp="1"/>
          </p:cNvSpPr>
          <p:nvPr/>
        </p:nvSpPr>
        <p:spPr>
          <a:xfrm xmlns:a="http://schemas.openxmlformats.org/drawingml/2006/main">
            <a:off x="685800" y="4171950"/>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06579"/>
                </a:solidFill>
                <a:latin typeface="Arial"/>
                <a:ea typeface="Arial"/>
                <a:cs typeface="Arial"/>
              </a:defRPr>
            </a:pPr>
            <a:r>
              <a:rPr sz="2175" b="0">
                <a:solidFill>
                  <a:srgbClr val="506579"/>
                </a:solidFill>
                <a:latin typeface="Arial"/>
                <a:ea typeface="Arial"/>
                <a:cs typeface="Arial"/>
              </a:rPr>
              <a:t>AI assistance and synthetic narration are disclosed; no AI-free, SynthID-free or detector certification is claimed.</a:t>
            </a:r>
          </a:p>
        </p:txBody>
      </p:sp>
    </p:spTree>
    <p:extLst>
      <p:ext uri="{BB962C8B-B14F-4D97-AF65-F5344CB8AC3E}">
        <p14:creationId xmlns:p14="http://schemas.microsoft.com/office/powerpoint/2010/main" val="1994824070"/>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25570D3A-27C0-49C4-BFF9-BF71C2AAAD2C}"/>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Technical: reproduce and inspect</a:t>
            </a:r>
          </a:p>
        </p:txBody>
      </p:sp>
      <p:sp>
        <p:nvSpPr>
          <p:cNvPr id="2" name="section">
            <a:extLst xmlns:a="http://schemas.openxmlformats.org/drawingml/2006/main">
              <a:ext uri="{FF2B5EF4-FFF2-40B4-BE49-F238E27FC236}">
                <a16:creationId xmlns:a16="http://schemas.microsoft.com/office/drawing/2014/main" id="{90B06273-2FBC-4330-9E28-09AA027CBA84}"/>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TECHNICAL APPENDIX</a:t>
            </a:r>
          </a:p>
        </p:txBody>
      </p:sp>
      <p:sp>
        <p:nvSpPr>
          <p:cNvPr id="3" name="footer">
            <a:extLst xmlns:a="http://schemas.openxmlformats.org/drawingml/2006/main">
              <a:ext uri="{FF2B5EF4-FFF2-40B4-BE49-F238E27FC236}">
                <a16:creationId xmlns:a16="http://schemas.microsoft.com/office/drawing/2014/main" id="{098ABA0B-4834-4A5F-9F82-05B97F5DADBD}"/>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49 / 49</a:t>
            </a:r>
          </a:p>
        </p:txBody>
      </p:sp>
      <p:sp>
        <p:nvSpPr>
          <p:cNvPr id="4" name="body0">
            <a:extLst xmlns:a="http://schemas.openxmlformats.org/drawingml/2006/main">
              <a:ext uri="{FF2B5EF4-FFF2-40B4-BE49-F238E27FC236}">
                <a16:creationId xmlns:a16="http://schemas.microsoft.com/office/drawing/2014/main" id="{5DBED2D7-A2B2-4C42-9F85-2B3BB4AE353A}"/>
              </a:ext>
            </a:extLst>
          </p:cNvPr>
          <p:cNvSpPr>
            <a:spLocks xmlns:a="http://schemas.openxmlformats.org/drawingml/2006/main" noGrp="1"/>
          </p:cNvSpPr>
          <p:nvPr/>
        </p:nvSpPr>
        <p:spPr>
          <a:xfrm xmlns:a="http://schemas.openxmlformats.org/drawingml/2006/main">
            <a:off x="685800" y="1866900"/>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32E40"/>
                </a:solidFill>
                <a:latin typeface="Arial"/>
                <a:ea typeface="Arial"/>
                <a:cs typeface="Arial"/>
              </a:defRPr>
            </a:pPr>
            <a:r>
              <a:rPr sz="2175" b="1">
                <a:solidFill>
                  <a:srgbClr val="132E40"/>
                </a:solidFill>
                <a:latin typeface="Arial"/>
                <a:ea typeface="Arial"/>
                <a:cs typeface="Arial"/>
              </a:rPr>
              <a:t>Frozen inputs, configurations, raw traces and review receipts travel with this package.</a:t>
            </a:r>
          </a:p>
        </p:txBody>
      </p:sp>
      <p:sp>
        <p:nvSpPr>
          <p:cNvPr id="5" name="body1">
            <a:extLst xmlns:a="http://schemas.openxmlformats.org/drawingml/2006/main">
              <a:ext uri="{FF2B5EF4-FFF2-40B4-BE49-F238E27FC236}">
                <a16:creationId xmlns:a16="http://schemas.microsoft.com/office/drawing/2014/main" id="{B33976A1-EC75-479A-9F51-AF9ED5A73E6E}"/>
              </a:ext>
            </a:extLst>
          </p:cNvPr>
          <p:cNvSpPr>
            <a:spLocks xmlns:a="http://schemas.openxmlformats.org/drawingml/2006/main" noGrp="1"/>
          </p:cNvSpPr>
          <p:nvPr/>
        </p:nvSpPr>
        <p:spPr>
          <a:xfrm xmlns:a="http://schemas.openxmlformats.org/drawingml/2006/main">
            <a:off x="685800" y="3019425"/>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06579"/>
                </a:solidFill>
                <a:latin typeface="Arial"/>
                <a:ea typeface="Arial"/>
                <a:cs typeface="Arial"/>
              </a:defRPr>
            </a:pPr>
            <a:r>
              <a:rPr sz="2175" b="0">
                <a:solidFill>
                  <a:srgbClr val="506579"/>
                </a:solidFill>
                <a:latin typeface="Arial"/>
                <a:ea typeface="Arial"/>
                <a:cs typeface="Arial"/>
              </a:rPr>
              <a:t>The original release is preserved separately; new results are clearly versioned.</a:t>
            </a:r>
          </a:p>
        </p:txBody>
      </p:sp>
      <p:sp>
        <p:nvSpPr>
          <p:cNvPr id="6" name="body2">
            <a:extLst xmlns:a="http://schemas.openxmlformats.org/drawingml/2006/main">
              <a:ext uri="{FF2B5EF4-FFF2-40B4-BE49-F238E27FC236}">
                <a16:creationId xmlns:a16="http://schemas.microsoft.com/office/drawing/2014/main" id="{AA28A475-96C5-42C9-A3C9-20E956C11351}"/>
              </a:ext>
            </a:extLst>
          </p:cNvPr>
          <p:cNvSpPr>
            <a:spLocks xmlns:a="http://schemas.openxmlformats.org/drawingml/2006/main" noGrp="1"/>
          </p:cNvSpPr>
          <p:nvPr/>
        </p:nvSpPr>
        <p:spPr>
          <a:xfrm xmlns:a="http://schemas.openxmlformats.org/drawingml/2006/main">
            <a:off x="685800" y="4171950"/>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06579"/>
                </a:solidFill>
                <a:latin typeface="Arial"/>
                <a:ea typeface="Arial"/>
                <a:cs typeface="Arial"/>
              </a:defRPr>
            </a:pPr>
            <a:r>
              <a:rPr sz="2175" b="0">
                <a:solidFill>
                  <a:srgbClr val="506579"/>
                </a:solidFill>
                <a:latin typeface="Arial"/>
                <a:ea typeface="Arial"/>
                <a:cs typeface="Arial"/>
              </a:rPr>
              <a:t>Start with the release guide, then follow the exact experiment and artifact instructions.</a:t>
            </a:r>
          </a:p>
        </p:txBody>
      </p:sp>
    </p:spTree>
    <p:extLst>
      <p:ext uri="{BB962C8B-B14F-4D97-AF65-F5344CB8AC3E}">
        <p14:creationId xmlns:p14="http://schemas.microsoft.com/office/powerpoint/2010/main" val="93535910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2026-09-07T13:58:44.0580000Z</dcterms:created>
  <dcterms:modified xsi:type="dcterms:W3CDTF">2026-09-07T13:58:44.0580000Z</dcterms:modified>
</coreProperties>
</file>